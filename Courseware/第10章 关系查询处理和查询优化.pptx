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3"/>
  </p:notesMasterIdLst>
  <p:sldIdLst>
    <p:sldId id="257" r:id="rId3"/>
    <p:sldId id="309" r:id="rId4"/>
    <p:sldId id="310" r:id="rId5"/>
    <p:sldId id="311" r:id="rId6"/>
    <p:sldId id="312" r:id="rId7"/>
    <p:sldId id="316" r:id="rId8"/>
    <p:sldId id="313" r:id="rId9"/>
    <p:sldId id="314" r:id="rId10"/>
    <p:sldId id="315" r:id="rId11"/>
    <p:sldId id="317" r:id="rId12"/>
    <p:sldId id="318" r:id="rId13"/>
    <p:sldId id="319" r:id="rId14"/>
    <p:sldId id="320" r:id="rId15"/>
    <p:sldId id="321" r:id="rId16"/>
    <p:sldId id="322" r:id="rId17"/>
    <p:sldId id="323" r:id="rId18"/>
    <p:sldId id="325" r:id="rId19"/>
    <p:sldId id="324" r:id="rId20"/>
    <p:sldId id="326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327" r:id="rId34"/>
    <p:sldId id="328" r:id="rId35"/>
    <p:sldId id="329" r:id="rId36"/>
    <p:sldId id="258" r:id="rId37"/>
    <p:sldId id="280" r:id="rId38"/>
    <p:sldId id="281" r:id="rId39"/>
    <p:sldId id="282" r:id="rId40"/>
    <p:sldId id="283" r:id="rId41"/>
    <p:sldId id="284" r:id="rId42"/>
    <p:sldId id="285" r:id="rId43"/>
    <p:sldId id="286" r:id="rId44"/>
    <p:sldId id="330" r:id="rId45"/>
    <p:sldId id="287" r:id="rId46"/>
    <p:sldId id="288" r:id="rId47"/>
    <p:sldId id="331" r:id="rId48"/>
    <p:sldId id="277" r:id="rId49"/>
    <p:sldId id="278" r:id="rId50"/>
    <p:sldId id="290" r:id="rId51"/>
    <p:sldId id="291" r:id="rId52"/>
    <p:sldId id="292" r:id="rId53"/>
    <p:sldId id="293" r:id="rId54"/>
    <p:sldId id="333" r:id="rId55"/>
    <p:sldId id="334" r:id="rId56"/>
    <p:sldId id="295" r:id="rId57"/>
    <p:sldId id="296" r:id="rId58"/>
    <p:sldId id="297" r:id="rId59"/>
    <p:sldId id="298" r:id="rId60"/>
    <p:sldId id="335" r:id="rId61"/>
    <p:sldId id="299" r:id="rId62"/>
    <p:sldId id="336" r:id="rId63"/>
    <p:sldId id="337" r:id="rId64"/>
    <p:sldId id="300" r:id="rId65"/>
    <p:sldId id="339" r:id="rId66"/>
    <p:sldId id="338" r:id="rId67"/>
    <p:sldId id="340" r:id="rId68"/>
    <p:sldId id="341" r:id="rId69"/>
    <p:sldId id="301" r:id="rId70"/>
    <p:sldId id="342" r:id="rId71"/>
    <p:sldId id="343" r:id="rId72"/>
    <p:sldId id="344" r:id="rId73"/>
    <p:sldId id="345" r:id="rId74"/>
    <p:sldId id="346" r:id="rId75"/>
    <p:sldId id="347" r:id="rId76"/>
    <p:sldId id="348" r:id="rId77"/>
    <p:sldId id="349" r:id="rId78"/>
    <p:sldId id="350" r:id="rId79"/>
    <p:sldId id="306" r:id="rId80"/>
    <p:sldId id="307" r:id="rId81"/>
    <p:sldId id="308" r:id="rId82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1978"/>
    <p:restoredTop sz="86355"/>
  </p:normalViewPr>
  <p:slideViewPr>
    <p:cSldViewPr showGuides="1">
      <p:cViewPr varScale="1">
        <p:scale>
          <a:sx n="72" d="100"/>
          <a:sy n="72" d="100"/>
        </p:scale>
        <p:origin x="870" y="2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238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6" Type="http://schemas.openxmlformats.org/officeDocument/2006/relationships/tableStyles" Target="tableStyles.xml"/><Relationship Id="rId85" Type="http://schemas.openxmlformats.org/officeDocument/2006/relationships/viewProps" Target="viewProps.xml"/><Relationship Id="rId84" Type="http://schemas.openxmlformats.org/officeDocument/2006/relationships/presProps" Target="presProps.xml"/><Relationship Id="rId83" Type="http://schemas.openxmlformats.org/officeDocument/2006/relationships/notesMaster" Target="notesMasters/notesMaster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739F03D-5488-4D77-BD7E-554742C45519}" type="datetimeFigureOut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2C88994-8C37-4129-892B-CF31CCB2DD04}" type="slidenum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 smtClean="0"/>
              <a:t>单击此处编辑母版副标题样式</a:t>
            </a:r>
            <a:endParaRPr lang="en-US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0430031-C491-4942-B675-1D432CA556B0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0430031-C491-4942-B675-1D432CA556B0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0430031-C491-4942-B675-1D432CA556B0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0430031-C491-4942-B675-1D432CA556B0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0430031-C491-4942-B675-1D432CA556B0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0430031-C491-4942-B675-1D432CA556B0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0430031-C491-4942-B675-1D432CA556B0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0430031-C491-4942-B675-1D432CA556B0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sz="3200" b="1" i="0" u="none" strike="noStrike" kern="0" cap="none" spc="0" normalizeH="0" baseline="0" noProof="0" smtClean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0430031-C491-4942-B675-1D432CA556B0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0430031-C491-4942-B675-1D432CA556B0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152400"/>
            <a:ext cx="1943100" cy="6019800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676900" cy="6019800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0430031-C491-4942-B675-1D432CA556B0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85800" y="1447800"/>
            <a:ext cx="7772400" cy="47244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buFontTx/>
              <a:buNone/>
              <a:defRPr kumimoji="1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00300" y="6540500"/>
            <a:ext cx="3683000" cy="31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Tx/>
              <a:buNone/>
              <a:defRPr kumimoji="1" b="0">
                <a:solidFill>
                  <a:srgbClr val="6600FF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0430031-C491-4942-B675-1D432CA556B0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/>
        </p:nvSpPr>
        <p:spPr bwMode="auto">
          <a:xfrm>
            <a:off x="57150" y="6521450"/>
            <a:ext cx="11144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D43E7CD-5998-421A-8884-82EA09A0F89E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Picture 9" descr="华工校徽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500" y="63500"/>
            <a:ext cx="990600" cy="750888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§"/>
        <a:defRPr sz="3200" b="1">
          <a:solidFill>
            <a:srgbClr val="FF33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楷体_GB2312" pitchFamily="49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60000"/>
        <a:buChar char="•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60000"/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仿宋_GB2312" pitchFamily="49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SzPct val="60000"/>
        <a:buFont typeface="Wingdings" panose="05000000000000000000" pitchFamily="2" charset="2"/>
        <a:buChar char="§"/>
        <a:defRPr kumimoji="1" sz="2000" b="1">
          <a:solidFill>
            <a:schemeClr val="tx1"/>
          </a:solidFill>
          <a:latin typeface="+mn-lt"/>
          <a:ea typeface="仿宋_GB2312" pitchFamily="49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SzPct val="60000"/>
        <a:buFont typeface="Wingdings" panose="05000000000000000000" pitchFamily="2" charset="2"/>
        <a:buChar char="§"/>
        <a:defRPr kumimoji="1" sz="2000" b="1">
          <a:solidFill>
            <a:schemeClr val="tx1"/>
          </a:solidFill>
          <a:latin typeface="+mn-lt"/>
          <a:ea typeface="仿宋_GB2312" pitchFamily="49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SzPct val="60000"/>
        <a:buFont typeface="Wingdings" panose="05000000000000000000" pitchFamily="2" charset="2"/>
        <a:buChar char="§"/>
        <a:defRPr kumimoji="1" sz="2000" b="1">
          <a:solidFill>
            <a:schemeClr val="tx1"/>
          </a:solidFill>
          <a:latin typeface="+mn-lt"/>
          <a:ea typeface="仿宋_GB2312" pitchFamily="49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SzPct val="60000"/>
        <a:buFont typeface="Wingdings" panose="05000000000000000000" pitchFamily="2" charset="2"/>
        <a:buChar char="§"/>
        <a:defRPr kumimoji="1" sz="2000" b="1">
          <a:solidFill>
            <a:schemeClr val="tx1"/>
          </a:solidFill>
          <a:latin typeface="+mn-lt"/>
          <a:ea typeface="仿宋_GB2312" pitchFamily="49" charset="-122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075" name="Rectangle 2"/>
          <p:cNvSpPr/>
          <p:nvPr/>
        </p:nvSpPr>
        <p:spPr>
          <a:xfrm>
            <a:off x="523875" y="1830388"/>
            <a:ext cx="7747000" cy="609600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076" name="Rectangle 3"/>
          <p:cNvSpPr>
            <a:spLocks noGrp="1"/>
          </p:cNvSpPr>
          <p:nvPr>
            <p:ph idx="1"/>
          </p:nvPr>
        </p:nvSpPr>
        <p:spPr>
          <a:xfrm>
            <a:off x="900113" y="1773238"/>
            <a:ext cx="7327900" cy="3455987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bg1"/>
                </a:solidFill>
              </a:rPr>
              <a:t>9.1 </a:t>
            </a:r>
            <a:r>
              <a:rPr lang="zh-CN" altLang="en-US" dirty="0">
                <a:solidFill>
                  <a:schemeClr val="bg1"/>
                </a:solidFill>
              </a:rPr>
              <a:t>关系数据库系统的查询处理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9.2 </a:t>
            </a:r>
            <a:r>
              <a:rPr lang="zh-CN" altLang="en-US" dirty="0">
                <a:solidFill>
                  <a:schemeClr val="tx1"/>
                </a:solidFill>
              </a:rPr>
              <a:t>关系数据库系统的查询优化 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9.3 </a:t>
            </a:r>
            <a:r>
              <a:rPr lang="zh-CN" altLang="en-US" dirty="0">
                <a:solidFill>
                  <a:schemeClr val="tx1"/>
                </a:solidFill>
              </a:rPr>
              <a:t>代数优化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9.4 </a:t>
            </a:r>
            <a:r>
              <a:rPr lang="zh-CN" altLang="en-US" dirty="0">
                <a:solidFill>
                  <a:schemeClr val="tx1"/>
                </a:solidFill>
              </a:rPr>
              <a:t>物理优化 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9.5 </a:t>
            </a:r>
            <a:r>
              <a:rPr lang="zh-CN" altLang="en-US" dirty="0">
                <a:solidFill>
                  <a:schemeClr val="tx1"/>
                </a:solidFill>
              </a:rPr>
              <a:t>小 结 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077" name="Rectangle 4"/>
          <p:cNvSpPr>
            <a:spLocks noGrp="1"/>
          </p:cNvSpPr>
          <p:nvPr>
            <p:ph type="title"/>
          </p:nvPr>
        </p:nvSpPr>
        <p:spPr>
          <a:xfrm>
            <a:off x="914400" y="546100"/>
            <a:ext cx="7978775" cy="11430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第</a:t>
            </a:r>
            <a:r>
              <a:rPr lang="en-US" altLang="zh-CN" dirty="0"/>
              <a:t>9</a:t>
            </a:r>
            <a:r>
              <a:rPr lang="zh-CN" altLang="en-US" dirty="0"/>
              <a:t>章 关系查询处理和查询优化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099" name="Rectangle 2"/>
          <p:cNvSpPr>
            <a:spLocks noGrp="1"/>
          </p:cNvSpPr>
          <p:nvPr>
            <p:ph idx="1"/>
          </p:nvPr>
        </p:nvSpPr>
        <p:spPr>
          <a:xfrm>
            <a:off x="900113" y="2060575"/>
            <a:ext cx="7162800" cy="3887788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None/>
            </a:pPr>
            <a:r>
              <a:rPr lang="en-US" altLang="en-US" sz="3600" dirty="0">
                <a:solidFill>
                  <a:srgbClr val="FF0000"/>
                </a:solidFill>
              </a:rPr>
              <a:t>9.1.1  查询处理步骤</a:t>
            </a:r>
            <a:endParaRPr lang="en-US" altLang="en-US" sz="3600" dirty="0">
              <a:solidFill>
                <a:srgbClr val="FF0000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en-US" sz="3600" dirty="0">
                <a:solidFill>
                  <a:schemeClr val="tx1"/>
                </a:solidFill>
              </a:rPr>
              <a:t>9.1.2  实现查询操作的算法示例 </a:t>
            </a:r>
            <a:endParaRPr lang="en-US" altLang="en-US" sz="3600" dirty="0">
              <a:solidFill>
                <a:schemeClr val="tx1"/>
              </a:solidFill>
            </a:endParaRPr>
          </a:p>
        </p:txBody>
      </p:sp>
      <p:sp>
        <p:nvSpPr>
          <p:cNvPr id="4100" name="Rectangle 3"/>
          <p:cNvSpPr>
            <a:spLocks noGrp="1"/>
          </p:cNvSpPr>
          <p:nvPr>
            <p:ph type="title"/>
          </p:nvPr>
        </p:nvSpPr>
        <p:spPr>
          <a:xfrm>
            <a:off x="1020763" y="95250"/>
            <a:ext cx="7989887" cy="900113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9.1  </a:t>
            </a:r>
            <a:r>
              <a:rPr lang="zh-CN" altLang="en-US" dirty="0"/>
              <a:t>关系数据库系统的查询处理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123" name="Rectangle 2"/>
          <p:cNvSpPr>
            <a:spLocks noGrp="1"/>
          </p:cNvSpPr>
          <p:nvPr>
            <p:ph idx="1"/>
          </p:nvPr>
        </p:nvSpPr>
        <p:spPr>
          <a:xfrm>
            <a:off x="684213" y="1484313"/>
            <a:ext cx="7848600" cy="4608512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  <a:buNone/>
            </a:pPr>
            <a:r>
              <a:rPr lang="en-US" altLang="zh-CN" sz="3600" dirty="0">
                <a:solidFill>
                  <a:schemeClr val="tx1"/>
                </a:solidFill>
              </a:rPr>
              <a:t>RDBMS</a:t>
            </a:r>
            <a:r>
              <a:rPr lang="zh-CN" altLang="en-US" sz="3600" dirty="0">
                <a:solidFill>
                  <a:schemeClr val="tx1"/>
                </a:solidFill>
              </a:rPr>
              <a:t>查询处理分</a:t>
            </a:r>
            <a:r>
              <a:rPr lang="en-US" altLang="zh-CN" sz="3600" dirty="0">
                <a:solidFill>
                  <a:schemeClr val="tx1"/>
                </a:solidFill>
              </a:rPr>
              <a:t>4</a:t>
            </a:r>
            <a:r>
              <a:rPr lang="zh-CN" altLang="en-US" sz="3600" dirty="0">
                <a:solidFill>
                  <a:schemeClr val="tx1"/>
                </a:solidFill>
              </a:rPr>
              <a:t>个阶段</a:t>
            </a:r>
            <a:r>
              <a:rPr lang="en-US" altLang="zh-CN" sz="3600" dirty="0">
                <a:solidFill>
                  <a:schemeClr val="tx1"/>
                </a:solidFill>
              </a:rPr>
              <a:t>:</a:t>
            </a:r>
            <a:endParaRPr lang="en-US" altLang="zh-CN" sz="3600" dirty="0">
              <a:solidFill>
                <a:schemeClr val="tx1"/>
              </a:solidFill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en-US" altLang="zh-CN" sz="3600" dirty="0">
                <a:solidFill>
                  <a:schemeClr val="tx1"/>
                </a:solidFill>
              </a:rPr>
              <a:t>1. </a:t>
            </a:r>
            <a:r>
              <a:rPr lang="zh-CN" altLang="en-US" sz="3600" dirty="0">
                <a:solidFill>
                  <a:schemeClr val="tx1"/>
                </a:solidFill>
              </a:rPr>
              <a:t>查询分析</a:t>
            </a:r>
            <a:endParaRPr lang="zh-CN" altLang="en-US" sz="3600" dirty="0">
              <a:solidFill>
                <a:schemeClr val="tx1"/>
              </a:solidFill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en-US" altLang="zh-CN" sz="3600" dirty="0">
                <a:solidFill>
                  <a:schemeClr val="tx1"/>
                </a:solidFill>
              </a:rPr>
              <a:t>2. </a:t>
            </a:r>
            <a:r>
              <a:rPr lang="zh-CN" altLang="en-US" sz="3600" dirty="0">
                <a:solidFill>
                  <a:schemeClr val="tx1"/>
                </a:solidFill>
              </a:rPr>
              <a:t>查询检查</a:t>
            </a:r>
            <a:endParaRPr lang="zh-CN" altLang="en-US" sz="3600" dirty="0">
              <a:solidFill>
                <a:schemeClr val="tx1"/>
              </a:solidFill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en-US" altLang="zh-CN" sz="3600" dirty="0">
                <a:solidFill>
                  <a:schemeClr val="tx1"/>
                </a:solidFill>
              </a:rPr>
              <a:t>3. </a:t>
            </a:r>
            <a:r>
              <a:rPr lang="zh-CN" altLang="en-US" sz="3600" dirty="0">
                <a:solidFill>
                  <a:schemeClr val="tx1"/>
                </a:solidFill>
              </a:rPr>
              <a:t>查询优化 </a:t>
            </a:r>
            <a:endParaRPr lang="zh-CN" altLang="en-US" sz="3600" dirty="0">
              <a:solidFill>
                <a:schemeClr val="tx1"/>
              </a:solidFill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en-US" altLang="zh-CN" sz="3600" dirty="0">
                <a:solidFill>
                  <a:schemeClr val="tx1"/>
                </a:solidFill>
              </a:rPr>
              <a:t>4. </a:t>
            </a:r>
            <a:r>
              <a:rPr lang="zh-CN" altLang="en-US" sz="3600" dirty="0">
                <a:solidFill>
                  <a:schemeClr val="tx1"/>
                </a:solidFill>
              </a:rPr>
              <a:t>查询执行</a:t>
            </a:r>
            <a:endParaRPr lang="en-US" altLang="en-US" sz="3600" dirty="0">
              <a:solidFill>
                <a:schemeClr val="tx1"/>
              </a:solidFill>
            </a:endParaRPr>
          </a:p>
        </p:txBody>
      </p:sp>
      <p:sp>
        <p:nvSpPr>
          <p:cNvPr id="5124" name="Rectangle 3"/>
          <p:cNvSpPr>
            <a:spLocks noGrp="1"/>
          </p:cNvSpPr>
          <p:nvPr>
            <p:ph type="title"/>
          </p:nvPr>
        </p:nvSpPr>
        <p:spPr>
          <a:xfrm>
            <a:off x="1020763" y="95250"/>
            <a:ext cx="7151687" cy="900113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9.1.1  </a:t>
            </a:r>
            <a:r>
              <a:rPr lang="zh-CN" altLang="en-US" sz="3200" dirty="0"/>
              <a:t>查询处理步骤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147" name="Rectangle 2"/>
          <p:cNvSpPr>
            <a:spLocks noGrp="1"/>
          </p:cNvSpPr>
          <p:nvPr>
            <p:ph idx="1"/>
          </p:nvPr>
        </p:nvSpPr>
        <p:spPr>
          <a:xfrm>
            <a:off x="468313" y="858838"/>
            <a:ext cx="8281987" cy="5876925"/>
          </a:xfrm>
          <a:ln/>
        </p:spPr>
        <p:txBody>
          <a:bodyPr vert="horz" wrap="square" lIns="91440" tIns="45720" rIns="91440" bIns="45720" anchor="t" anchorCtr="0"/>
          <a:p>
            <a:pPr marL="609600" indent="-609600" eaLnBrk="1" hangingPunct="1">
              <a:lnSpc>
                <a:spcPct val="11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1  </a:t>
            </a:r>
            <a:r>
              <a:rPr lang="zh-CN" altLang="en-US" sz="2800" dirty="0">
                <a:solidFill>
                  <a:schemeClr val="tx1"/>
                </a:solidFill>
              </a:rPr>
              <a:t>查询分析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marL="990600" lvl="1" indent="-533400" eaLnBrk="1" hangingPunct="1">
              <a:lnSpc>
                <a:spcPct val="110000"/>
              </a:lnSpc>
            </a:pPr>
            <a:r>
              <a:rPr lang="zh-CN" altLang="en-US" sz="2400" dirty="0"/>
              <a:t>语句扫描、词法分析和语法分析</a:t>
            </a:r>
            <a:endParaRPr lang="zh-CN" altLang="en-US" sz="2400" dirty="0"/>
          </a:p>
          <a:p>
            <a:pPr marL="990600" lvl="1" indent="-533400" eaLnBrk="1" hangingPunct="1">
              <a:lnSpc>
                <a:spcPct val="110000"/>
              </a:lnSpc>
            </a:pPr>
            <a:r>
              <a:rPr lang="zh-CN" altLang="en-US" sz="2400" dirty="0"/>
              <a:t>符合</a:t>
            </a:r>
            <a:r>
              <a:rPr lang="en-US" altLang="zh-CN" sz="2400" dirty="0"/>
              <a:t>SQL</a:t>
            </a:r>
            <a:r>
              <a:rPr lang="zh-CN" altLang="en-US" sz="2400" dirty="0"/>
              <a:t>语法？</a:t>
            </a:r>
            <a:endParaRPr lang="zh-CN" altLang="en-US" sz="2400" dirty="0"/>
          </a:p>
          <a:p>
            <a:pPr marL="609600" indent="-609600" eaLnBrk="1" hangingPunct="1">
              <a:lnSpc>
                <a:spcPct val="11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2  </a:t>
            </a:r>
            <a:r>
              <a:rPr lang="zh-CN" altLang="en-US" sz="2800" dirty="0">
                <a:solidFill>
                  <a:schemeClr val="tx1"/>
                </a:solidFill>
              </a:rPr>
              <a:t>查询检查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marL="990600" lvl="1" indent="-533400" eaLnBrk="1" hangingPunct="1">
              <a:lnSpc>
                <a:spcPct val="110000"/>
              </a:lnSpc>
            </a:pPr>
            <a:r>
              <a:rPr lang="zh-CN" altLang="en-US" sz="2400" dirty="0"/>
              <a:t>根据数据字典对合法的查询语句进行语义检查。</a:t>
            </a:r>
            <a:endParaRPr lang="zh-CN" altLang="en-US" sz="2400" dirty="0"/>
          </a:p>
          <a:p>
            <a:pPr marL="990600" lvl="1" indent="-533400" eaLnBrk="1" hangingPunct="1">
              <a:lnSpc>
                <a:spcPct val="110000"/>
              </a:lnSpc>
            </a:pPr>
            <a:r>
              <a:rPr lang="zh-CN" altLang="en-US" sz="2400" dirty="0"/>
              <a:t>属性、关系名存在否？</a:t>
            </a:r>
            <a:endParaRPr lang="zh-CN" altLang="en-US" sz="2400" dirty="0"/>
          </a:p>
          <a:p>
            <a:pPr marL="990600" lvl="1" indent="-533400" eaLnBrk="1" hangingPunct="1">
              <a:lnSpc>
                <a:spcPct val="110000"/>
              </a:lnSpc>
            </a:pPr>
            <a:r>
              <a:rPr lang="zh-CN" altLang="en-US" sz="2400" dirty="0"/>
              <a:t>权限和完整性约束？</a:t>
            </a:r>
            <a:endParaRPr lang="zh-CN" altLang="en-US" sz="2400" dirty="0"/>
          </a:p>
          <a:p>
            <a:pPr marL="990600" lvl="1" indent="-533400" eaLnBrk="1" hangingPunct="1">
              <a:lnSpc>
                <a:spcPct val="110000"/>
              </a:lnSpc>
            </a:pPr>
            <a:r>
              <a:rPr lang="en-US" altLang="zh-CN" sz="2400" dirty="0"/>
              <a:t>SQL→</a:t>
            </a:r>
            <a:r>
              <a:rPr lang="zh-CN" altLang="en-US" sz="2400" dirty="0"/>
              <a:t>关系代数表达式</a:t>
            </a:r>
            <a:endParaRPr lang="zh-CN" altLang="en-US" sz="2400" dirty="0"/>
          </a:p>
          <a:p>
            <a:pPr marL="990600" lvl="1" indent="-533400" eaLnBrk="1" hangingPunct="1">
              <a:lnSpc>
                <a:spcPct val="110000"/>
              </a:lnSpc>
            </a:pPr>
            <a:r>
              <a:rPr lang="zh-CN" altLang="en-US" sz="2400" dirty="0"/>
              <a:t>用查询树、语法分析树表达关系代数表达式</a:t>
            </a:r>
            <a:endParaRPr lang="zh-CN" altLang="en-US" sz="2400" dirty="0"/>
          </a:p>
          <a:p>
            <a:pPr marL="990600" lvl="1" indent="-533400" eaLnBrk="1" hangingPunct="1">
              <a:lnSpc>
                <a:spcPct val="110000"/>
              </a:lnSpc>
            </a:pPr>
            <a:r>
              <a:rPr lang="zh-CN" altLang="en-US" sz="2400" dirty="0"/>
              <a:t>数据库外部名称转换为内部表示</a:t>
            </a:r>
            <a:endParaRPr lang="zh-CN" altLang="en-US" sz="2400" dirty="0"/>
          </a:p>
        </p:txBody>
      </p:sp>
      <p:sp>
        <p:nvSpPr>
          <p:cNvPr id="6148" name="Rectangle 3"/>
          <p:cNvSpPr>
            <a:spLocks noGrp="1"/>
          </p:cNvSpPr>
          <p:nvPr>
            <p:ph type="title"/>
          </p:nvPr>
        </p:nvSpPr>
        <p:spPr>
          <a:xfrm>
            <a:off x="1020763" y="95250"/>
            <a:ext cx="7151687" cy="669925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9.1.1  </a:t>
            </a:r>
            <a:r>
              <a:rPr lang="zh-CN" altLang="en-US" sz="3200" dirty="0"/>
              <a:t>查询处理步骤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7171" name="Rectangle 2"/>
          <p:cNvSpPr>
            <a:spLocks noGrp="1"/>
          </p:cNvSpPr>
          <p:nvPr>
            <p:ph idx="1"/>
          </p:nvPr>
        </p:nvSpPr>
        <p:spPr>
          <a:xfrm>
            <a:off x="611188" y="1125538"/>
            <a:ext cx="8281987" cy="5327650"/>
          </a:xfrm>
          <a:ln/>
        </p:spPr>
        <p:txBody>
          <a:bodyPr vert="horz" wrap="square" lIns="91440" tIns="45720" rIns="91440" bIns="45720" anchor="t" anchorCtr="0"/>
          <a:p>
            <a:pPr marL="533400" indent="-533400" eaLnBrk="1" hangingPunct="1">
              <a:lnSpc>
                <a:spcPct val="11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3  </a:t>
            </a:r>
            <a:r>
              <a:rPr lang="zh-CN" altLang="en-US" dirty="0">
                <a:solidFill>
                  <a:schemeClr val="tx1"/>
                </a:solidFill>
              </a:rPr>
              <a:t>查询优化</a:t>
            </a:r>
            <a:endParaRPr lang="zh-CN" altLang="en-US" dirty="0">
              <a:solidFill>
                <a:schemeClr val="tx1"/>
              </a:solidFill>
            </a:endParaRPr>
          </a:p>
          <a:p>
            <a:pPr marL="914400" lvl="1" indent="-457200" eaLnBrk="1" hangingPunct="1">
              <a:lnSpc>
                <a:spcPct val="110000"/>
              </a:lnSpc>
              <a:buNone/>
            </a:pPr>
            <a:r>
              <a:rPr lang="zh-CN" altLang="en-US" dirty="0"/>
              <a:t>选择一个高效的查询处理策略</a:t>
            </a:r>
            <a:endParaRPr lang="zh-CN" altLang="en-US" dirty="0"/>
          </a:p>
          <a:p>
            <a:pPr marL="533400" indent="-533400" eaLnBrk="1" hangingPunct="1">
              <a:lnSpc>
                <a:spcPct val="110000"/>
              </a:lnSpc>
            </a:pPr>
            <a:r>
              <a:rPr lang="zh-CN" altLang="en-US" dirty="0">
                <a:solidFill>
                  <a:schemeClr val="tx1"/>
                </a:solidFill>
              </a:rPr>
              <a:t>查询优化分类</a:t>
            </a:r>
            <a:endParaRPr lang="zh-CN" altLang="en-US" dirty="0">
              <a:solidFill>
                <a:schemeClr val="tx1"/>
              </a:solidFill>
            </a:endParaRPr>
          </a:p>
          <a:p>
            <a:pPr marL="914400" lvl="1" indent="-457200" eaLnBrk="1" hangingPunct="1">
              <a:lnSpc>
                <a:spcPct val="110000"/>
              </a:lnSpc>
            </a:pPr>
            <a:r>
              <a:rPr lang="zh-CN" altLang="en-US" dirty="0"/>
              <a:t>代数优化</a:t>
            </a:r>
            <a:endParaRPr lang="zh-CN" altLang="en-US" dirty="0"/>
          </a:p>
          <a:p>
            <a:pPr marL="914400" lvl="1" indent="-457200" eaLnBrk="1" hangingPunct="1">
              <a:lnSpc>
                <a:spcPct val="110000"/>
              </a:lnSpc>
            </a:pPr>
            <a:r>
              <a:rPr lang="zh-CN" altLang="en-US" dirty="0"/>
              <a:t>物理优化</a:t>
            </a:r>
            <a:endParaRPr lang="zh-CN" altLang="en-US" dirty="0"/>
          </a:p>
          <a:p>
            <a:pPr marL="533400" indent="-533400" eaLnBrk="1" hangingPunct="1">
              <a:lnSpc>
                <a:spcPct val="110000"/>
              </a:lnSpc>
            </a:pPr>
            <a:r>
              <a:rPr lang="zh-CN" altLang="en-US" dirty="0">
                <a:solidFill>
                  <a:schemeClr val="tx1"/>
                </a:solidFill>
              </a:rPr>
              <a:t>查询优化方法选择的依据</a:t>
            </a:r>
            <a:endParaRPr lang="zh-CN" altLang="en-US" dirty="0">
              <a:solidFill>
                <a:schemeClr val="tx1"/>
              </a:solidFill>
            </a:endParaRPr>
          </a:p>
          <a:p>
            <a:pPr marL="914400" lvl="1" indent="-457200" eaLnBrk="1" hangingPunct="1">
              <a:lnSpc>
                <a:spcPct val="110000"/>
              </a:lnSpc>
            </a:pPr>
            <a:r>
              <a:rPr lang="zh-CN" altLang="en-US" dirty="0"/>
              <a:t>基于规则</a:t>
            </a:r>
            <a:r>
              <a:rPr lang="en-US" altLang="zh-CN" dirty="0"/>
              <a:t>(rule based)</a:t>
            </a:r>
            <a:endParaRPr lang="en-US" altLang="zh-CN" dirty="0"/>
          </a:p>
          <a:p>
            <a:pPr marL="914400" lvl="1" indent="-457200" eaLnBrk="1" hangingPunct="1">
              <a:lnSpc>
                <a:spcPct val="110000"/>
              </a:lnSpc>
            </a:pPr>
            <a:r>
              <a:rPr lang="zh-CN" altLang="en-US" dirty="0"/>
              <a:t>基于代价</a:t>
            </a:r>
            <a:r>
              <a:rPr lang="en-US" altLang="zh-CN" dirty="0"/>
              <a:t>(cost based)</a:t>
            </a:r>
            <a:endParaRPr lang="en-US" altLang="zh-CN" dirty="0"/>
          </a:p>
          <a:p>
            <a:pPr marL="914400" lvl="1" indent="-457200" eaLnBrk="1" hangingPunct="1">
              <a:lnSpc>
                <a:spcPct val="110000"/>
              </a:lnSpc>
            </a:pPr>
            <a:r>
              <a:rPr lang="zh-CN" altLang="en-US" dirty="0"/>
              <a:t>基于语义</a:t>
            </a:r>
            <a:r>
              <a:rPr lang="en-US" altLang="zh-CN" dirty="0"/>
              <a:t>(semantic based)</a:t>
            </a:r>
            <a:endParaRPr lang="en-US" altLang="zh-CN" dirty="0"/>
          </a:p>
        </p:txBody>
      </p:sp>
      <p:sp>
        <p:nvSpPr>
          <p:cNvPr id="7172" name="Rectangle 3"/>
          <p:cNvSpPr>
            <a:spLocks noGrp="1"/>
          </p:cNvSpPr>
          <p:nvPr>
            <p:ph type="title"/>
          </p:nvPr>
        </p:nvSpPr>
        <p:spPr>
          <a:xfrm>
            <a:off x="1020763" y="95250"/>
            <a:ext cx="7151687" cy="900113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9.1.1  </a:t>
            </a:r>
            <a:r>
              <a:rPr lang="zh-CN" altLang="en-US" sz="3200" dirty="0"/>
              <a:t>查询处理步骤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8195" name="Rectangle 2"/>
          <p:cNvSpPr>
            <a:spLocks noGrp="1"/>
          </p:cNvSpPr>
          <p:nvPr>
            <p:ph idx="1"/>
          </p:nvPr>
        </p:nvSpPr>
        <p:spPr>
          <a:xfrm>
            <a:off x="468313" y="1125538"/>
            <a:ext cx="8281987" cy="5183187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10000"/>
              </a:lnSpc>
              <a:buNone/>
            </a:pPr>
            <a:r>
              <a:rPr lang="en-US" altLang="zh-CN" sz="3600" dirty="0">
                <a:solidFill>
                  <a:schemeClr val="tx1"/>
                </a:solidFill>
              </a:rPr>
              <a:t>4 </a:t>
            </a:r>
            <a:r>
              <a:rPr lang="zh-CN" altLang="en-US" sz="3600" dirty="0">
                <a:solidFill>
                  <a:schemeClr val="tx1"/>
                </a:solidFill>
              </a:rPr>
              <a:t>查询执行</a:t>
            </a:r>
            <a:endParaRPr lang="zh-CN" altLang="en-US" sz="36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10000"/>
              </a:lnSpc>
            </a:pPr>
            <a:r>
              <a:rPr lang="zh-CN" altLang="en-US" sz="3200" dirty="0"/>
              <a:t>根据优化器得到的执行策略生成查询计划</a:t>
            </a:r>
            <a:endParaRPr lang="zh-CN" altLang="en-US" sz="3200" dirty="0"/>
          </a:p>
          <a:p>
            <a:pPr lvl="1" eaLnBrk="1" hangingPunct="1">
              <a:lnSpc>
                <a:spcPct val="110000"/>
              </a:lnSpc>
            </a:pPr>
            <a:r>
              <a:rPr lang="zh-CN" altLang="en-US" sz="3200" dirty="0"/>
              <a:t>由</a:t>
            </a:r>
            <a:r>
              <a:rPr lang="zh-CN" altLang="en-US" sz="3200" dirty="0">
                <a:solidFill>
                  <a:schemeClr val="accent2"/>
                </a:solidFill>
              </a:rPr>
              <a:t>代码生成器</a:t>
            </a:r>
            <a:r>
              <a:rPr lang="zh-CN" altLang="en-US" sz="3200" dirty="0"/>
              <a:t>生成执行这个查询计划的代码</a:t>
            </a:r>
            <a:endParaRPr lang="zh-CN" altLang="en-US" sz="3200" dirty="0"/>
          </a:p>
        </p:txBody>
      </p:sp>
      <p:sp>
        <p:nvSpPr>
          <p:cNvPr id="8196" name="Rectangle 3"/>
          <p:cNvSpPr>
            <a:spLocks noGrp="1"/>
          </p:cNvSpPr>
          <p:nvPr>
            <p:ph type="title"/>
          </p:nvPr>
        </p:nvSpPr>
        <p:spPr>
          <a:xfrm>
            <a:off x="1116013" y="0"/>
            <a:ext cx="7151687" cy="900113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9.1.1  </a:t>
            </a:r>
            <a:r>
              <a:rPr lang="zh-CN" altLang="en-US" sz="3200" dirty="0"/>
              <a:t>查询处理步骤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9219" name="Rectangle 3"/>
          <p:cNvSpPr>
            <a:spLocks noGrp="1"/>
          </p:cNvSpPr>
          <p:nvPr>
            <p:ph type="title"/>
          </p:nvPr>
        </p:nvSpPr>
        <p:spPr>
          <a:xfrm>
            <a:off x="1020763" y="95250"/>
            <a:ext cx="7151687" cy="5969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9.1.1  </a:t>
            </a:r>
            <a:r>
              <a:rPr lang="zh-CN" altLang="en-US" sz="3200" dirty="0"/>
              <a:t>查询处理步骤</a:t>
            </a:r>
            <a:endParaRPr lang="zh-CN" altLang="en-US" sz="3200" dirty="0"/>
          </a:p>
        </p:txBody>
      </p:sp>
      <p:pic>
        <p:nvPicPr>
          <p:cNvPr id="9220" name="Picture 5" descr="9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7813" y="908050"/>
            <a:ext cx="6048375" cy="56165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0243" name="Rectangle 2"/>
          <p:cNvSpPr>
            <a:spLocks noGrp="1"/>
          </p:cNvSpPr>
          <p:nvPr>
            <p:ph idx="1"/>
          </p:nvPr>
        </p:nvSpPr>
        <p:spPr>
          <a:xfrm>
            <a:off x="900113" y="2060575"/>
            <a:ext cx="7162800" cy="3887788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None/>
            </a:pPr>
            <a:r>
              <a:rPr lang="en-US" altLang="en-US" sz="3600" dirty="0">
                <a:solidFill>
                  <a:schemeClr val="tx1"/>
                </a:solidFill>
              </a:rPr>
              <a:t>9.1.1  查询处理步骤</a:t>
            </a:r>
            <a:endParaRPr lang="en-US" altLang="en-US" sz="36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en-US" sz="3600" dirty="0">
                <a:solidFill>
                  <a:srgbClr val="FF0000"/>
                </a:solidFill>
              </a:rPr>
              <a:t>9.1.2  实现查询操作的算法示例</a:t>
            </a:r>
            <a:r>
              <a:rPr lang="en-US" altLang="en-US" sz="3600" dirty="0">
                <a:solidFill>
                  <a:schemeClr val="tx1"/>
                </a:solidFill>
              </a:rPr>
              <a:t> </a:t>
            </a:r>
            <a:endParaRPr lang="en-US" altLang="en-US" sz="3600" dirty="0">
              <a:solidFill>
                <a:schemeClr val="tx1"/>
              </a:solidFill>
            </a:endParaRPr>
          </a:p>
        </p:txBody>
      </p:sp>
      <p:sp>
        <p:nvSpPr>
          <p:cNvPr id="10244" name="Rectangle 3"/>
          <p:cNvSpPr>
            <a:spLocks noGrp="1"/>
          </p:cNvSpPr>
          <p:nvPr>
            <p:ph type="title"/>
          </p:nvPr>
        </p:nvSpPr>
        <p:spPr>
          <a:xfrm>
            <a:off x="1020763" y="95250"/>
            <a:ext cx="7989887" cy="900113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9.1  </a:t>
            </a:r>
            <a:r>
              <a:rPr lang="zh-CN" altLang="en-US" dirty="0"/>
              <a:t>关系数据库系统的查询处理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1267" name="Rectangle 2"/>
          <p:cNvSpPr>
            <a:spLocks noGrp="1"/>
          </p:cNvSpPr>
          <p:nvPr>
            <p:ph idx="1"/>
          </p:nvPr>
        </p:nvSpPr>
        <p:spPr>
          <a:xfrm>
            <a:off x="539750" y="1268413"/>
            <a:ext cx="8208963" cy="3887787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</a:pPr>
            <a:r>
              <a:rPr lang="zh-CN" altLang="en-US" sz="3600" dirty="0">
                <a:solidFill>
                  <a:schemeClr val="tx1"/>
                </a:solidFill>
              </a:rPr>
              <a:t>查询运算很多：</a:t>
            </a:r>
            <a:endParaRPr lang="zh-CN" altLang="en-US" sz="36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zh-CN" altLang="en-US" sz="3600" dirty="0">
                <a:solidFill>
                  <a:schemeClr val="tx1"/>
                </a:solidFill>
              </a:rPr>
              <a:t>选择、投影、笛卡尔积、连接</a:t>
            </a:r>
            <a:r>
              <a:rPr lang="en-US" altLang="en-US" sz="3600" dirty="0">
                <a:solidFill>
                  <a:schemeClr val="tx1"/>
                </a:solidFill>
              </a:rPr>
              <a:t> </a:t>
            </a:r>
            <a:endParaRPr lang="zh-CN" altLang="en-US" sz="36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</a:pPr>
            <a:r>
              <a:rPr lang="zh-CN" altLang="en-US" sz="3600" dirty="0">
                <a:solidFill>
                  <a:schemeClr val="tx1"/>
                </a:solidFill>
              </a:rPr>
              <a:t>以选择和连接为例简单描述算法思想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sp>
        <p:nvSpPr>
          <p:cNvPr id="11268" name="Rectangle 3"/>
          <p:cNvSpPr>
            <a:spLocks noGrp="1"/>
          </p:cNvSpPr>
          <p:nvPr>
            <p:ph type="title"/>
          </p:nvPr>
        </p:nvSpPr>
        <p:spPr>
          <a:xfrm>
            <a:off x="1020763" y="95250"/>
            <a:ext cx="7989887" cy="900113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9.1.2  </a:t>
            </a:r>
            <a:r>
              <a:rPr lang="zh-CN" altLang="en-US" sz="3200" dirty="0"/>
              <a:t>查询操作算法示例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2291" name="Rectangle 2"/>
          <p:cNvSpPr>
            <a:spLocks noGrp="1"/>
          </p:cNvSpPr>
          <p:nvPr>
            <p:ph idx="1"/>
          </p:nvPr>
        </p:nvSpPr>
        <p:spPr>
          <a:xfrm>
            <a:off x="468313" y="1125538"/>
            <a:ext cx="8208962" cy="5183187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【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1】</a:t>
            </a:r>
            <a:r>
              <a:rPr lang="en-US" altLang="zh-CN" dirty="0">
                <a:solidFill>
                  <a:schemeClr val="accent2"/>
                </a:solidFill>
              </a:rPr>
              <a:t>Select</a:t>
            </a:r>
            <a:r>
              <a:rPr lang="en-US" altLang="zh-CN" dirty="0">
                <a:solidFill>
                  <a:schemeClr val="tx1"/>
                </a:solidFill>
              </a:rPr>
              <a:t> * </a:t>
            </a:r>
            <a:r>
              <a:rPr lang="en-US" altLang="zh-CN" dirty="0">
                <a:solidFill>
                  <a:schemeClr val="accent2"/>
                </a:solidFill>
              </a:rPr>
              <a:t>from</a:t>
            </a:r>
            <a:r>
              <a:rPr lang="en-US" altLang="zh-CN" dirty="0">
                <a:solidFill>
                  <a:schemeClr val="tx1"/>
                </a:solidFill>
              </a:rPr>
              <a:t> student </a:t>
            </a:r>
            <a:r>
              <a:rPr lang="en-US" altLang="zh-CN" dirty="0">
                <a:solidFill>
                  <a:schemeClr val="accent2"/>
                </a:solidFill>
              </a:rPr>
              <a:t>where</a:t>
            </a:r>
            <a:r>
              <a:rPr lang="en-US" altLang="zh-CN" dirty="0">
                <a:solidFill>
                  <a:schemeClr val="tx1"/>
                </a:solidFill>
              </a:rPr>
              <a:t> &lt;</a:t>
            </a:r>
            <a:r>
              <a:rPr lang="zh-CN" altLang="en-US" dirty="0">
                <a:solidFill>
                  <a:schemeClr val="tx1"/>
                </a:solidFill>
              </a:rPr>
              <a:t>条件表达式</a:t>
            </a:r>
            <a:r>
              <a:rPr lang="en-US" altLang="zh-CN" dirty="0">
                <a:solidFill>
                  <a:schemeClr val="tx1"/>
                </a:solidFill>
              </a:rPr>
              <a:t>&gt; </a:t>
            </a:r>
            <a:endParaRPr lang="en-US" altLang="zh-CN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	</a:t>
            </a:r>
            <a:r>
              <a:rPr lang="zh-CN" altLang="en-US" dirty="0">
                <a:solidFill>
                  <a:schemeClr val="tx1"/>
                </a:solidFill>
              </a:rPr>
              <a:t>考虑</a:t>
            </a:r>
            <a:r>
              <a:rPr lang="en-US" altLang="zh-CN" dirty="0">
                <a:solidFill>
                  <a:schemeClr val="tx1"/>
                </a:solidFill>
              </a:rPr>
              <a:t>&lt;</a:t>
            </a:r>
            <a:r>
              <a:rPr lang="zh-CN" altLang="en-US" dirty="0">
                <a:solidFill>
                  <a:schemeClr val="tx1"/>
                </a:solidFill>
              </a:rPr>
              <a:t>条件表达式</a:t>
            </a:r>
            <a:r>
              <a:rPr lang="en-US" altLang="zh-CN" dirty="0">
                <a:solidFill>
                  <a:schemeClr val="tx1"/>
                </a:solidFill>
              </a:rPr>
              <a:t>&gt;</a:t>
            </a:r>
            <a:r>
              <a:rPr lang="zh-CN" altLang="en-US" dirty="0">
                <a:solidFill>
                  <a:schemeClr val="tx1"/>
                </a:solidFill>
              </a:rPr>
              <a:t>的几种情况：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    </a:t>
            </a:r>
            <a:r>
              <a:rPr lang="en-US" altLang="zh-CN" dirty="0">
                <a:solidFill>
                  <a:schemeClr val="tx1"/>
                </a:solidFill>
              </a:rPr>
              <a:t>C1</a:t>
            </a:r>
            <a:r>
              <a:rPr lang="zh-CN" altLang="en-US" dirty="0">
                <a:solidFill>
                  <a:schemeClr val="tx1"/>
                </a:solidFill>
              </a:rPr>
              <a:t>：无条件；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	 </a:t>
            </a:r>
            <a:r>
              <a:rPr lang="en-US" altLang="zh-CN" dirty="0">
                <a:solidFill>
                  <a:schemeClr val="tx1"/>
                </a:solidFill>
              </a:rPr>
              <a:t>C2</a:t>
            </a:r>
            <a:r>
              <a:rPr lang="zh-CN" altLang="en-US" dirty="0">
                <a:solidFill>
                  <a:schemeClr val="tx1"/>
                </a:solidFill>
              </a:rPr>
              <a:t>：</a:t>
            </a:r>
            <a:r>
              <a:rPr lang="en-US" altLang="zh-CN" dirty="0">
                <a:solidFill>
                  <a:schemeClr val="tx1"/>
                </a:solidFill>
              </a:rPr>
              <a:t>Sno</a:t>
            </a:r>
            <a:r>
              <a:rPr lang="zh-CN" altLang="en-US" dirty="0">
                <a:solidFill>
                  <a:schemeClr val="tx1"/>
                </a:solidFill>
              </a:rPr>
              <a:t>＝</a:t>
            </a:r>
            <a:r>
              <a:rPr lang="en-US" altLang="zh-CN" dirty="0">
                <a:solidFill>
                  <a:schemeClr val="tx1"/>
                </a:solidFill>
              </a:rPr>
              <a:t>'200215121'</a:t>
            </a:r>
            <a:r>
              <a:rPr lang="zh-CN" altLang="en-US" dirty="0">
                <a:solidFill>
                  <a:schemeClr val="tx1"/>
                </a:solidFill>
              </a:rPr>
              <a:t>；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	 </a:t>
            </a:r>
            <a:r>
              <a:rPr lang="en-US" altLang="zh-CN" dirty="0">
                <a:solidFill>
                  <a:schemeClr val="tx1"/>
                </a:solidFill>
              </a:rPr>
              <a:t>C3</a:t>
            </a:r>
            <a:r>
              <a:rPr lang="zh-CN" altLang="en-US" dirty="0">
                <a:solidFill>
                  <a:schemeClr val="tx1"/>
                </a:solidFill>
              </a:rPr>
              <a:t>：</a:t>
            </a:r>
            <a:r>
              <a:rPr lang="en-US" altLang="zh-CN" dirty="0">
                <a:solidFill>
                  <a:schemeClr val="tx1"/>
                </a:solidFill>
              </a:rPr>
              <a:t>Sage&gt;20</a:t>
            </a:r>
            <a:r>
              <a:rPr lang="zh-CN" altLang="en-US" dirty="0">
                <a:solidFill>
                  <a:schemeClr val="tx1"/>
                </a:solidFill>
              </a:rPr>
              <a:t>；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	 </a:t>
            </a:r>
            <a:r>
              <a:rPr lang="en-US" altLang="zh-CN" dirty="0">
                <a:solidFill>
                  <a:schemeClr val="tx1"/>
                </a:solidFill>
              </a:rPr>
              <a:t>C4</a:t>
            </a:r>
            <a:r>
              <a:rPr lang="zh-CN" altLang="en-US" dirty="0">
                <a:solidFill>
                  <a:schemeClr val="tx1"/>
                </a:solidFill>
              </a:rPr>
              <a:t>：</a:t>
            </a:r>
            <a:r>
              <a:rPr lang="en-US" altLang="zh-CN" dirty="0">
                <a:solidFill>
                  <a:schemeClr val="tx1"/>
                </a:solidFill>
              </a:rPr>
              <a:t>Sdept</a:t>
            </a:r>
            <a:r>
              <a:rPr lang="zh-CN" altLang="en-US" dirty="0">
                <a:solidFill>
                  <a:schemeClr val="tx1"/>
                </a:solidFill>
              </a:rPr>
              <a:t>＝</a:t>
            </a:r>
            <a:r>
              <a:rPr lang="en-US" altLang="zh-CN" dirty="0">
                <a:solidFill>
                  <a:schemeClr val="tx1"/>
                </a:solidFill>
              </a:rPr>
              <a:t>'CS' AND Sage&gt;20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2292" name="Rectangle 3"/>
          <p:cNvSpPr>
            <a:spLocks noGrp="1"/>
          </p:cNvSpPr>
          <p:nvPr>
            <p:ph type="title"/>
          </p:nvPr>
        </p:nvSpPr>
        <p:spPr>
          <a:xfrm>
            <a:off x="1020763" y="95250"/>
            <a:ext cx="7989887" cy="900113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9.1.2  </a:t>
            </a:r>
            <a:r>
              <a:rPr lang="zh-CN" altLang="en-US" sz="3200" dirty="0"/>
              <a:t>查询操作算法示例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3315" name="Rectangle 2"/>
          <p:cNvSpPr>
            <a:spLocks noGrp="1"/>
          </p:cNvSpPr>
          <p:nvPr>
            <p:ph idx="1"/>
          </p:nvPr>
        </p:nvSpPr>
        <p:spPr>
          <a:xfrm>
            <a:off x="468313" y="1125538"/>
            <a:ext cx="8208962" cy="5183187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选择操作典型实现方法：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</a:rPr>
              <a:t>简单的全表扫描方法 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</a:rPr>
              <a:t>索引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zh-CN" altLang="en-US" dirty="0">
                <a:solidFill>
                  <a:schemeClr val="tx1"/>
                </a:solidFill>
              </a:rPr>
              <a:t>或散列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  <a:r>
              <a:rPr lang="zh-CN" altLang="en-US" dirty="0">
                <a:solidFill>
                  <a:schemeClr val="tx1"/>
                </a:solidFill>
              </a:rPr>
              <a:t>扫描方法 </a:t>
            </a:r>
            <a:endParaRPr lang="zh-CN" altLang="en-US" dirty="0">
              <a:solidFill>
                <a:schemeClr val="tx1"/>
              </a:solidFill>
            </a:endParaRPr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dirty="0"/>
              <a:t>选择条件中的属性上有索引</a:t>
            </a:r>
            <a:r>
              <a:rPr lang="en-US" altLang="zh-CN" dirty="0"/>
              <a:t>(</a:t>
            </a:r>
            <a:r>
              <a:rPr lang="zh-CN" altLang="en-US" dirty="0"/>
              <a:t>例如</a:t>
            </a:r>
            <a:r>
              <a:rPr lang="en-US" altLang="zh-CN" dirty="0"/>
              <a:t>B+</a:t>
            </a:r>
            <a:r>
              <a:rPr lang="zh-CN" altLang="en-US" dirty="0"/>
              <a:t>树索引或</a:t>
            </a:r>
            <a:r>
              <a:rPr lang="en-US" altLang="zh-CN" dirty="0"/>
              <a:t>Hash</a:t>
            </a:r>
            <a:r>
              <a:rPr lang="zh-CN" altLang="en-US" dirty="0"/>
              <a:t>索引</a:t>
            </a:r>
            <a:r>
              <a:rPr lang="en-US" altLang="zh-CN" dirty="0"/>
              <a:t>) </a:t>
            </a:r>
            <a:endParaRPr lang="en-US" altLang="zh-CN" dirty="0"/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dirty="0"/>
              <a:t>通过索引先找到满足条件的元组主码或元组指针，再通过元组指针直接在基本表中找到元组 </a:t>
            </a:r>
            <a:endParaRPr lang="zh-CN" altLang="en-US" dirty="0"/>
          </a:p>
        </p:txBody>
      </p:sp>
      <p:sp>
        <p:nvSpPr>
          <p:cNvPr id="13316" name="Rectangle 3"/>
          <p:cNvSpPr>
            <a:spLocks noGrp="1"/>
          </p:cNvSpPr>
          <p:nvPr>
            <p:ph type="title"/>
          </p:nvPr>
        </p:nvSpPr>
        <p:spPr>
          <a:xfrm>
            <a:off x="1020763" y="95250"/>
            <a:ext cx="7989887" cy="900113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9.1.2  </a:t>
            </a:r>
            <a:r>
              <a:rPr lang="zh-CN" altLang="en-US" sz="3200" dirty="0"/>
              <a:t>查询操作算法示例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4339" name="Rectangle 2"/>
          <p:cNvSpPr>
            <a:spLocks noGrp="1"/>
          </p:cNvSpPr>
          <p:nvPr>
            <p:ph idx="1"/>
          </p:nvPr>
        </p:nvSpPr>
        <p:spPr>
          <a:xfrm>
            <a:off x="468313" y="1125538"/>
            <a:ext cx="8208962" cy="5183187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【</a:t>
            </a:r>
            <a:r>
              <a:rPr lang="zh-CN" altLang="en-US" sz="2800" dirty="0">
                <a:solidFill>
                  <a:schemeClr val="tx1"/>
                </a:solidFill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</a:rPr>
              <a:t>2】</a:t>
            </a:r>
            <a:r>
              <a:rPr lang="en-US" altLang="zh-CN" sz="2800" dirty="0">
                <a:solidFill>
                  <a:schemeClr val="accent2"/>
                </a:solidFill>
              </a:rPr>
              <a:t>SELECT</a:t>
            </a:r>
            <a:r>
              <a:rPr lang="en-US" altLang="zh-CN" sz="2800" dirty="0">
                <a:solidFill>
                  <a:schemeClr val="tx1"/>
                </a:solidFill>
              </a:rPr>
              <a:t> * </a:t>
            </a:r>
            <a:r>
              <a:rPr lang="en-US" altLang="zh-CN" sz="2800" dirty="0">
                <a:solidFill>
                  <a:schemeClr val="accent2"/>
                </a:solidFill>
              </a:rPr>
              <a:t>FROM</a:t>
            </a:r>
            <a:r>
              <a:rPr lang="en-US" altLang="zh-CN" sz="2800" dirty="0">
                <a:solidFill>
                  <a:schemeClr val="tx1"/>
                </a:solidFill>
              </a:rPr>
              <a:t> Student,SC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	</a:t>
            </a:r>
            <a:r>
              <a:rPr lang="en-US" altLang="zh-CN" sz="2800" dirty="0">
                <a:solidFill>
                  <a:schemeClr val="accent2"/>
                </a:solidFill>
              </a:rPr>
              <a:t>WHERE</a:t>
            </a:r>
            <a:r>
              <a:rPr lang="en-US" altLang="zh-CN" sz="2800" dirty="0">
                <a:solidFill>
                  <a:schemeClr val="tx1"/>
                </a:solidFill>
              </a:rPr>
              <a:t> Student.Sno=SC.Sno   </a:t>
            </a:r>
            <a:r>
              <a:rPr lang="en-US" altLang="zh-CN" sz="2800" dirty="0">
                <a:solidFill>
                  <a:srgbClr val="FF0000"/>
                </a:solidFill>
              </a:rPr>
              <a:t>P304 (</a:t>
            </a:r>
            <a:r>
              <a:rPr lang="zh-CN" altLang="en-US" sz="2800" dirty="0">
                <a:solidFill>
                  <a:srgbClr val="FF0000"/>
                </a:solidFill>
              </a:rPr>
              <a:t>例</a:t>
            </a:r>
            <a:r>
              <a:rPr lang="en-US" altLang="zh-CN" sz="2800" dirty="0">
                <a:solidFill>
                  <a:srgbClr val="FF0000"/>
                </a:solidFill>
              </a:rPr>
              <a:t>10.2)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endParaRPr lang="en-US" altLang="zh-CN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嵌套循环方法</a:t>
            </a:r>
            <a:r>
              <a:rPr lang="en-US" altLang="zh-CN" sz="2800" dirty="0">
                <a:solidFill>
                  <a:schemeClr val="tx1"/>
                </a:solidFill>
              </a:rPr>
              <a:t>(nested loop) 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排序</a:t>
            </a:r>
            <a:r>
              <a:rPr lang="en-US" altLang="zh-CN" sz="2800" dirty="0">
                <a:solidFill>
                  <a:schemeClr val="tx1"/>
                </a:solidFill>
              </a:rPr>
              <a:t>-</a:t>
            </a:r>
            <a:r>
              <a:rPr lang="zh-CN" altLang="en-US" sz="2800" dirty="0">
                <a:solidFill>
                  <a:schemeClr val="tx1"/>
                </a:solidFill>
              </a:rPr>
              <a:t>合并方法</a:t>
            </a:r>
            <a:r>
              <a:rPr lang="en-US" altLang="zh-CN" sz="2800" dirty="0">
                <a:solidFill>
                  <a:schemeClr val="tx1"/>
                </a:solidFill>
              </a:rPr>
              <a:t>(sort-merge join </a:t>
            </a:r>
            <a:r>
              <a:rPr lang="zh-CN" altLang="en-US" sz="2800" dirty="0">
                <a:solidFill>
                  <a:schemeClr val="tx1"/>
                </a:solidFill>
              </a:rPr>
              <a:t>或</a:t>
            </a:r>
            <a:r>
              <a:rPr lang="en-US" altLang="zh-CN" sz="2800" dirty="0">
                <a:solidFill>
                  <a:schemeClr val="tx1"/>
                </a:solidFill>
              </a:rPr>
              <a:t>merge join)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索引连接</a:t>
            </a:r>
            <a:r>
              <a:rPr lang="en-US" altLang="zh-CN" sz="2800" dirty="0">
                <a:solidFill>
                  <a:schemeClr val="tx1"/>
                </a:solidFill>
              </a:rPr>
              <a:t>(index join)</a:t>
            </a:r>
            <a:r>
              <a:rPr lang="zh-CN" altLang="en-US" sz="2800" dirty="0">
                <a:solidFill>
                  <a:schemeClr val="tx1"/>
                </a:solidFill>
              </a:rPr>
              <a:t>方法 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Hash Join</a:t>
            </a:r>
            <a:r>
              <a:rPr lang="zh-CN" altLang="en-US" sz="2800" dirty="0">
                <a:solidFill>
                  <a:schemeClr val="tx1"/>
                </a:solidFill>
              </a:rPr>
              <a:t>方法 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14340" name="Rectangle 3"/>
          <p:cNvSpPr>
            <a:spLocks noGrp="1"/>
          </p:cNvSpPr>
          <p:nvPr>
            <p:ph type="title"/>
          </p:nvPr>
        </p:nvSpPr>
        <p:spPr>
          <a:xfrm>
            <a:off x="1020763" y="95250"/>
            <a:ext cx="7989887" cy="900113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9.1.2  </a:t>
            </a:r>
            <a:r>
              <a:rPr lang="zh-CN" altLang="en-US" sz="3200" dirty="0"/>
              <a:t>查询操作算法示例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5363" name="Rectangle 3"/>
          <p:cNvSpPr>
            <a:spLocks noGrp="1"/>
          </p:cNvSpPr>
          <p:nvPr>
            <p:ph type="title"/>
          </p:nvPr>
        </p:nvSpPr>
        <p:spPr>
          <a:xfrm>
            <a:off x="1020763" y="95250"/>
            <a:ext cx="7989887" cy="900113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9.1.2  </a:t>
            </a:r>
            <a:r>
              <a:rPr lang="zh-CN" altLang="en-US" sz="3200" dirty="0"/>
              <a:t>查询操作算法示例</a:t>
            </a:r>
            <a:endParaRPr lang="zh-CN" altLang="en-US" sz="3200" dirty="0"/>
          </a:p>
        </p:txBody>
      </p:sp>
      <p:sp>
        <p:nvSpPr>
          <p:cNvPr id="15364" name="Rectangle 6"/>
          <p:cNvSpPr/>
          <p:nvPr/>
        </p:nvSpPr>
        <p:spPr>
          <a:xfrm>
            <a:off x="1187450" y="1628775"/>
            <a:ext cx="1819275" cy="3494088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342900" lvl="0" indent="-342900" algn="ctr" eaLnBrk="1" hangingPunct="1">
              <a:lnSpc>
                <a:spcPct val="170000"/>
              </a:lnSpc>
              <a:spcBef>
                <a:spcPct val="0"/>
              </a:spcBef>
              <a:buClrTx/>
              <a:buNone/>
            </a:pPr>
            <a:r>
              <a:rPr lang="en-US" altLang="zh-CN" sz="2000" b="0" dirty="0">
                <a:solidFill>
                  <a:schemeClr val="tx1"/>
                </a:solidFill>
              </a:rPr>
              <a:t>200215121</a:t>
            </a:r>
            <a:endParaRPr lang="en-US" altLang="zh-CN" sz="2000" b="0" dirty="0">
              <a:solidFill>
                <a:schemeClr val="tx1"/>
              </a:solidFill>
            </a:endParaRPr>
          </a:p>
          <a:p>
            <a:pPr marL="342900" lvl="0" indent="-342900" algn="ctr" eaLnBrk="1" hangingPunct="1">
              <a:lnSpc>
                <a:spcPct val="170000"/>
              </a:lnSpc>
              <a:spcBef>
                <a:spcPct val="0"/>
              </a:spcBef>
              <a:buClrTx/>
              <a:buNone/>
            </a:pPr>
            <a:r>
              <a:rPr lang="en-US" altLang="zh-CN" sz="2000" b="0" dirty="0">
                <a:solidFill>
                  <a:schemeClr val="tx1"/>
                </a:solidFill>
              </a:rPr>
              <a:t>200215122</a:t>
            </a:r>
            <a:endParaRPr lang="en-US" altLang="zh-CN" sz="2000" b="0" dirty="0">
              <a:solidFill>
                <a:schemeClr val="tx1"/>
              </a:solidFill>
            </a:endParaRPr>
          </a:p>
          <a:p>
            <a:pPr marL="342900" lvl="0" indent="-342900" algn="ctr" eaLnBrk="1" hangingPunct="1">
              <a:lnSpc>
                <a:spcPct val="170000"/>
              </a:lnSpc>
              <a:spcBef>
                <a:spcPct val="0"/>
              </a:spcBef>
              <a:buClrTx/>
              <a:buNone/>
            </a:pPr>
            <a:r>
              <a:rPr lang="en-US" altLang="zh-CN" sz="2000" b="0" dirty="0">
                <a:solidFill>
                  <a:schemeClr val="tx1"/>
                </a:solidFill>
              </a:rPr>
              <a:t>200215123</a:t>
            </a:r>
            <a:endParaRPr lang="en-US" altLang="zh-CN" sz="2000" b="0" dirty="0">
              <a:solidFill>
                <a:schemeClr val="tx1"/>
              </a:solidFill>
            </a:endParaRPr>
          </a:p>
          <a:p>
            <a:pPr marL="342900" lvl="0" indent="-342900" algn="ctr" eaLnBrk="1" hangingPunct="1">
              <a:lnSpc>
                <a:spcPct val="170000"/>
              </a:lnSpc>
              <a:spcBef>
                <a:spcPct val="0"/>
              </a:spcBef>
              <a:buClrTx/>
              <a:buNone/>
            </a:pPr>
            <a:r>
              <a:rPr lang="en-US" altLang="zh-CN" sz="2000" b="0" dirty="0">
                <a:solidFill>
                  <a:schemeClr val="tx1"/>
                </a:solidFill>
              </a:rPr>
              <a:t>200215124</a:t>
            </a:r>
            <a:endParaRPr lang="en-US" altLang="zh-CN" sz="2000" b="0" dirty="0">
              <a:solidFill>
                <a:schemeClr val="tx1"/>
              </a:solidFill>
            </a:endParaRPr>
          </a:p>
          <a:p>
            <a:pPr marL="342900" lvl="0" indent="-342900" algn="ctr" eaLnBrk="1" hangingPunct="1">
              <a:lnSpc>
                <a:spcPct val="20000"/>
              </a:lnSpc>
              <a:spcBef>
                <a:spcPct val="0"/>
              </a:spcBef>
              <a:buClrTx/>
              <a:buNone/>
            </a:pPr>
            <a:r>
              <a:rPr lang="en-US" altLang="zh-CN" sz="2000" b="0" dirty="0">
                <a:solidFill>
                  <a:schemeClr val="tx1"/>
                </a:solidFill>
              </a:rPr>
              <a:t>.</a:t>
            </a:r>
            <a:endParaRPr lang="en-US" altLang="zh-CN" sz="2000" b="0" dirty="0">
              <a:solidFill>
                <a:schemeClr val="tx1"/>
              </a:solidFill>
            </a:endParaRPr>
          </a:p>
          <a:p>
            <a:pPr marL="342900" lvl="0" indent="-342900" algn="ctr" eaLnBrk="1" hangingPunct="1">
              <a:lnSpc>
                <a:spcPct val="20000"/>
              </a:lnSpc>
              <a:spcBef>
                <a:spcPct val="0"/>
              </a:spcBef>
              <a:buClrTx/>
              <a:buNone/>
            </a:pPr>
            <a:r>
              <a:rPr lang="en-US" altLang="zh-CN" sz="2000" b="0" dirty="0">
                <a:solidFill>
                  <a:schemeClr val="tx1"/>
                </a:solidFill>
              </a:rPr>
              <a:t>.</a:t>
            </a:r>
            <a:endParaRPr lang="en-US" altLang="zh-CN" sz="2000" b="0" dirty="0">
              <a:solidFill>
                <a:schemeClr val="tx1"/>
              </a:solidFill>
            </a:endParaRPr>
          </a:p>
          <a:p>
            <a:pPr marL="342900" lvl="0" indent="-342900" algn="ctr" eaLnBrk="1" hangingPunct="1">
              <a:lnSpc>
                <a:spcPct val="20000"/>
              </a:lnSpc>
              <a:spcBef>
                <a:spcPct val="0"/>
              </a:spcBef>
              <a:buClrTx/>
              <a:buNone/>
            </a:pPr>
            <a:r>
              <a:rPr lang="en-US" altLang="zh-CN" sz="2000" b="0" dirty="0">
                <a:solidFill>
                  <a:schemeClr val="tx1"/>
                </a:solidFill>
              </a:rPr>
              <a:t>.</a:t>
            </a:r>
            <a:endParaRPr lang="en-US" altLang="zh-CN" sz="2000" b="0" dirty="0">
              <a:solidFill>
                <a:schemeClr val="tx1"/>
              </a:solidFill>
            </a:endParaRPr>
          </a:p>
          <a:p>
            <a:pPr marL="342900" lvl="0" indent="-342900" algn="ctr" eaLnBrk="1" hangingPunct="1">
              <a:lnSpc>
                <a:spcPct val="20000"/>
              </a:lnSpc>
              <a:spcBef>
                <a:spcPct val="0"/>
              </a:spcBef>
              <a:buClrTx/>
              <a:buNone/>
            </a:pPr>
            <a:endParaRPr lang="en-US" altLang="zh-CN" sz="2000" b="0" dirty="0">
              <a:solidFill>
                <a:schemeClr val="tx1"/>
              </a:solidFill>
            </a:endParaRPr>
          </a:p>
        </p:txBody>
      </p:sp>
      <p:sp>
        <p:nvSpPr>
          <p:cNvPr id="15365" name="Rectangle 7"/>
          <p:cNvSpPr/>
          <p:nvPr/>
        </p:nvSpPr>
        <p:spPr>
          <a:xfrm>
            <a:off x="5689600" y="1628775"/>
            <a:ext cx="2338388" cy="3494088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342900" lvl="0" indent="-342900" algn="ctr" eaLnBrk="1" hangingPunct="1">
              <a:lnSpc>
                <a:spcPct val="130000"/>
              </a:lnSpc>
              <a:spcBef>
                <a:spcPct val="0"/>
              </a:spcBef>
              <a:buClrTx/>
              <a:buNone/>
            </a:pPr>
            <a:r>
              <a:rPr lang="en-US" altLang="zh-CN" sz="2000" b="0" dirty="0">
                <a:solidFill>
                  <a:schemeClr val="tx1"/>
                </a:solidFill>
              </a:rPr>
              <a:t>200215121  1  92</a:t>
            </a:r>
            <a:endParaRPr lang="en-US" altLang="zh-CN" sz="2000" b="0" dirty="0">
              <a:solidFill>
                <a:schemeClr val="tx1"/>
              </a:solidFill>
            </a:endParaRPr>
          </a:p>
          <a:p>
            <a:pPr marL="342900" lvl="0" indent="-342900" algn="ctr" eaLnBrk="1" hangingPunct="1">
              <a:lnSpc>
                <a:spcPct val="130000"/>
              </a:lnSpc>
              <a:spcBef>
                <a:spcPct val="0"/>
              </a:spcBef>
              <a:buClrTx/>
              <a:buNone/>
            </a:pPr>
            <a:r>
              <a:rPr lang="en-US" altLang="zh-CN" sz="2000" b="0" dirty="0">
                <a:solidFill>
                  <a:schemeClr val="tx1"/>
                </a:solidFill>
              </a:rPr>
              <a:t>200215121  2  85</a:t>
            </a:r>
            <a:endParaRPr lang="en-US" altLang="zh-CN" sz="2000" b="0" dirty="0">
              <a:solidFill>
                <a:schemeClr val="tx1"/>
              </a:solidFill>
            </a:endParaRPr>
          </a:p>
          <a:p>
            <a:pPr marL="342900" lvl="0" indent="-342900" algn="ctr" eaLnBrk="1" hangingPunct="1">
              <a:lnSpc>
                <a:spcPct val="130000"/>
              </a:lnSpc>
              <a:spcBef>
                <a:spcPct val="0"/>
              </a:spcBef>
              <a:buClrTx/>
              <a:buNone/>
            </a:pPr>
            <a:r>
              <a:rPr lang="en-US" altLang="zh-CN" sz="2000" b="0" dirty="0">
                <a:solidFill>
                  <a:schemeClr val="tx1"/>
                </a:solidFill>
              </a:rPr>
              <a:t>200215121  3  88</a:t>
            </a:r>
            <a:endParaRPr lang="en-US" altLang="zh-CN" sz="2000" b="0" dirty="0">
              <a:solidFill>
                <a:schemeClr val="tx1"/>
              </a:solidFill>
            </a:endParaRPr>
          </a:p>
          <a:p>
            <a:pPr marL="342900" lvl="0" indent="-342900" algn="ctr" eaLnBrk="1" hangingPunct="1">
              <a:lnSpc>
                <a:spcPct val="130000"/>
              </a:lnSpc>
              <a:spcBef>
                <a:spcPct val="0"/>
              </a:spcBef>
              <a:buClrTx/>
              <a:buNone/>
            </a:pPr>
            <a:r>
              <a:rPr lang="en-US" altLang="zh-CN" sz="2000" b="0" dirty="0">
                <a:solidFill>
                  <a:schemeClr val="tx1"/>
                </a:solidFill>
              </a:rPr>
              <a:t>200215122  2  90</a:t>
            </a:r>
            <a:endParaRPr lang="en-US" altLang="zh-CN" sz="2000" b="0" dirty="0">
              <a:solidFill>
                <a:schemeClr val="tx1"/>
              </a:solidFill>
            </a:endParaRPr>
          </a:p>
          <a:p>
            <a:pPr marL="342900" lvl="0" indent="-342900" algn="ctr" eaLnBrk="1" hangingPunct="1">
              <a:lnSpc>
                <a:spcPct val="130000"/>
              </a:lnSpc>
              <a:spcBef>
                <a:spcPct val="0"/>
              </a:spcBef>
              <a:buClrTx/>
              <a:buNone/>
            </a:pPr>
            <a:r>
              <a:rPr lang="en-US" altLang="zh-CN" sz="2000" b="0" dirty="0">
                <a:solidFill>
                  <a:schemeClr val="tx1"/>
                </a:solidFill>
              </a:rPr>
              <a:t>200215122  3  80</a:t>
            </a:r>
            <a:endParaRPr lang="en-US" altLang="zh-CN" sz="2000" b="0" dirty="0">
              <a:solidFill>
                <a:schemeClr val="tx1"/>
              </a:solidFill>
            </a:endParaRPr>
          </a:p>
          <a:p>
            <a:pPr marL="342900" lvl="0" indent="-342900" algn="ctr" eaLnBrk="1" hangingPunct="1">
              <a:lnSpc>
                <a:spcPct val="30000"/>
              </a:lnSpc>
              <a:spcBef>
                <a:spcPct val="0"/>
              </a:spcBef>
              <a:buClrTx/>
              <a:buNone/>
            </a:pPr>
            <a:r>
              <a:rPr lang="en-US" altLang="zh-CN" sz="1800" b="0" dirty="0">
                <a:solidFill>
                  <a:schemeClr val="tx1"/>
                </a:solidFill>
              </a:rPr>
              <a:t>.</a:t>
            </a:r>
            <a:endParaRPr lang="en-US" altLang="zh-CN" sz="1800" b="0" dirty="0">
              <a:solidFill>
                <a:schemeClr val="tx1"/>
              </a:solidFill>
            </a:endParaRPr>
          </a:p>
          <a:p>
            <a:pPr marL="342900" lvl="0" indent="-342900" algn="ctr" eaLnBrk="1" hangingPunct="1">
              <a:lnSpc>
                <a:spcPct val="30000"/>
              </a:lnSpc>
              <a:spcBef>
                <a:spcPct val="0"/>
              </a:spcBef>
              <a:buClrTx/>
              <a:buNone/>
            </a:pPr>
            <a:r>
              <a:rPr lang="en-US" altLang="zh-CN" sz="1800" b="0" dirty="0">
                <a:solidFill>
                  <a:schemeClr val="tx1"/>
                </a:solidFill>
              </a:rPr>
              <a:t>.</a:t>
            </a:r>
            <a:endParaRPr lang="en-US" altLang="zh-CN" sz="1800" b="0" dirty="0">
              <a:solidFill>
                <a:schemeClr val="tx1"/>
              </a:solidFill>
            </a:endParaRPr>
          </a:p>
          <a:p>
            <a:pPr marL="342900" lvl="0" indent="-342900" algn="ctr" eaLnBrk="1" hangingPunct="1">
              <a:lnSpc>
                <a:spcPct val="30000"/>
              </a:lnSpc>
              <a:spcBef>
                <a:spcPct val="0"/>
              </a:spcBef>
              <a:buClrTx/>
              <a:buNone/>
            </a:pPr>
            <a:r>
              <a:rPr lang="en-US" altLang="zh-CN" sz="1800" b="0" dirty="0">
                <a:solidFill>
                  <a:schemeClr val="tx1"/>
                </a:solidFill>
              </a:rPr>
              <a:t>.</a:t>
            </a:r>
            <a:endParaRPr lang="en-US" altLang="zh-CN" sz="1800" b="0" dirty="0">
              <a:solidFill>
                <a:schemeClr val="tx1"/>
              </a:solidFill>
            </a:endParaRPr>
          </a:p>
        </p:txBody>
      </p:sp>
      <p:sp>
        <p:nvSpPr>
          <p:cNvPr id="15366" name="Line 8"/>
          <p:cNvSpPr/>
          <p:nvPr/>
        </p:nvSpPr>
        <p:spPr>
          <a:xfrm flipV="1">
            <a:off x="3006725" y="2492375"/>
            <a:ext cx="2644775" cy="3175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367" name="Line 9"/>
          <p:cNvSpPr/>
          <p:nvPr/>
        </p:nvSpPr>
        <p:spPr>
          <a:xfrm>
            <a:off x="2987675" y="2492375"/>
            <a:ext cx="2663825" cy="720725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368" name="Line 10"/>
          <p:cNvSpPr/>
          <p:nvPr/>
        </p:nvSpPr>
        <p:spPr>
          <a:xfrm>
            <a:off x="2987675" y="3068638"/>
            <a:ext cx="2663825" cy="576262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369" name="Line 11"/>
          <p:cNvSpPr/>
          <p:nvPr/>
        </p:nvSpPr>
        <p:spPr>
          <a:xfrm>
            <a:off x="2987675" y="3068638"/>
            <a:ext cx="2663825" cy="936625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370" name="Text Box 12"/>
          <p:cNvSpPr txBox="1"/>
          <p:nvPr/>
        </p:nvSpPr>
        <p:spPr>
          <a:xfrm>
            <a:off x="2690813" y="5457825"/>
            <a:ext cx="3638550" cy="457200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342900" lvl="0" indent="-342900" algn="ctr" eaLnBrk="1" hangingPunct="1">
              <a:spcBef>
                <a:spcPct val="0"/>
              </a:spcBef>
              <a:buClrTx/>
              <a:buNone/>
            </a:pPr>
            <a:r>
              <a:rPr lang="zh-CN" altLang="en-US" sz="2400" b="0" dirty="0">
                <a:solidFill>
                  <a:schemeClr val="tx1"/>
                </a:solidFill>
              </a:rPr>
              <a:t>排序</a:t>
            </a:r>
            <a:r>
              <a:rPr lang="en-US" altLang="zh-CN" sz="2400" b="0" dirty="0">
                <a:solidFill>
                  <a:schemeClr val="tx1"/>
                </a:solidFill>
              </a:rPr>
              <a:t>-</a:t>
            </a:r>
            <a:r>
              <a:rPr lang="zh-CN" altLang="en-US" sz="2400" b="0" dirty="0">
                <a:solidFill>
                  <a:schemeClr val="tx1"/>
                </a:solidFill>
              </a:rPr>
              <a:t>合并连接方法示意图</a:t>
            </a:r>
            <a:endParaRPr lang="zh-CN" altLang="en-US" sz="24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6387" name="Rectangle 2"/>
          <p:cNvSpPr/>
          <p:nvPr/>
        </p:nvSpPr>
        <p:spPr>
          <a:xfrm>
            <a:off x="523875" y="2492375"/>
            <a:ext cx="7747000" cy="609600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6388" name="Rectangle 3"/>
          <p:cNvSpPr>
            <a:spLocks noGrp="1"/>
          </p:cNvSpPr>
          <p:nvPr>
            <p:ph idx="1"/>
          </p:nvPr>
        </p:nvSpPr>
        <p:spPr>
          <a:xfrm>
            <a:off x="900113" y="1773238"/>
            <a:ext cx="7327900" cy="3455987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9.1 </a:t>
            </a:r>
            <a:r>
              <a:rPr lang="zh-CN" altLang="en-US" dirty="0">
                <a:solidFill>
                  <a:schemeClr val="tx1"/>
                </a:solidFill>
              </a:rPr>
              <a:t>关系数据库系统的查询处理 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bg1"/>
                </a:solidFill>
              </a:rPr>
              <a:t>9.2 </a:t>
            </a:r>
            <a:r>
              <a:rPr lang="zh-CN" altLang="en-US" dirty="0">
                <a:solidFill>
                  <a:schemeClr val="bg1"/>
                </a:solidFill>
              </a:rPr>
              <a:t>关系数据库系统的查询优化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9.3 </a:t>
            </a:r>
            <a:r>
              <a:rPr lang="zh-CN" altLang="en-US" dirty="0">
                <a:solidFill>
                  <a:schemeClr val="tx1"/>
                </a:solidFill>
              </a:rPr>
              <a:t>代数优化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9.4 </a:t>
            </a:r>
            <a:r>
              <a:rPr lang="zh-CN" altLang="en-US" dirty="0">
                <a:solidFill>
                  <a:schemeClr val="tx1"/>
                </a:solidFill>
              </a:rPr>
              <a:t>物理优化 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9.5 </a:t>
            </a:r>
            <a:r>
              <a:rPr lang="zh-CN" altLang="en-US" dirty="0">
                <a:solidFill>
                  <a:schemeClr val="tx1"/>
                </a:solidFill>
              </a:rPr>
              <a:t>小 结 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6389" name="Rectangle 4"/>
          <p:cNvSpPr>
            <a:spLocks noGrp="1"/>
          </p:cNvSpPr>
          <p:nvPr>
            <p:ph type="title"/>
          </p:nvPr>
        </p:nvSpPr>
        <p:spPr>
          <a:xfrm>
            <a:off x="914400" y="546100"/>
            <a:ext cx="7978775" cy="11430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第</a:t>
            </a:r>
            <a:r>
              <a:rPr lang="en-US" altLang="zh-CN" dirty="0"/>
              <a:t>9</a:t>
            </a:r>
            <a:r>
              <a:rPr lang="zh-CN" altLang="en-US" dirty="0"/>
              <a:t>章 关系查询处理和查询优化</a:t>
            </a: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7411" name="Rectangle 2"/>
          <p:cNvSpPr>
            <a:spLocks noGrp="1"/>
          </p:cNvSpPr>
          <p:nvPr>
            <p:ph idx="1"/>
          </p:nvPr>
        </p:nvSpPr>
        <p:spPr>
          <a:xfrm>
            <a:off x="468313" y="1196975"/>
            <a:ext cx="8351837" cy="4608513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必要性</a:t>
            </a:r>
            <a:endParaRPr lang="zh-CN" altLang="en-US" dirty="0">
              <a:solidFill>
                <a:schemeClr val="tx1"/>
              </a:solidFill>
            </a:endParaRPr>
          </a:p>
          <a:p>
            <a:pPr lvl="1" eaLnBrk="1" hangingPunct="1"/>
            <a:r>
              <a:rPr lang="zh-CN" altLang="en-US" dirty="0"/>
              <a:t>查询优化在关系数据库系统中有着非常重要的地位 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关系查询优化是影响</a:t>
            </a:r>
            <a:r>
              <a:rPr lang="en-US" altLang="zh-CN" dirty="0"/>
              <a:t>RDBMS</a:t>
            </a:r>
            <a:r>
              <a:rPr lang="zh-CN" altLang="en-US" dirty="0"/>
              <a:t>性能的关键因素 </a:t>
            </a:r>
            <a:endParaRPr lang="zh-CN" altLang="en-US" dirty="0"/>
          </a:p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可行性</a:t>
            </a:r>
            <a:endParaRPr lang="zh-CN" altLang="en-US" dirty="0">
              <a:solidFill>
                <a:schemeClr val="tx1"/>
              </a:solidFill>
            </a:endParaRPr>
          </a:p>
          <a:p>
            <a:pPr lvl="1" eaLnBrk="1" hangingPunct="1"/>
            <a:r>
              <a:rPr lang="zh-CN" altLang="en-US" dirty="0"/>
              <a:t>由于关系表达式的语义级别很高，使关系系统可以从关系表达式中分析查询语义，提供了执行查询优化的可能性  </a:t>
            </a:r>
            <a:endParaRPr lang="zh-CN" altLang="en-US" dirty="0"/>
          </a:p>
        </p:txBody>
      </p:sp>
      <p:sp>
        <p:nvSpPr>
          <p:cNvPr id="17412" name="Rectangle 3"/>
          <p:cNvSpPr>
            <a:spLocks noGrp="1"/>
          </p:cNvSpPr>
          <p:nvPr>
            <p:ph type="title"/>
          </p:nvPr>
        </p:nvSpPr>
        <p:spPr>
          <a:xfrm>
            <a:off x="1020763" y="95250"/>
            <a:ext cx="7989887" cy="900113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9.2  </a:t>
            </a:r>
            <a:r>
              <a:rPr lang="zh-CN" altLang="en-US" sz="3200" dirty="0"/>
              <a:t>关系数据库系统的查询优化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8435" name="Rectangle 2"/>
          <p:cNvSpPr>
            <a:spLocks noGrp="1"/>
          </p:cNvSpPr>
          <p:nvPr>
            <p:ph idx="1"/>
          </p:nvPr>
        </p:nvSpPr>
        <p:spPr>
          <a:xfrm>
            <a:off x="468313" y="1196975"/>
            <a:ext cx="8351837" cy="532765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1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查询优化的优点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dirty="0">
                <a:solidFill>
                  <a:schemeClr val="tx1"/>
                </a:solidFill>
              </a:rPr>
              <a:t>用户不必考虑</a:t>
            </a:r>
            <a:r>
              <a:rPr lang="en-US" altLang="zh-CN" dirty="0">
                <a:solidFill>
                  <a:schemeClr val="tx1"/>
                </a:solidFill>
              </a:rPr>
              <a:t>How To Do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dirty="0">
                <a:solidFill>
                  <a:schemeClr val="tx1"/>
                </a:solidFill>
              </a:rPr>
              <a:t>系统可以比用户做得更好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zh-CN" altLang="en-US" dirty="0">
                <a:solidFill>
                  <a:schemeClr val="tx1"/>
                </a:solidFill>
              </a:rPr>
              <a:t>更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“</a:t>
            </a:r>
            <a:r>
              <a:rPr lang="zh-CN" altLang="en-US" dirty="0">
                <a:solidFill>
                  <a:schemeClr val="tx1"/>
                </a:solidFill>
              </a:rPr>
              <a:t>优化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”</a:t>
            </a:r>
            <a:r>
              <a:rPr lang="en-US" altLang="zh-CN" dirty="0">
                <a:solidFill>
                  <a:schemeClr val="tx1"/>
                </a:solidFill>
              </a:rPr>
              <a:t>) 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1)</a:t>
            </a:r>
            <a:r>
              <a:rPr lang="zh-CN" altLang="en-US" dirty="0">
                <a:solidFill>
                  <a:schemeClr val="tx1"/>
                </a:solidFill>
              </a:rPr>
              <a:t>优化器可以从数据字典中获取许多统计信息，而用户程序则难以获得这些信息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2)</a:t>
            </a:r>
            <a:r>
              <a:rPr lang="zh-CN" altLang="en-US" dirty="0">
                <a:solidFill>
                  <a:schemeClr val="tx1"/>
                </a:solidFill>
              </a:rPr>
              <a:t>如果数据库的物理统计信息改变了，系统可以自动对查询重新优化以选择相适应的执行计划。在非关系系统中必须重写程序，而重写程序在实际应用中往往是不太可能的。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8436" name="Rectangle 3"/>
          <p:cNvSpPr>
            <a:spLocks noGrp="1"/>
          </p:cNvSpPr>
          <p:nvPr>
            <p:ph type="title"/>
          </p:nvPr>
        </p:nvSpPr>
        <p:spPr>
          <a:xfrm>
            <a:off x="1020763" y="95250"/>
            <a:ext cx="7989887" cy="900113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9.2  </a:t>
            </a:r>
            <a:r>
              <a:rPr lang="zh-CN" altLang="en-US" sz="3200" dirty="0"/>
              <a:t>关系数据库系统的查询优化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9459" name="Rectangle 2"/>
          <p:cNvSpPr>
            <a:spLocks noGrp="1"/>
          </p:cNvSpPr>
          <p:nvPr>
            <p:ph idx="1"/>
          </p:nvPr>
        </p:nvSpPr>
        <p:spPr>
          <a:xfrm>
            <a:off x="468313" y="1196975"/>
            <a:ext cx="8351837" cy="532765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3)</a:t>
            </a:r>
            <a:r>
              <a:rPr lang="zh-CN" altLang="en-US" dirty="0">
                <a:solidFill>
                  <a:schemeClr val="tx1"/>
                </a:solidFill>
              </a:rPr>
              <a:t>优化器可以考虑数百种不同的执行计划，程序员一般只能考虑有限的几种可能性。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4)</a:t>
            </a:r>
            <a:r>
              <a:rPr lang="zh-CN" altLang="en-US" dirty="0">
                <a:solidFill>
                  <a:schemeClr val="tx1"/>
                </a:solidFill>
              </a:rPr>
              <a:t>优化器中包括了很多复杂的优化技术，这些优化技术往往只有最好的程序员才能掌握。系统的自动优化相当于使得所有人都拥有这些优化技术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9460" name="Rectangle 3"/>
          <p:cNvSpPr>
            <a:spLocks noGrp="1"/>
          </p:cNvSpPr>
          <p:nvPr>
            <p:ph type="title"/>
          </p:nvPr>
        </p:nvSpPr>
        <p:spPr>
          <a:xfrm>
            <a:off x="1020763" y="95250"/>
            <a:ext cx="7989887" cy="900113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9.2  </a:t>
            </a:r>
            <a:r>
              <a:rPr lang="zh-CN" altLang="en-US" sz="3200" dirty="0"/>
              <a:t>关系数据库系统的查询优化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0483" name="Rectangle 2"/>
          <p:cNvSpPr>
            <a:spLocks noGrp="1"/>
          </p:cNvSpPr>
          <p:nvPr>
            <p:ph idx="1"/>
          </p:nvPr>
        </p:nvSpPr>
        <p:spPr>
          <a:xfrm>
            <a:off x="468313" y="1196975"/>
            <a:ext cx="8351837" cy="532765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</a:rPr>
              <a:t>代价模型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</a:rPr>
              <a:t>集中式数据库</a:t>
            </a:r>
            <a:endParaRPr lang="zh-CN" altLang="en-US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磁盘存取块数</a:t>
            </a:r>
            <a:r>
              <a:rPr lang="en-US" altLang="zh-CN" dirty="0"/>
              <a:t>(I/O</a:t>
            </a:r>
            <a:r>
              <a:rPr lang="zh-CN" altLang="en-US" dirty="0"/>
              <a:t>代价</a:t>
            </a:r>
            <a:r>
              <a:rPr lang="en-US" altLang="zh-CN" dirty="0"/>
              <a:t>)</a:t>
            </a:r>
            <a:r>
              <a:rPr lang="en-US" altLang="zh-CN" sz="3200" baseline="20000" dirty="0">
                <a:solidFill>
                  <a:srgbClr val="FF0000"/>
                </a:solidFill>
              </a:rPr>
              <a:t>*</a:t>
            </a:r>
            <a:endParaRPr lang="en-US" altLang="zh-CN" sz="3200" baseline="20000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处理机时间</a:t>
            </a:r>
            <a:r>
              <a:rPr lang="en-US" altLang="zh-CN" dirty="0"/>
              <a:t>(CPU</a:t>
            </a:r>
            <a:r>
              <a:rPr lang="zh-CN" altLang="en-US" dirty="0"/>
              <a:t>代价</a:t>
            </a:r>
            <a:r>
              <a:rPr lang="en-US" altLang="zh-CN" dirty="0"/>
              <a:t>)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查询的内存开销 </a:t>
            </a:r>
            <a:r>
              <a:rPr lang="en-US" altLang="zh-CN" dirty="0"/>
              <a:t>(</a:t>
            </a:r>
            <a:r>
              <a:rPr lang="zh-CN" altLang="en-US" dirty="0">
                <a:solidFill>
                  <a:srgbClr val="FF0000"/>
                </a:solidFill>
              </a:rPr>
              <a:t>多用户情形</a:t>
            </a:r>
            <a:r>
              <a:rPr lang="en-US" altLang="zh-CN" dirty="0"/>
              <a:t>)</a:t>
            </a:r>
            <a:endParaRPr lang="en-US" altLang="zh-CN" dirty="0"/>
          </a:p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</a:rPr>
              <a:t>分布式数据库</a:t>
            </a:r>
            <a:endParaRPr lang="zh-CN" altLang="en-US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dirty="0"/>
              <a:t>I/O</a:t>
            </a:r>
            <a:r>
              <a:rPr lang="zh-CN" altLang="en-US" dirty="0"/>
              <a:t>代价</a:t>
            </a:r>
            <a:r>
              <a:rPr lang="en-US" altLang="zh-CN" dirty="0"/>
              <a:t>+CPU</a:t>
            </a:r>
            <a:r>
              <a:rPr lang="zh-CN" altLang="en-US" dirty="0"/>
              <a:t>代价</a:t>
            </a:r>
            <a:r>
              <a:rPr lang="en-US" altLang="zh-CN" dirty="0"/>
              <a:t>+</a:t>
            </a:r>
            <a:r>
              <a:rPr lang="zh-CN" altLang="en-US" dirty="0"/>
              <a:t>内存代价＋通信代价 </a:t>
            </a:r>
            <a:endParaRPr lang="zh-CN" altLang="en-US" dirty="0"/>
          </a:p>
          <a:p>
            <a:pPr eaLnBrk="1" hangingPunct="1">
              <a:lnSpc>
                <a:spcPct val="120000"/>
              </a:lnSpc>
            </a:pP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0484" name="Rectangle 3"/>
          <p:cNvSpPr>
            <a:spLocks noGrp="1"/>
          </p:cNvSpPr>
          <p:nvPr>
            <p:ph type="title"/>
          </p:nvPr>
        </p:nvSpPr>
        <p:spPr>
          <a:xfrm>
            <a:off x="1020763" y="95250"/>
            <a:ext cx="7989887" cy="900113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9.2  </a:t>
            </a:r>
            <a:r>
              <a:rPr lang="zh-CN" altLang="en-US" sz="3200" dirty="0"/>
              <a:t>关系数据库系统的查询优化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1507" name="Rectangle 2"/>
          <p:cNvSpPr>
            <a:spLocks noGrp="1"/>
          </p:cNvSpPr>
          <p:nvPr>
            <p:ph idx="1"/>
          </p:nvPr>
        </p:nvSpPr>
        <p:spPr>
          <a:xfrm>
            <a:off x="468313" y="1196975"/>
            <a:ext cx="8351837" cy="532765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</a:rPr>
              <a:t>查询优化的总目标</a:t>
            </a:r>
            <a:endParaRPr lang="zh-CN" altLang="en-US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选择有效的策略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求得给定关系表达式的值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使得查询代价最小</a:t>
            </a:r>
            <a:r>
              <a:rPr lang="en-US" altLang="zh-CN" dirty="0"/>
              <a:t>(</a:t>
            </a:r>
            <a:r>
              <a:rPr lang="zh-CN" altLang="en-US" dirty="0"/>
              <a:t>实际上是较小</a:t>
            </a:r>
            <a:r>
              <a:rPr lang="en-US" altLang="zh-CN" dirty="0"/>
              <a:t>)</a:t>
            </a:r>
            <a:endParaRPr lang="en-US" altLang="zh-CN" dirty="0"/>
          </a:p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</a:rPr>
              <a:t>一个实例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zh-CN" altLang="en-US" dirty="0">
                <a:solidFill>
                  <a:schemeClr val="tx1"/>
                </a:solidFill>
              </a:rPr>
              <a:t>说明为什么要优化</a:t>
            </a:r>
            <a:r>
              <a:rPr lang="en-US" altLang="zh-CN" dirty="0">
                <a:solidFill>
                  <a:schemeClr val="tx1"/>
                </a:solidFill>
              </a:rPr>
              <a:t>) 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1508" name="Rectangle 3"/>
          <p:cNvSpPr>
            <a:spLocks noGrp="1"/>
          </p:cNvSpPr>
          <p:nvPr>
            <p:ph type="title"/>
          </p:nvPr>
        </p:nvSpPr>
        <p:spPr>
          <a:xfrm>
            <a:off x="1020763" y="95250"/>
            <a:ext cx="7989887" cy="900113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9.2  </a:t>
            </a:r>
            <a:r>
              <a:rPr lang="zh-CN" altLang="en-US" sz="3200" dirty="0"/>
              <a:t>关系数据库系统的查询优化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2531" name="Rectangle 2"/>
          <p:cNvSpPr>
            <a:spLocks noGrp="1"/>
          </p:cNvSpPr>
          <p:nvPr>
            <p:ph idx="1"/>
          </p:nvPr>
        </p:nvSpPr>
        <p:spPr>
          <a:xfrm>
            <a:off x="457200" y="914400"/>
            <a:ext cx="8153400" cy="5181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chemeClr val="accent2"/>
              </a:buClr>
              <a:buNone/>
            </a:pPr>
            <a:r>
              <a:rPr lang="en-US" altLang="zh-CN" dirty="0">
                <a:solidFill>
                  <a:schemeClr val="tx1"/>
                </a:solidFill>
              </a:rPr>
              <a:t> 【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3】</a:t>
            </a:r>
            <a:r>
              <a:rPr lang="zh-CN" altLang="en-US" dirty="0">
                <a:solidFill>
                  <a:schemeClr val="tx1"/>
                </a:solidFill>
              </a:rPr>
              <a:t>求选修了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zh-CN" altLang="en-US" dirty="0">
                <a:solidFill>
                  <a:schemeClr val="tx1"/>
                </a:solidFill>
              </a:rPr>
              <a:t>号课程的学生姓名。用</a:t>
            </a:r>
            <a:r>
              <a:rPr lang="en-US" altLang="zh-CN" dirty="0">
                <a:solidFill>
                  <a:schemeClr val="tx1"/>
                </a:solidFill>
              </a:rPr>
              <a:t>SQL</a:t>
            </a:r>
            <a:r>
              <a:rPr lang="zh-CN" altLang="en-US" dirty="0">
                <a:solidFill>
                  <a:schemeClr val="tx1"/>
                </a:solidFill>
              </a:rPr>
              <a:t>语言表达</a:t>
            </a:r>
            <a:r>
              <a:rPr lang="en-US" altLang="zh-CN" dirty="0">
                <a:solidFill>
                  <a:schemeClr val="tx1"/>
                </a:solidFill>
              </a:rPr>
              <a:t>: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chemeClr val="accent2"/>
              </a:buClr>
              <a:buNone/>
            </a:pPr>
            <a:r>
              <a:rPr lang="en-US" altLang="zh-CN" dirty="0">
                <a:solidFill>
                  <a:schemeClr val="tx1"/>
                </a:solidFill>
              </a:rPr>
              <a:t>          </a:t>
            </a:r>
            <a:r>
              <a:rPr lang="en-US" altLang="zh-CN" i="1" dirty="0">
                <a:solidFill>
                  <a:schemeClr val="accent2"/>
                </a:solidFill>
              </a:rPr>
              <a:t>select </a:t>
            </a:r>
            <a:r>
              <a:rPr lang="en-US" altLang="zh-CN" i="1" dirty="0">
                <a:solidFill>
                  <a:schemeClr val="tx1"/>
                </a:solidFill>
              </a:rPr>
              <a:t> student.sname</a:t>
            </a:r>
            <a:endParaRPr lang="en-US" altLang="zh-CN" i="1" dirty="0">
              <a:solidFill>
                <a:schemeClr val="tx1"/>
              </a:solidFill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chemeClr val="accent2"/>
              </a:buClr>
              <a:buNone/>
            </a:pPr>
            <a:r>
              <a:rPr lang="en-US" altLang="zh-CN" i="1" dirty="0">
                <a:solidFill>
                  <a:schemeClr val="tx1"/>
                </a:solidFill>
              </a:rPr>
              <a:t>          </a:t>
            </a:r>
            <a:r>
              <a:rPr lang="en-US" altLang="zh-CN" i="1" dirty="0">
                <a:solidFill>
                  <a:schemeClr val="accent2"/>
                </a:solidFill>
              </a:rPr>
              <a:t>from</a:t>
            </a:r>
            <a:r>
              <a:rPr lang="en-US" altLang="zh-CN" i="1" dirty="0">
                <a:solidFill>
                  <a:schemeClr val="tx1"/>
                </a:solidFill>
              </a:rPr>
              <a:t>  student, SC</a:t>
            </a:r>
            <a:endParaRPr lang="en-US" altLang="zh-CN" i="1" dirty="0">
              <a:solidFill>
                <a:schemeClr val="tx1"/>
              </a:solidFill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chemeClr val="accent2"/>
              </a:buClr>
              <a:buNone/>
            </a:pPr>
            <a:r>
              <a:rPr lang="en-US" altLang="zh-CN" i="1" dirty="0">
                <a:solidFill>
                  <a:schemeClr val="accent2"/>
                </a:solidFill>
              </a:rPr>
              <a:t>          where</a:t>
            </a:r>
            <a:r>
              <a:rPr lang="en-US" altLang="zh-CN" i="1" dirty="0">
                <a:solidFill>
                  <a:schemeClr val="tx1"/>
                </a:solidFill>
              </a:rPr>
              <a:t> student.sno = SC.sno  </a:t>
            </a:r>
            <a:r>
              <a:rPr lang="en-US" altLang="zh-CN" i="1" dirty="0">
                <a:solidFill>
                  <a:schemeClr val="accent2"/>
                </a:solidFill>
              </a:rPr>
              <a:t>and</a:t>
            </a:r>
            <a:endParaRPr lang="en-US" altLang="zh-CN" i="1" dirty="0">
              <a:solidFill>
                <a:schemeClr val="accent2"/>
              </a:solidFill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chemeClr val="accent2"/>
              </a:buClr>
              <a:buNone/>
            </a:pPr>
            <a:r>
              <a:rPr lang="en-US" altLang="zh-CN" i="1" dirty="0">
                <a:solidFill>
                  <a:schemeClr val="tx1"/>
                </a:solidFill>
              </a:rPr>
              <a:t>                     SC.cno = </a:t>
            </a:r>
            <a:r>
              <a:rPr lang="en-US" altLang="zh-CN" i="1" dirty="0">
                <a:solidFill>
                  <a:srgbClr val="FF0000"/>
                </a:solidFill>
              </a:rPr>
              <a:t>‘2’</a:t>
            </a:r>
            <a:endParaRPr lang="en-US" altLang="zh-CN" i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chemeClr val="accent2"/>
              </a:buClr>
              <a:buNone/>
            </a:pPr>
            <a:r>
              <a:rPr lang="en-US" altLang="zh-CN" dirty="0">
                <a:solidFill>
                  <a:schemeClr val="tx1"/>
                </a:solidFill>
              </a:rPr>
              <a:t>    </a:t>
            </a:r>
            <a:r>
              <a:rPr lang="zh-CN" altLang="en-US" dirty="0">
                <a:solidFill>
                  <a:schemeClr val="tx1"/>
                </a:solidFill>
              </a:rPr>
              <a:t>假定数据库中有</a:t>
            </a:r>
            <a:r>
              <a:rPr lang="en-US" altLang="zh-CN" dirty="0">
                <a:solidFill>
                  <a:schemeClr val="tx1"/>
                </a:solidFill>
              </a:rPr>
              <a:t>1000</a:t>
            </a:r>
            <a:r>
              <a:rPr lang="zh-CN" altLang="en-US" dirty="0">
                <a:solidFill>
                  <a:schemeClr val="tx1"/>
                </a:solidFill>
              </a:rPr>
              <a:t>个学生记录，</a:t>
            </a:r>
            <a:r>
              <a:rPr lang="en-US" altLang="zh-CN" dirty="0">
                <a:solidFill>
                  <a:schemeClr val="tx1"/>
                </a:solidFill>
              </a:rPr>
              <a:t>10000</a:t>
            </a:r>
            <a:r>
              <a:rPr lang="zh-CN" altLang="en-US" dirty="0">
                <a:solidFill>
                  <a:schemeClr val="tx1"/>
                </a:solidFill>
              </a:rPr>
              <a:t>个选课记录，其中选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zh-CN" altLang="en-US" dirty="0">
                <a:solidFill>
                  <a:schemeClr val="tx1"/>
                </a:solidFill>
              </a:rPr>
              <a:t>号课程的记录为</a:t>
            </a:r>
            <a:r>
              <a:rPr lang="en-US" altLang="zh-CN" dirty="0">
                <a:solidFill>
                  <a:schemeClr val="tx1"/>
                </a:solidFill>
              </a:rPr>
              <a:t>50</a:t>
            </a:r>
            <a:r>
              <a:rPr lang="zh-CN" altLang="en-US" dirty="0">
                <a:solidFill>
                  <a:schemeClr val="tx1"/>
                </a:solidFill>
              </a:rPr>
              <a:t>个。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2532" name="Rectangle 3"/>
          <p:cNvSpPr>
            <a:spLocks noGrp="1"/>
          </p:cNvSpPr>
          <p:nvPr>
            <p:ph type="title"/>
          </p:nvPr>
        </p:nvSpPr>
        <p:spPr>
          <a:xfrm>
            <a:off x="685800" y="381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9.2  </a:t>
            </a:r>
            <a:r>
              <a:rPr lang="zh-CN" altLang="en-US" sz="3200" dirty="0"/>
              <a:t>关系数据库系统的查询优化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3555" name="Rectangle 2"/>
          <p:cNvSpPr>
            <a:spLocks noGrp="1"/>
          </p:cNvSpPr>
          <p:nvPr>
            <p:ph idx="1"/>
          </p:nvPr>
        </p:nvSpPr>
        <p:spPr>
          <a:xfrm>
            <a:off x="228600" y="914400"/>
            <a:ext cx="8763000" cy="5181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chemeClr val="accent2"/>
              </a:buClr>
              <a:buNone/>
            </a:pPr>
            <a:r>
              <a:rPr lang="en-US" altLang="zh-CN" dirty="0">
                <a:solidFill>
                  <a:schemeClr val="tx1"/>
                </a:solidFill>
              </a:rPr>
              <a:t>   </a:t>
            </a:r>
            <a:r>
              <a:rPr lang="zh-CN" altLang="en-US" dirty="0">
                <a:solidFill>
                  <a:schemeClr val="tx1"/>
                </a:solidFill>
              </a:rPr>
              <a:t>系统至少有以下三种等价的关系代数表达式来完成这一查询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zh-CN" altLang="en-US" dirty="0">
                <a:solidFill>
                  <a:schemeClr val="accent2"/>
                </a:solidFill>
              </a:rPr>
              <a:t>用</a:t>
            </a:r>
            <a:r>
              <a:rPr lang="en-US" altLang="zh-CN" dirty="0">
                <a:solidFill>
                  <a:schemeClr val="accent2"/>
                </a:solidFill>
              </a:rPr>
              <a:t>S</a:t>
            </a:r>
            <a:r>
              <a:rPr lang="zh-CN" altLang="en-US" dirty="0">
                <a:solidFill>
                  <a:schemeClr val="accent2"/>
                </a:solidFill>
              </a:rPr>
              <a:t>代表</a:t>
            </a:r>
            <a:r>
              <a:rPr lang="en-US" altLang="zh-CN" dirty="0">
                <a:solidFill>
                  <a:schemeClr val="accent2"/>
                </a:solidFill>
              </a:rPr>
              <a:t>Student</a:t>
            </a:r>
            <a:r>
              <a:rPr lang="en-US" altLang="zh-CN" dirty="0">
                <a:solidFill>
                  <a:schemeClr val="tx1"/>
                </a:solidFill>
              </a:rPr>
              <a:t>):</a:t>
            </a:r>
            <a:endParaRPr lang="en-US" altLang="zh-CN" dirty="0">
              <a:solidFill>
                <a:schemeClr val="tx1"/>
              </a:solidFill>
            </a:endParaRPr>
          </a:p>
          <a:p>
            <a:pPr lvl="1" eaLnBrk="1" hangingPunct="1">
              <a:buNone/>
            </a:pPr>
            <a:r>
              <a:rPr lang="en-US" altLang="zh-CN" dirty="0">
                <a:sym typeface="Symbol" panose="05050102010706020507" pitchFamily="18" charset="2"/>
              </a:rPr>
              <a:t>Q1 = </a:t>
            </a:r>
            <a:r>
              <a:rPr lang="en-US" altLang="zh-CN" baseline="-18000" dirty="0">
                <a:sym typeface="Symbol" panose="05050102010706020507" pitchFamily="18" charset="2"/>
              </a:rPr>
              <a:t>Sname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sz="3200" dirty="0">
                <a:sym typeface="Symbol" panose="05050102010706020507" pitchFamily="18" charset="2"/>
              </a:rPr>
              <a:t></a:t>
            </a:r>
            <a:r>
              <a:rPr lang="en-US" altLang="zh-CN" sz="3200" baseline="-25000" dirty="0">
                <a:sym typeface="Symbol" panose="05050102010706020507" pitchFamily="18" charset="2"/>
              </a:rPr>
              <a:t>S.sno=SC.sno ∧ SC.</a:t>
            </a:r>
            <a:r>
              <a:rPr lang="en-US" altLang="zh-CN" baseline="-20000" dirty="0">
                <a:sym typeface="Symbol" panose="05050102010706020507" pitchFamily="18" charset="2"/>
              </a:rPr>
              <a:t>Cno =‘2’ </a:t>
            </a:r>
            <a:r>
              <a:rPr lang="en-US" altLang="zh-CN" dirty="0">
                <a:sym typeface="Symbol" panose="05050102010706020507" pitchFamily="18" charset="2"/>
              </a:rPr>
              <a:t>(S×SC))</a:t>
            </a:r>
            <a:endParaRPr lang="en-US" altLang="zh-CN" dirty="0">
              <a:sym typeface="Symbol" panose="05050102010706020507" pitchFamily="18" charset="2"/>
            </a:endParaRPr>
          </a:p>
          <a:p>
            <a:pPr lvl="1" eaLnBrk="1" hangingPunct="1">
              <a:buNone/>
            </a:pPr>
            <a:r>
              <a:rPr lang="en-US" altLang="zh-CN" dirty="0">
                <a:sym typeface="Symbol" panose="05050102010706020507" pitchFamily="18" charset="2"/>
              </a:rPr>
              <a:t>Q2 = </a:t>
            </a:r>
            <a:r>
              <a:rPr lang="en-US" altLang="zh-CN" baseline="-18000" dirty="0">
                <a:sym typeface="Symbol" panose="05050102010706020507" pitchFamily="18" charset="2"/>
              </a:rPr>
              <a:t>Sname 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sz="3200" dirty="0">
                <a:sym typeface="Symbol" panose="05050102010706020507" pitchFamily="18" charset="2"/>
              </a:rPr>
              <a:t></a:t>
            </a:r>
            <a:r>
              <a:rPr lang="en-US" altLang="zh-CN" sz="3200" baseline="-25000" dirty="0">
                <a:sym typeface="Symbol" panose="05050102010706020507" pitchFamily="18" charset="2"/>
              </a:rPr>
              <a:t>SC.</a:t>
            </a:r>
            <a:r>
              <a:rPr lang="en-US" altLang="zh-CN" baseline="-20000" dirty="0">
                <a:sym typeface="Symbol" panose="05050102010706020507" pitchFamily="18" charset="2"/>
              </a:rPr>
              <a:t>Cno =‘2’ </a:t>
            </a:r>
            <a:r>
              <a:rPr lang="en-US" altLang="zh-CN" dirty="0">
                <a:sym typeface="Symbol" panose="05050102010706020507" pitchFamily="18" charset="2"/>
              </a:rPr>
              <a:t>(S    SC))</a:t>
            </a:r>
            <a:endParaRPr lang="en-US" altLang="zh-CN" dirty="0">
              <a:sym typeface="Symbol" panose="05050102010706020507" pitchFamily="18" charset="2"/>
            </a:endParaRPr>
          </a:p>
          <a:p>
            <a:pPr lvl="1" eaLnBrk="1" hangingPunct="1">
              <a:buNone/>
            </a:pPr>
            <a:r>
              <a:rPr lang="en-US" altLang="zh-CN" dirty="0">
                <a:sym typeface="Symbol" panose="05050102010706020507" pitchFamily="18" charset="2"/>
              </a:rPr>
              <a:t>Q3 = </a:t>
            </a:r>
            <a:r>
              <a:rPr lang="en-US" altLang="zh-CN" baseline="-18000" dirty="0">
                <a:sym typeface="Symbol" panose="05050102010706020507" pitchFamily="18" charset="2"/>
              </a:rPr>
              <a:t>Sname </a:t>
            </a:r>
            <a:r>
              <a:rPr lang="en-US" altLang="zh-CN" dirty="0">
                <a:sym typeface="Symbol" panose="05050102010706020507" pitchFamily="18" charset="2"/>
              </a:rPr>
              <a:t>(S    </a:t>
            </a:r>
            <a:r>
              <a:rPr lang="en-US" altLang="zh-CN" sz="3200" dirty="0">
                <a:sym typeface="Symbol" panose="05050102010706020507" pitchFamily="18" charset="2"/>
              </a:rPr>
              <a:t></a:t>
            </a:r>
            <a:r>
              <a:rPr lang="en-US" altLang="zh-CN" sz="3200" baseline="-25000" dirty="0">
                <a:sym typeface="Symbol" panose="05050102010706020507" pitchFamily="18" charset="2"/>
              </a:rPr>
              <a:t>SC.</a:t>
            </a:r>
            <a:r>
              <a:rPr lang="en-US" altLang="zh-CN" baseline="-20000" dirty="0">
                <a:sym typeface="Symbol" panose="05050102010706020507" pitchFamily="18" charset="2"/>
              </a:rPr>
              <a:t>Cno =‘2’ </a:t>
            </a:r>
            <a:r>
              <a:rPr lang="en-US" altLang="zh-CN" dirty="0">
                <a:sym typeface="Symbol" panose="05050102010706020507" pitchFamily="18" charset="2"/>
              </a:rPr>
              <a:t>(SC))</a:t>
            </a:r>
            <a:endParaRPr lang="en-US" altLang="zh-CN" dirty="0">
              <a:sym typeface="Symbol" panose="05050102010706020507" pitchFamily="18" charset="2"/>
            </a:endParaRPr>
          </a:p>
          <a:p>
            <a:pPr lvl="1" eaLnBrk="1" hangingPunct="1">
              <a:buNone/>
            </a:pPr>
            <a:endParaRPr lang="en-US" altLang="zh-CN" dirty="0">
              <a:sym typeface="Symbol" panose="05050102010706020507" pitchFamily="18" charset="2"/>
            </a:endParaRPr>
          </a:p>
          <a:p>
            <a:pPr lvl="1" eaLnBrk="1" hangingPunct="1">
              <a:buNone/>
            </a:pPr>
            <a:r>
              <a:rPr lang="zh-CN" altLang="en-US" dirty="0">
                <a:sym typeface="Symbol" panose="05050102010706020507" pitchFamily="18" charset="2"/>
              </a:rPr>
              <a:t>我们仅以上述三种情况为代表，来作分析。</a:t>
            </a:r>
            <a:endParaRPr lang="zh-CN" altLang="en-US" dirty="0">
              <a:sym typeface="Symbol" panose="05050102010706020507" pitchFamily="18" charset="2"/>
            </a:endParaRPr>
          </a:p>
          <a:p>
            <a:pPr lvl="1" eaLnBrk="1" hangingPunct="1">
              <a:buNone/>
            </a:pPr>
            <a:endParaRPr lang="zh-CN" altLang="en-US" dirty="0"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chemeClr val="accent2"/>
              </a:buClr>
              <a:buNone/>
            </a:pP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23556" name="Rectangle 3"/>
          <p:cNvSpPr>
            <a:spLocks noGrp="1"/>
          </p:cNvSpPr>
          <p:nvPr>
            <p:ph type="title"/>
          </p:nvPr>
        </p:nvSpPr>
        <p:spPr>
          <a:xfrm>
            <a:off x="685800" y="381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9.2  </a:t>
            </a:r>
            <a:r>
              <a:rPr lang="zh-CN" altLang="en-US" sz="3200" dirty="0"/>
              <a:t>关系数据库系统的查询优化</a:t>
            </a:r>
            <a:endParaRPr lang="zh-CN" altLang="en-US" sz="3200" dirty="0"/>
          </a:p>
        </p:txBody>
      </p:sp>
      <p:sp>
        <p:nvSpPr>
          <p:cNvPr id="23557" name="AutoShape 4"/>
          <p:cNvSpPr/>
          <p:nvPr/>
        </p:nvSpPr>
        <p:spPr>
          <a:xfrm rot="5400000">
            <a:off x="4775200" y="3060700"/>
            <a:ext cx="228600" cy="228600"/>
          </a:xfrm>
          <a:prstGeom prst="flowChartCollate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3558" name="AutoShape 5"/>
          <p:cNvSpPr/>
          <p:nvPr/>
        </p:nvSpPr>
        <p:spPr>
          <a:xfrm rot="5400000">
            <a:off x="3035300" y="3670300"/>
            <a:ext cx="228600" cy="228600"/>
          </a:xfrm>
          <a:prstGeom prst="flowChartCollate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en-US" altLang="zh-CN" sz="14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4579" name="Rectangle 2"/>
          <p:cNvSpPr>
            <a:spLocks noGrp="1"/>
          </p:cNvSpPr>
          <p:nvPr>
            <p:ph idx="1"/>
          </p:nvPr>
        </p:nvSpPr>
        <p:spPr>
          <a:xfrm>
            <a:off x="228600" y="762000"/>
            <a:ext cx="8534400" cy="5754688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chemeClr val="accent2"/>
              </a:buClr>
              <a:buNone/>
            </a:pPr>
            <a:r>
              <a:rPr lang="en-US" altLang="zh-CN" dirty="0">
                <a:solidFill>
                  <a:schemeClr val="tx1"/>
                </a:solidFill>
              </a:rPr>
              <a:t>   </a:t>
            </a:r>
            <a:r>
              <a:rPr lang="zh-CN" altLang="en-US" dirty="0">
                <a:solidFill>
                  <a:schemeClr val="tx1"/>
                </a:solidFill>
              </a:rPr>
              <a:t>系统假设</a:t>
            </a:r>
            <a:r>
              <a:rPr lang="en-US" altLang="zh-CN" dirty="0">
                <a:solidFill>
                  <a:schemeClr val="tx1"/>
                </a:solidFill>
              </a:rPr>
              <a:t>:</a:t>
            </a:r>
            <a:endParaRPr lang="en-US" altLang="zh-CN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dirty="0"/>
              <a:t>元组数：</a:t>
            </a:r>
            <a:r>
              <a:rPr lang="en-US" altLang="zh-CN" dirty="0"/>
              <a:t>student 1000</a:t>
            </a:r>
            <a:r>
              <a:rPr lang="zh-CN" altLang="en-US" dirty="0"/>
              <a:t>个</a:t>
            </a:r>
            <a:r>
              <a:rPr lang="en-US" altLang="zh-CN" dirty="0"/>
              <a:t>, SC 10000</a:t>
            </a:r>
            <a:r>
              <a:rPr lang="zh-CN" altLang="en-US" dirty="0"/>
              <a:t>个，其中有关</a:t>
            </a:r>
            <a:r>
              <a:rPr lang="en-US" altLang="zh-CN" dirty="0"/>
              <a:t>2</a:t>
            </a:r>
            <a:r>
              <a:rPr lang="zh-CN" altLang="en-US" dirty="0"/>
              <a:t>号课程的</a:t>
            </a:r>
            <a:r>
              <a:rPr lang="en-US" altLang="zh-CN" dirty="0"/>
              <a:t>50</a:t>
            </a:r>
            <a:r>
              <a:rPr lang="zh-CN" altLang="en-US" dirty="0"/>
              <a:t>个</a:t>
            </a:r>
            <a:endParaRPr lang="zh-CN" altLang="en-US" dirty="0"/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dirty="0"/>
              <a:t>内存数：</a:t>
            </a:r>
            <a:r>
              <a:rPr lang="en-US" altLang="zh-CN" dirty="0"/>
              <a:t>5</a:t>
            </a:r>
            <a:r>
              <a:rPr lang="zh-CN" altLang="en-US" dirty="0"/>
              <a:t>个内存块用于装</a:t>
            </a:r>
            <a:r>
              <a:rPr lang="en-US" altLang="zh-CN" dirty="0"/>
              <a:t>student, 1</a:t>
            </a:r>
            <a:r>
              <a:rPr lang="zh-CN" altLang="en-US" dirty="0"/>
              <a:t>个内存块用于装</a:t>
            </a:r>
            <a:r>
              <a:rPr lang="en-US" altLang="zh-CN" dirty="0"/>
              <a:t>SC</a:t>
            </a:r>
            <a:endParaRPr lang="en-US" altLang="zh-CN" dirty="0"/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dirty="0"/>
              <a:t>块大小：一个内存块可装</a:t>
            </a:r>
            <a:r>
              <a:rPr lang="en-US" altLang="zh-CN" dirty="0"/>
              <a:t>10</a:t>
            </a:r>
            <a:r>
              <a:rPr lang="zh-CN" altLang="en-US" dirty="0"/>
              <a:t>个</a:t>
            </a:r>
            <a:r>
              <a:rPr lang="en-US" altLang="zh-CN" dirty="0"/>
              <a:t>student</a:t>
            </a:r>
            <a:r>
              <a:rPr lang="zh-CN" altLang="en-US" dirty="0"/>
              <a:t>元组</a:t>
            </a:r>
            <a:r>
              <a:rPr lang="en-US" altLang="zh-CN" dirty="0"/>
              <a:t>(</a:t>
            </a:r>
            <a:r>
              <a:rPr lang="zh-CN" altLang="en-US" dirty="0"/>
              <a:t>或</a:t>
            </a:r>
            <a:r>
              <a:rPr lang="en-US" altLang="zh-CN" dirty="0"/>
              <a:t>10</a:t>
            </a:r>
            <a:r>
              <a:rPr lang="zh-CN" altLang="en-US" dirty="0"/>
              <a:t>个</a:t>
            </a:r>
            <a:r>
              <a:rPr lang="en-US" altLang="zh-CN" dirty="0"/>
              <a:t>student</a:t>
            </a:r>
            <a:r>
              <a:rPr lang="zh-CN" altLang="en-US" dirty="0"/>
              <a:t>与</a:t>
            </a:r>
            <a:r>
              <a:rPr lang="en-US" altLang="zh-CN" dirty="0"/>
              <a:t>SC</a:t>
            </a:r>
            <a:r>
              <a:rPr lang="zh-CN" altLang="en-US" dirty="0"/>
              <a:t>笛卡尔积元组</a:t>
            </a:r>
            <a:r>
              <a:rPr lang="en-US" altLang="zh-CN" dirty="0"/>
              <a:t>)</a:t>
            </a:r>
            <a:r>
              <a:rPr lang="zh-CN" altLang="en-US" dirty="0"/>
              <a:t>，或</a:t>
            </a:r>
            <a:r>
              <a:rPr lang="en-US" altLang="zh-CN" dirty="0"/>
              <a:t>100</a:t>
            </a:r>
            <a:r>
              <a:rPr lang="zh-CN" altLang="en-US" dirty="0"/>
              <a:t>个</a:t>
            </a:r>
            <a:r>
              <a:rPr lang="en-US" altLang="zh-CN" dirty="0"/>
              <a:t>SC</a:t>
            </a:r>
            <a:r>
              <a:rPr lang="zh-CN" altLang="en-US" dirty="0"/>
              <a:t>元组</a:t>
            </a:r>
            <a:endParaRPr lang="zh-CN" altLang="en-US" dirty="0"/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dirty="0"/>
              <a:t>读写速度</a:t>
            </a:r>
            <a:r>
              <a:rPr lang="en-US" altLang="zh-CN" dirty="0"/>
              <a:t>: 20</a:t>
            </a:r>
            <a:r>
              <a:rPr lang="zh-CN" altLang="en-US" dirty="0"/>
              <a:t>块</a:t>
            </a:r>
            <a:r>
              <a:rPr lang="en-US" altLang="zh-CN" dirty="0"/>
              <a:t>/</a:t>
            </a:r>
            <a:r>
              <a:rPr lang="zh-CN" altLang="en-US" dirty="0"/>
              <a:t>秒 </a:t>
            </a:r>
            <a:r>
              <a:rPr lang="en-US" altLang="zh-CN" dirty="0"/>
              <a:t>(</a:t>
            </a:r>
            <a:r>
              <a:rPr lang="zh-CN" altLang="en-US" dirty="0"/>
              <a:t>读写速度一样</a:t>
            </a:r>
            <a:r>
              <a:rPr lang="en-US" altLang="zh-CN" dirty="0"/>
              <a:t>)</a:t>
            </a:r>
            <a:endParaRPr lang="en-US" altLang="zh-CN" dirty="0"/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dirty="0"/>
              <a:t>连接方法：基于数据块的嵌套循环法</a:t>
            </a:r>
            <a:endParaRPr lang="zh-CN" altLang="en-US" dirty="0"/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dirty="0"/>
              <a:t>连接后的元组装满一块后就写到中间文件上</a:t>
            </a:r>
            <a:endParaRPr lang="zh-CN" altLang="en-US" dirty="0"/>
          </a:p>
        </p:txBody>
      </p:sp>
      <p:sp>
        <p:nvSpPr>
          <p:cNvPr id="24580" name="Rectangle 3"/>
          <p:cNvSpPr>
            <a:spLocks noGrp="1"/>
          </p:cNvSpPr>
          <p:nvPr>
            <p:ph type="title"/>
          </p:nvPr>
        </p:nvSpPr>
        <p:spPr>
          <a:xfrm>
            <a:off x="685800" y="381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9.2  </a:t>
            </a:r>
            <a:r>
              <a:rPr lang="zh-CN" altLang="en-US" sz="3200" dirty="0"/>
              <a:t>关系数据库系统的查询优化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5603" name="Rectangle 2"/>
          <p:cNvSpPr>
            <a:spLocks noGrp="1"/>
          </p:cNvSpPr>
          <p:nvPr>
            <p:ph idx="1"/>
          </p:nvPr>
        </p:nvSpPr>
        <p:spPr>
          <a:xfrm>
            <a:off x="228600" y="673100"/>
            <a:ext cx="8763000" cy="10033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chemeClr val="accent2"/>
              </a:buClr>
              <a:buNone/>
            </a:pPr>
            <a:r>
              <a:rPr lang="en-US" altLang="zh-CN" dirty="0">
                <a:solidFill>
                  <a:schemeClr val="tx1"/>
                </a:solidFill>
              </a:rPr>
              <a:t>   Q1: 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</a:t>
            </a:r>
            <a:r>
              <a:rPr lang="en-US" altLang="zh-CN" baseline="-18000" dirty="0">
                <a:solidFill>
                  <a:schemeClr val="tx1"/>
                </a:solidFill>
                <a:sym typeface="Symbol" panose="05050102010706020507" pitchFamily="18" charset="2"/>
              </a:rPr>
              <a:t>Sname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(</a:t>
            </a:r>
            <a:r>
              <a:rPr lang="en-US" altLang="zh-CN" sz="3600" dirty="0">
                <a:solidFill>
                  <a:schemeClr val="tx1"/>
                </a:solidFill>
                <a:sym typeface="Symbol" panose="05050102010706020507" pitchFamily="18" charset="2"/>
              </a:rPr>
              <a:t></a:t>
            </a:r>
            <a:r>
              <a:rPr lang="en-US" altLang="zh-CN" sz="3600" baseline="-25000" dirty="0">
                <a:solidFill>
                  <a:schemeClr val="tx1"/>
                </a:solidFill>
                <a:sym typeface="Symbol" panose="05050102010706020507" pitchFamily="18" charset="2"/>
              </a:rPr>
              <a:t>S.sno=SC.sno ∧ SC.</a:t>
            </a:r>
            <a:r>
              <a:rPr lang="en-US" altLang="zh-CN" baseline="-20000" dirty="0">
                <a:solidFill>
                  <a:schemeClr val="tx1"/>
                </a:solidFill>
                <a:sym typeface="Symbol" panose="05050102010706020507" pitchFamily="18" charset="2"/>
              </a:rPr>
              <a:t>Cno =‘2’ 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(S×SC))</a:t>
            </a:r>
            <a:endParaRPr lang="en-US" altLang="zh-CN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  <a:buNone/>
            </a:pP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25604" name="Rectangle 3"/>
          <p:cNvSpPr>
            <a:spLocks noGrp="1"/>
          </p:cNvSpPr>
          <p:nvPr>
            <p:ph type="title"/>
          </p:nvPr>
        </p:nvSpPr>
        <p:spPr>
          <a:xfrm>
            <a:off x="685800" y="381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9.2  </a:t>
            </a:r>
            <a:r>
              <a:rPr lang="zh-CN" altLang="en-US" sz="3200" dirty="0"/>
              <a:t>关系数据库系统的查询优化</a:t>
            </a:r>
            <a:endParaRPr lang="zh-CN" altLang="en-US" sz="3200" dirty="0"/>
          </a:p>
        </p:txBody>
      </p:sp>
      <p:graphicFrame>
        <p:nvGraphicFramePr>
          <p:cNvPr id="16388" name="Group 4"/>
          <p:cNvGraphicFramePr>
            <a:graphicFrameLocks noGrp="1"/>
          </p:cNvGraphicFramePr>
          <p:nvPr/>
        </p:nvGraphicFramePr>
        <p:xfrm>
          <a:off x="304800" y="2133600"/>
          <a:ext cx="1968500" cy="4387850"/>
        </p:xfrm>
        <a:graphic>
          <a:graphicData uri="http://schemas.openxmlformats.org/drawingml/2006/table">
            <a:tbl>
              <a:tblPr/>
              <a:tblGrid>
                <a:gridCol w="944563"/>
                <a:gridCol w="1023937"/>
              </a:tblGrid>
              <a:tr h="1809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学号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Sno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姓名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Sname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李勇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刘晨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</a:tr>
              <a:tr h="4032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</a:tr>
            </a:tbl>
          </a:graphicData>
        </a:graphic>
      </p:graphicFrame>
      <p:sp>
        <p:nvSpPr>
          <p:cNvPr id="25637" name="Text Box 36"/>
          <p:cNvSpPr txBox="1"/>
          <p:nvPr/>
        </p:nvSpPr>
        <p:spPr>
          <a:xfrm>
            <a:off x="381000" y="1524000"/>
            <a:ext cx="21336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b="0" dirty="0">
                <a:solidFill>
                  <a:schemeClr val="tx1"/>
                </a:solidFill>
              </a:rPr>
              <a:t>S(1000</a:t>
            </a:r>
            <a:r>
              <a:rPr lang="zh-CN" altLang="en-US" b="0" dirty="0">
                <a:solidFill>
                  <a:schemeClr val="tx1"/>
                </a:solidFill>
              </a:rPr>
              <a:t>行</a:t>
            </a:r>
            <a:r>
              <a:rPr lang="en-US" altLang="zh-CN" b="0" dirty="0">
                <a:solidFill>
                  <a:schemeClr val="tx1"/>
                </a:solidFill>
              </a:rPr>
              <a:t>)</a:t>
            </a:r>
            <a:endParaRPr lang="en-US" altLang="zh-CN" b="0" dirty="0">
              <a:solidFill>
                <a:schemeClr val="tx1"/>
              </a:solidFill>
            </a:endParaRPr>
          </a:p>
        </p:txBody>
      </p:sp>
      <p:graphicFrame>
        <p:nvGraphicFramePr>
          <p:cNvPr id="16421" name="Group 37"/>
          <p:cNvGraphicFramePr>
            <a:graphicFrameLocks noGrp="1"/>
          </p:cNvGraphicFramePr>
          <p:nvPr/>
        </p:nvGraphicFramePr>
        <p:xfrm>
          <a:off x="3213100" y="2120900"/>
          <a:ext cx="3048000" cy="4333875"/>
        </p:xfrm>
        <a:graphic>
          <a:graphicData uri="http://schemas.openxmlformats.org/drawingml/2006/table">
            <a:tbl>
              <a:tblPr/>
              <a:tblGrid>
                <a:gridCol w="990600"/>
                <a:gridCol w="990600"/>
                <a:gridCol w="1066800"/>
              </a:tblGrid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学号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Sno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课程号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Cno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成绩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Grade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85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88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</a:tr>
              <a:tr h="4381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90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</a:tr>
              <a:tr h="4381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381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381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381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25680" name="Text Box 79"/>
          <p:cNvSpPr txBox="1"/>
          <p:nvPr/>
        </p:nvSpPr>
        <p:spPr>
          <a:xfrm>
            <a:off x="3606800" y="1524000"/>
            <a:ext cx="2397125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b="0" dirty="0">
                <a:solidFill>
                  <a:schemeClr val="tx1"/>
                </a:solidFill>
              </a:rPr>
              <a:t>SC(10000</a:t>
            </a:r>
            <a:r>
              <a:rPr lang="zh-CN" altLang="en-US" b="0" dirty="0">
                <a:solidFill>
                  <a:schemeClr val="tx1"/>
                </a:solidFill>
              </a:rPr>
              <a:t>行</a:t>
            </a:r>
            <a:r>
              <a:rPr lang="en-US" altLang="zh-CN" b="0" dirty="0">
                <a:solidFill>
                  <a:schemeClr val="tx1"/>
                </a:solidFill>
              </a:rPr>
              <a:t>)</a:t>
            </a:r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25681" name="Text Box 80"/>
          <p:cNvSpPr txBox="1"/>
          <p:nvPr/>
        </p:nvSpPr>
        <p:spPr>
          <a:xfrm>
            <a:off x="2311400" y="3594100"/>
            <a:ext cx="793750" cy="8239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4800" b="0" dirty="0">
                <a:solidFill>
                  <a:schemeClr val="tx1"/>
                </a:solidFill>
                <a:ea typeface="经典综艺体简" pitchFamily="49" charset="-122"/>
              </a:rPr>
              <a:t>×</a:t>
            </a:r>
            <a:endParaRPr lang="en-US" altLang="zh-CN" sz="4800" b="0" dirty="0">
              <a:solidFill>
                <a:schemeClr val="tx1"/>
              </a:solidFill>
              <a:ea typeface="经典综艺体简" pitchFamily="49" charset="-122"/>
            </a:endParaRPr>
          </a:p>
        </p:txBody>
      </p:sp>
      <p:sp>
        <p:nvSpPr>
          <p:cNvPr id="25682" name="Text Box 81"/>
          <p:cNvSpPr txBox="1"/>
          <p:nvPr/>
        </p:nvSpPr>
        <p:spPr>
          <a:xfrm>
            <a:off x="6378575" y="3629025"/>
            <a:ext cx="531813" cy="8239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4800" b="0" dirty="0">
                <a:solidFill>
                  <a:schemeClr val="tx1"/>
                </a:solidFill>
                <a:ea typeface="经典综艺体简" pitchFamily="49" charset="-122"/>
              </a:rPr>
              <a:t>=</a:t>
            </a:r>
            <a:endParaRPr lang="en-US" altLang="zh-CN" sz="4800" b="0" dirty="0">
              <a:solidFill>
                <a:schemeClr val="tx1"/>
              </a:solidFill>
              <a:ea typeface="经典综艺体简" pitchFamily="49" charset="-122"/>
            </a:endParaRPr>
          </a:p>
        </p:txBody>
      </p:sp>
      <p:graphicFrame>
        <p:nvGraphicFramePr>
          <p:cNvPr id="16466" name="Group 82"/>
          <p:cNvGraphicFramePr>
            <a:graphicFrameLocks noGrp="1"/>
          </p:cNvGraphicFramePr>
          <p:nvPr/>
        </p:nvGraphicFramePr>
        <p:xfrm>
          <a:off x="7073900" y="2057400"/>
          <a:ext cx="1828800" cy="4267200"/>
        </p:xfrm>
        <a:graphic>
          <a:graphicData uri="http://schemas.openxmlformats.org/drawingml/2006/table">
            <a:tbl>
              <a:tblPr/>
              <a:tblGrid>
                <a:gridCol w="304800"/>
                <a:gridCol w="381000"/>
                <a:gridCol w="381000"/>
                <a:gridCol w="381000"/>
                <a:gridCol w="381000"/>
              </a:tblGrid>
              <a:tr h="4191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</a:tr>
              <a:tr h="4889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</a:tr>
              <a:tr h="4889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</a:tr>
              <a:tr h="4873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</a:tr>
              <a:tr h="4889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889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889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873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</a:tr>
              <a:tr h="4286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</a:tr>
            </a:tbl>
          </a:graphicData>
        </a:graphic>
      </p:graphicFrame>
      <p:sp>
        <p:nvSpPr>
          <p:cNvPr id="25745" name="Text Box 144"/>
          <p:cNvSpPr txBox="1"/>
          <p:nvPr/>
        </p:nvSpPr>
        <p:spPr>
          <a:xfrm>
            <a:off x="6619875" y="1447800"/>
            <a:ext cx="2487613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b="0" dirty="0">
                <a:solidFill>
                  <a:schemeClr val="tx1"/>
                </a:solidFill>
              </a:rPr>
              <a:t>(10000000</a:t>
            </a:r>
            <a:r>
              <a:rPr lang="zh-CN" altLang="en-US" b="0" dirty="0">
                <a:solidFill>
                  <a:schemeClr val="tx1"/>
                </a:solidFill>
              </a:rPr>
              <a:t>行</a:t>
            </a:r>
            <a:r>
              <a:rPr lang="en-US" altLang="zh-CN" b="0" dirty="0">
                <a:solidFill>
                  <a:schemeClr val="tx1"/>
                </a:solidFill>
              </a:rPr>
              <a:t>)</a:t>
            </a:r>
            <a:endParaRPr lang="en-US" altLang="zh-CN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6627" name="Rectangle 2"/>
          <p:cNvSpPr>
            <a:spLocks noGrp="1"/>
          </p:cNvSpPr>
          <p:nvPr>
            <p:ph idx="1"/>
          </p:nvPr>
        </p:nvSpPr>
        <p:spPr>
          <a:xfrm>
            <a:off x="228600" y="673100"/>
            <a:ext cx="8763000" cy="60325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chemeClr val="accent2"/>
              </a:buClr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   Q1: 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</a:t>
            </a:r>
            <a:r>
              <a:rPr lang="en-US" altLang="zh-CN" sz="2800" baseline="-18000" dirty="0">
                <a:solidFill>
                  <a:schemeClr val="tx1"/>
                </a:solidFill>
                <a:sym typeface="Symbol" panose="05050102010706020507" pitchFamily="18" charset="2"/>
              </a:rPr>
              <a:t>Sname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(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</a:t>
            </a:r>
            <a:r>
              <a:rPr lang="en-US" altLang="zh-CN" baseline="-25000" dirty="0">
                <a:solidFill>
                  <a:schemeClr val="tx1"/>
                </a:solidFill>
                <a:sym typeface="Symbol" panose="05050102010706020507" pitchFamily="18" charset="2"/>
              </a:rPr>
              <a:t>S.sno=SC.sno ∧ SC.</a:t>
            </a:r>
            <a:r>
              <a:rPr lang="en-US" altLang="zh-CN" sz="2800" baseline="-20000" dirty="0">
                <a:solidFill>
                  <a:schemeClr val="tx1"/>
                </a:solidFill>
                <a:sym typeface="Symbol" panose="05050102010706020507" pitchFamily="18" charset="2"/>
              </a:rPr>
              <a:t>Cno =‘2’ 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(S×SC))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400" dirty="0"/>
              <a:t>1.</a:t>
            </a:r>
            <a:r>
              <a:rPr lang="zh-CN" altLang="en-US" sz="2400" dirty="0"/>
              <a:t>计算笛卡尔积  </a:t>
            </a:r>
            <a:r>
              <a:rPr lang="en-US" altLang="zh-CN" sz="2400" dirty="0"/>
              <a:t>S×SC</a:t>
            </a:r>
            <a:endParaRPr lang="en-US" altLang="zh-CN" sz="2400" dirty="0"/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sz="2400" dirty="0"/>
              <a:t>读一遍</a:t>
            </a:r>
            <a:r>
              <a:rPr lang="en-US" altLang="zh-CN" sz="2400" dirty="0"/>
              <a:t>S</a:t>
            </a:r>
            <a:r>
              <a:rPr lang="zh-CN" altLang="en-US" sz="2400" dirty="0"/>
              <a:t>表需读的总块数 </a:t>
            </a:r>
            <a:r>
              <a:rPr lang="en-US" altLang="zh-CN" sz="2400" dirty="0"/>
              <a:t>= 1000/10 = 100</a:t>
            </a:r>
            <a:r>
              <a:rPr lang="zh-CN" altLang="en-US" sz="2400" dirty="0"/>
              <a:t>块</a:t>
            </a:r>
            <a:endParaRPr lang="zh-CN" altLang="en-US" sz="2400" dirty="0"/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sz="2400" dirty="0"/>
              <a:t>读一遍</a:t>
            </a:r>
            <a:r>
              <a:rPr lang="en-US" altLang="zh-CN" sz="2400" dirty="0"/>
              <a:t>SC</a:t>
            </a:r>
            <a:r>
              <a:rPr lang="zh-CN" altLang="en-US" sz="2400" dirty="0"/>
              <a:t>表需读的总块数 </a:t>
            </a:r>
            <a:r>
              <a:rPr lang="en-US" altLang="zh-CN" sz="2400" dirty="0"/>
              <a:t>= 10000/100 = 100</a:t>
            </a:r>
            <a:r>
              <a:rPr lang="zh-CN" altLang="en-US" sz="2400" dirty="0"/>
              <a:t>块</a:t>
            </a:r>
            <a:endParaRPr lang="zh-CN" altLang="en-US" sz="2400" dirty="0"/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</a:pPr>
            <a:r>
              <a:rPr lang="en-US" altLang="zh-CN" sz="2400" dirty="0"/>
              <a:t>S</a:t>
            </a:r>
            <a:r>
              <a:rPr lang="zh-CN" altLang="en-US" sz="2400" dirty="0"/>
              <a:t>表要分几次读入内存</a:t>
            </a:r>
            <a:r>
              <a:rPr lang="en-US" altLang="zh-CN" sz="2400" dirty="0"/>
              <a:t>? 100/5 = 20 </a:t>
            </a:r>
            <a:r>
              <a:rPr lang="zh-CN" altLang="en-US" sz="2400" dirty="0"/>
              <a:t>次</a:t>
            </a:r>
            <a:endParaRPr lang="zh-CN" altLang="en-US" sz="2400" dirty="0"/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</a:pPr>
            <a:r>
              <a:rPr lang="en-US" altLang="zh-CN" sz="2400" dirty="0"/>
              <a:t>S</a:t>
            </a:r>
            <a:r>
              <a:rPr lang="zh-CN" altLang="en-US" sz="2400" dirty="0"/>
              <a:t>表的每一部分读入内存，</a:t>
            </a:r>
            <a:r>
              <a:rPr lang="en-US" altLang="zh-CN" sz="2400" dirty="0"/>
              <a:t>SC</a:t>
            </a:r>
            <a:r>
              <a:rPr lang="zh-CN" altLang="en-US" sz="2400" dirty="0"/>
              <a:t>表都需读一遍</a:t>
            </a:r>
            <a:r>
              <a:rPr lang="en-US" altLang="zh-CN" sz="2400" dirty="0"/>
              <a:t>,SC</a:t>
            </a:r>
            <a:r>
              <a:rPr lang="zh-CN" altLang="en-US" sz="2400" dirty="0"/>
              <a:t>共需读入的块数 </a:t>
            </a:r>
            <a:endParaRPr lang="zh-CN" altLang="en-US" sz="2400" dirty="0"/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400" dirty="0"/>
              <a:t>             </a:t>
            </a:r>
            <a:r>
              <a:rPr lang="en-US" altLang="zh-CN" sz="2400" dirty="0"/>
              <a:t>= 100 ×20 = 2000 </a:t>
            </a:r>
            <a:r>
              <a:rPr lang="zh-CN" altLang="en-US" sz="2400" dirty="0"/>
              <a:t>块</a:t>
            </a:r>
            <a:endParaRPr lang="zh-CN" altLang="en-US" sz="2400" dirty="0"/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sz="2400" dirty="0"/>
              <a:t>笛卡尔积运算读取的总块数 </a:t>
            </a:r>
            <a:r>
              <a:rPr lang="en-US" altLang="zh-CN" sz="2400" dirty="0"/>
              <a:t>= 100 + 2000 = 2100</a:t>
            </a:r>
            <a:r>
              <a:rPr lang="zh-CN" altLang="en-US" sz="2400" dirty="0"/>
              <a:t>块</a:t>
            </a:r>
            <a:endParaRPr lang="zh-CN" altLang="en-US" sz="2400" dirty="0"/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rgbClr val="FF0000"/>
                </a:solidFill>
              </a:rPr>
              <a:t>读取时间</a:t>
            </a:r>
            <a:r>
              <a:rPr lang="en-US" altLang="zh-CN" sz="2400" dirty="0">
                <a:solidFill>
                  <a:srgbClr val="FF0000"/>
                </a:solidFill>
              </a:rPr>
              <a:t>T1 = 2100 /20 = 105 </a:t>
            </a:r>
            <a:r>
              <a:rPr lang="zh-CN" altLang="en-US" sz="2400" dirty="0">
                <a:solidFill>
                  <a:srgbClr val="FF0000"/>
                </a:solidFill>
              </a:rPr>
              <a:t>秒</a:t>
            </a:r>
            <a:endParaRPr lang="zh-CN" altLang="en-US" sz="2400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sz="2400" dirty="0"/>
              <a:t>中间结果大小 </a:t>
            </a:r>
            <a:r>
              <a:rPr lang="en-US" altLang="zh-CN" sz="2400" dirty="0"/>
              <a:t>= 1000 * 10000 </a:t>
            </a:r>
            <a:endParaRPr lang="en-US" altLang="zh-CN" sz="2400" dirty="0"/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rgbClr val="FF0000"/>
                </a:solidFill>
              </a:rPr>
              <a:t>写中间结果的时间</a:t>
            </a:r>
            <a:r>
              <a:rPr lang="en-US" altLang="zh-CN" sz="2400" dirty="0">
                <a:solidFill>
                  <a:srgbClr val="FF0000"/>
                </a:solidFill>
              </a:rPr>
              <a:t>T2 = (1000 * 10000) / 10 /20 = 50000 </a:t>
            </a:r>
            <a:r>
              <a:rPr lang="zh-CN" altLang="en-US" sz="2400" dirty="0">
                <a:solidFill>
                  <a:srgbClr val="FF0000"/>
                </a:solidFill>
              </a:rPr>
              <a:t>秒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26628" name="Rectangle 3"/>
          <p:cNvSpPr>
            <a:spLocks noGrp="1"/>
          </p:cNvSpPr>
          <p:nvPr>
            <p:ph type="title"/>
          </p:nvPr>
        </p:nvSpPr>
        <p:spPr>
          <a:xfrm>
            <a:off x="685800" y="381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9.2  </a:t>
            </a:r>
            <a:r>
              <a:rPr lang="zh-CN" altLang="en-US" sz="3200" dirty="0"/>
              <a:t>关系数据库系统的查询优化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7651" name="Rectangle 2"/>
          <p:cNvSpPr>
            <a:spLocks noGrp="1"/>
          </p:cNvSpPr>
          <p:nvPr>
            <p:ph idx="1"/>
          </p:nvPr>
        </p:nvSpPr>
        <p:spPr>
          <a:xfrm>
            <a:off x="228600" y="673100"/>
            <a:ext cx="8763000" cy="60325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chemeClr val="accent2"/>
              </a:buClr>
              <a:buNone/>
            </a:pPr>
            <a:r>
              <a:rPr lang="en-US" altLang="zh-CN" dirty="0">
                <a:solidFill>
                  <a:schemeClr val="tx1"/>
                </a:solidFill>
              </a:rPr>
              <a:t>   Q1(</a:t>
            </a:r>
            <a:r>
              <a:rPr lang="zh-CN" altLang="en-US" dirty="0">
                <a:solidFill>
                  <a:schemeClr val="tx1"/>
                </a:solidFill>
              </a:rPr>
              <a:t>续</a:t>
            </a:r>
            <a:r>
              <a:rPr lang="en-US" altLang="zh-CN" dirty="0">
                <a:solidFill>
                  <a:schemeClr val="tx1"/>
                </a:solidFill>
              </a:rPr>
              <a:t>):</a:t>
            </a:r>
            <a:endParaRPr lang="en-US" altLang="zh-CN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dirty="0"/>
              <a:t>2.</a:t>
            </a:r>
            <a:r>
              <a:rPr lang="zh-CN" altLang="en-US" dirty="0"/>
              <a:t>作选择运算</a:t>
            </a:r>
            <a:r>
              <a:rPr lang="zh-CN" altLang="en-US" sz="3200" dirty="0">
                <a:sym typeface="Symbol" panose="05050102010706020507" pitchFamily="18" charset="2"/>
              </a:rPr>
              <a:t> </a:t>
            </a:r>
            <a:r>
              <a:rPr lang="en-US" altLang="zh-CN" sz="3200" baseline="-25000" dirty="0">
                <a:sym typeface="Symbol" panose="05050102010706020507" pitchFamily="18" charset="2"/>
              </a:rPr>
              <a:t>S.sno=SC.sno ∧ SC.</a:t>
            </a:r>
            <a:r>
              <a:rPr lang="en-US" altLang="zh-CN" baseline="-20000" dirty="0">
                <a:sym typeface="Symbol" panose="05050102010706020507" pitchFamily="18" charset="2"/>
              </a:rPr>
              <a:t>Cno =‘2’ </a:t>
            </a:r>
            <a:r>
              <a:rPr lang="en-US" altLang="zh-CN" dirty="0">
                <a:sym typeface="Symbol" panose="05050102010706020507" pitchFamily="18" charset="2"/>
              </a:rPr>
              <a:t>(…)</a:t>
            </a:r>
            <a:endParaRPr lang="en-US" altLang="zh-CN" dirty="0"/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dirty="0"/>
              <a:t>只需将中间结果读取一遍</a:t>
            </a:r>
            <a:r>
              <a:rPr lang="en-US" altLang="zh-CN" dirty="0"/>
              <a:t>,</a:t>
            </a:r>
            <a:r>
              <a:rPr lang="zh-CN" altLang="en-US" dirty="0"/>
              <a:t>并依次判断，选取满足条件的元组</a:t>
            </a:r>
            <a:r>
              <a:rPr lang="en-US" altLang="zh-CN" dirty="0"/>
              <a:t>(</a:t>
            </a:r>
            <a:r>
              <a:rPr lang="zh-CN" altLang="en-US" dirty="0"/>
              <a:t>处理时间不计，只计读取时间</a:t>
            </a:r>
            <a:r>
              <a:rPr lang="en-US" altLang="zh-CN" dirty="0"/>
              <a:t>)</a:t>
            </a:r>
            <a:endParaRPr lang="en-US" altLang="zh-CN" dirty="0"/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</a:pPr>
            <a:r>
              <a:rPr lang="en-US" altLang="zh-CN" dirty="0"/>
              <a:t> </a:t>
            </a:r>
            <a:r>
              <a:rPr lang="zh-CN" altLang="en-US" dirty="0">
                <a:solidFill>
                  <a:srgbClr val="FF0000"/>
                </a:solidFill>
              </a:rPr>
              <a:t>读取数据的总时间</a:t>
            </a:r>
            <a:r>
              <a:rPr lang="en-US" altLang="zh-CN" dirty="0">
                <a:solidFill>
                  <a:srgbClr val="FF0000"/>
                </a:solidFill>
              </a:rPr>
              <a:t>T3  = 50000 </a:t>
            </a:r>
            <a:r>
              <a:rPr lang="zh-CN" altLang="en-US" dirty="0">
                <a:solidFill>
                  <a:srgbClr val="FF0000"/>
                </a:solidFill>
              </a:rPr>
              <a:t>秒</a:t>
            </a:r>
            <a:endParaRPr lang="zh-CN" altLang="en-US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dirty="0"/>
              <a:t>3.</a:t>
            </a:r>
            <a:r>
              <a:rPr lang="zh-CN" altLang="en-US" dirty="0"/>
              <a:t>作投影运算</a:t>
            </a:r>
            <a:endParaRPr lang="zh-CN" altLang="en-US" dirty="0"/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dirty="0"/>
              <a:t>忽略不计</a:t>
            </a:r>
            <a:endParaRPr lang="zh-CN" altLang="en-US" dirty="0"/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rgbClr val="FF0000"/>
                </a:solidFill>
              </a:rPr>
              <a:t>Q1</a:t>
            </a:r>
            <a:r>
              <a:rPr lang="zh-CN" altLang="en-US" dirty="0">
                <a:solidFill>
                  <a:srgbClr val="FF0000"/>
                </a:solidFill>
              </a:rPr>
              <a:t>总时间 </a:t>
            </a:r>
            <a:r>
              <a:rPr lang="en-US" altLang="zh-CN" dirty="0">
                <a:solidFill>
                  <a:srgbClr val="FF0000"/>
                </a:solidFill>
              </a:rPr>
              <a:t>= T1 + T2 + T3</a:t>
            </a:r>
            <a:endParaRPr lang="en-US" altLang="zh-CN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rgbClr val="FF0000"/>
                </a:solidFill>
              </a:rPr>
              <a:t>=  105 </a:t>
            </a:r>
            <a:r>
              <a:rPr lang="zh-CN" altLang="en-US" dirty="0">
                <a:solidFill>
                  <a:srgbClr val="FF0000"/>
                </a:solidFill>
              </a:rPr>
              <a:t>秒 </a:t>
            </a:r>
            <a:r>
              <a:rPr lang="en-US" altLang="zh-CN" dirty="0">
                <a:solidFill>
                  <a:srgbClr val="FF0000"/>
                </a:solidFill>
              </a:rPr>
              <a:t>+ 50000 </a:t>
            </a:r>
            <a:r>
              <a:rPr lang="zh-CN" altLang="en-US" dirty="0">
                <a:solidFill>
                  <a:srgbClr val="FF0000"/>
                </a:solidFill>
              </a:rPr>
              <a:t>秒 </a:t>
            </a:r>
            <a:r>
              <a:rPr lang="en-US" altLang="zh-CN" dirty="0">
                <a:solidFill>
                  <a:srgbClr val="FF0000"/>
                </a:solidFill>
              </a:rPr>
              <a:t>+ 50000 </a:t>
            </a:r>
            <a:r>
              <a:rPr lang="zh-CN" altLang="en-US" dirty="0">
                <a:solidFill>
                  <a:srgbClr val="FF0000"/>
                </a:solidFill>
              </a:rPr>
              <a:t>秒 </a:t>
            </a:r>
            <a:r>
              <a:rPr lang="en-US" altLang="zh-CN" dirty="0">
                <a:solidFill>
                  <a:srgbClr val="FF0000"/>
                </a:solidFill>
              </a:rPr>
              <a:t>= 100105 </a:t>
            </a:r>
            <a:r>
              <a:rPr lang="zh-CN" altLang="en-US" dirty="0">
                <a:solidFill>
                  <a:srgbClr val="FF0000"/>
                </a:solidFill>
              </a:rPr>
              <a:t>秒 </a:t>
            </a:r>
            <a:endParaRPr lang="zh-CN" altLang="en-US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rgbClr val="FF0000"/>
                </a:solidFill>
              </a:rPr>
              <a:t>=  27.8 </a:t>
            </a:r>
            <a:r>
              <a:rPr lang="zh-CN" altLang="en-US" dirty="0">
                <a:solidFill>
                  <a:srgbClr val="FF0000"/>
                </a:solidFill>
              </a:rPr>
              <a:t>小时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7652" name="Rectangle 3"/>
          <p:cNvSpPr>
            <a:spLocks noGrp="1"/>
          </p:cNvSpPr>
          <p:nvPr>
            <p:ph type="title"/>
          </p:nvPr>
        </p:nvSpPr>
        <p:spPr>
          <a:xfrm>
            <a:off x="685800" y="381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9.2  </a:t>
            </a:r>
            <a:r>
              <a:rPr lang="zh-CN" altLang="en-US" sz="3200" dirty="0"/>
              <a:t>关系数据库系统的查询优化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8675" name="Rectangle 2"/>
          <p:cNvSpPr>
            <a:spLocks noGrp="1"/>
          </p:cNvSpPr>
          <p:nvPr>
            <p:ph idx="1"/>
          </p:nvPr>
        </p:nvSpPr>
        <p:spPr>
          <a:xfrm>
            <a:off x="152400" y="609600"/>
            <a:ext cx="8763000" cy="9271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chemeClr val="accent2"/>
              </a:buClr>
              <a:buNone/>
            </a:pPr>
            <a:r>
              <a:rPr lang="en-US" altLang="zh-CN" dirty="0">
                <a:solidFill>
                  <a:schemeClr val="tx1"/>
                </a:solidFill>
              </a:rPr>
              <a:t>   Q2: 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</a:t>
            </a:r>
            <a:r>
              <a:rPr lang="en-US" altLang="zh-CN" baseline="-18000" dirty="0">
                <a:solidFill>
                  <a:schemeClr val="tx1"/>
                </a:solidFill>
                <a:sym typeface="Symbol" panose="05050102010706020507" pitchFamily="18" charset="2"/>
              </a:rPr>
              <a:t>Sname 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(</a:t>
            </a:r>
            <a:r>
              <a:rPr lang="en-US" altLang="zh-CN" sz="3600" dirty="0">
                <a:solidFill>
                  <a:schemeClr val="tx1"/>
                </a:solidFill>
                <a:sym typeface="Symbol" panose="05050102010706020507" pitchFamily="18" charset="2"/>
              </a:rPr>
              <a:t></a:t>
            </a:r>
            <a:r>
              <a:rPr lang="en-US" altLang="zh-CN" sz="3600" baseline="-25000" dirty="0">
                <a:solidFill>
                  <a:schemeClr val="tx1"/>
                </a:solidFill>
                <a:sym typeface="Symbol" panose="05050102010706020507" pitchFamily="18" charset="2"/>
              </a:rPr>
              <a:t>SC.</a:t>
            </a:r>
            <a:r>
              <a:rPr lang="en-US" altLang="zh-CN" baseline="-20000" dirty="0">
                <a:solidFill>
                  <a:schemeClr val="tx1"/>
                </a:solidFill>
                <a:sym typeface="Symbol" panose="05050102010706020507" pitchFamily="18" charset="2"/>
              </a:rPr>
              <a:t>Cno =‘2’ 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(SC    S))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8676" name="Rectangle 3"/>
          <p:cNvSpPr>
            <a:spLocks noGrp="1"/>
          </p:cNvSpPr>
          <p:nvPr>
            <p:ph type="title"/>
          </p:nvPr>
        </p:nvSpPr>
        <p:spPr>
          <a:xfrm>
            <a:off x="685800" y="381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9.2  </a:t>
            </a:r>
            <a:r>
              <a:rPr lang="zh-CN" altLang="en-US" sz="3200" dirty="0"/>
              <a:t>关系数据库系统的查询优化</a:t>
            </a:r>
            <a:endParaRPr lang="zh-CN" altLang="en-US" sz="3200" dirty="0"/>
          </a:p>
        </p:txBody>
      </p:sp>
      <p:sp>
        <p:nvSpPr>
          <p:cNvPr id="28677" name="AutoShape 4"/>
          <p:cNvSpPr/>
          <p:nvPr/>
        </p:nvSpPr>
        <p:spPr>
          <a:xfrm rot="5400000">
            <a:off x="5130800" y="1016000"/>
            <a:ext cx="228600" cy="228600"/>
          </a:xfrm>
          <a:prstGeom prst="flowChartCollate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en-US" altLang="zh-CN" sz="1400" b="0" dirty="0">
              <a:solidFill>
                <a:schemeClr val="tx1"/>
              </a:solidFill>
            </a:endParaRPr>
          </a:p>
        </p:txBody>
      </p:sp>
      <p:graphicFrame>
        <p:nvGraphicFramePr>
          <p:cNvPr id="19461" name="Group 5"/>
          <p:cNvGraphicFramePr>
            <a:graphicFrameLocks noGrp="1"/>
          </p:cNvGraphicFramePr>
          <p:nvPr/>
        </p:nvGraphicFramePr>
        <p:xfrm>
          <a:off x="406400" y="2133600"/>
          <a:ext cx="1968500" cy="4387850"/>
        </p:xfrm>
        <a:graphic>
          <a:graphicData uri="http://schemas.openxmlformats.org/drawingml/2006/table">
            <a:tbl>
              <a:tblPr/>
              <a:tblGrid>
                <a:gridCol w="944563"/>
                <a:gridCol w="1023937"/>
              </a:tblGrid>
              <a:tr h="1809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学号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Sno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姓名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Sname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李勇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刘晨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</a:tr>
              <a:tr h="4032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</a:tr>
            </a:tbl>
          </a:graphicData>
        </a:graphic>
      </p:graphicFrame>
      <p:sp>
        <p:nvSpPr>
          <p:cNvPr id="28710" name="Text Box 37"/>
          <p:cNvSpPr txBox="1"/>
          <p:nvPr/>
        </p:nvSpPr>
        <p:spPr>
          <a:xfrm>
            <a:off x="368300" y="1524000"/>
            <a:ext cx="19939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b="0" dirty="0">
                <a:solidFill>
                  <a:schemeClr val="tx1"/>
                </a:solidFill>
              </a:rPr>
              <a:t>S(1000</a:t>
            </a:r>
            <a:r>
              <a:rPr lang="zh-CN" altLang="en-US" b="0" dirty="0">
                <a:solidFill>
                  <a:schemeClr val="tx1"/>
                </a:solidFill>
              </a:rPr>
              <a:t>行</a:t>
            </a:r>
            <a:r>
              <a:rPr lang="en-US" altLang="zh-CN" b="0" dirty="0">
                <a:solidFill>
                  <a:schemeClr val="tx1"/>
                </a:solidFill>
              </a:rPr>
              <a:t>)</a:t>
            </a:r>
            <a:endParaRPr lang="en-US" altLang="zh-CN" b="0" dirty="0">
              <a:solidFill>
                <a:schemeClr val="tx1"/>
              </a:solidFill>
            </a:endParaRPr>
          </a:p>
        </p:txBody>
      </p:sp>
      <p:graphicFrame>
        <p:nvGraphicFramePr>
          <p:cNvPr id="19494" name="Group 38"/>
          <p:cNvGraphicFramePr>
            <a:graphicFrameLocks noGrp="1"/>
          </p:cNvGraphicFramePr>
          <p:nvPr/>
        </p:nvGraphicFramePr>
        <p:xfrm>
          <a:off x="3454400" y="2120900"/>
          <a:ext cx="3048000" cy="4333875"/>
        </p:xfrm>
        <a:graphic>
          <a:graphicData uri="http://schemas.openxmlformats.org/drawingml/2006/table">
            <a:tbl>
              <a:tblPr/>
              <a:tblGrid>
                <a:gridCol w="990600"/>
                <a:gridCol w="990600"/>
                <a:gridCol w="1066800"/>
              </a:tblGrid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学号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Sno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课程号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Cno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成绩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Grade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85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88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</a:tr>
              <a:tr h="4381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90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</a:tr>
              <a:tr h="4381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381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381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381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28753" name="Text Box 80"/>
          <p:cNvSpPr txBox="1"/>
          <p:nvPr/>
        </p:nvSpPr>
        <p:spPr>
          <a:xfrm>
            <a:off x="3771900" y="1524000"/>
            <a:ext cx="2397125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b="0" dirty="0">
                <a:solidFill>
                  <a:schemeClr val="tx1"/>
                </a:solidFill>
              </a:rPr>
              <a:t>SC(10000</a:t>
            </a:r>
            <a:r>
              <a:rPr lang="zh-CN" altLang="en-US" b="0" dirty="0">
                <a:solidFill>
                  <a:schemeClr val="tx1"/>
                </a:solidFill>
              </a:rPr>
              <a:t>行</a:t>
            </a:r>
            <a:r>
              <a:rPr lang="en-US" altLang="zh-CN" b="0" dirty="0">
                <a:solidFill>
                  <a:schemeClr val="tx1"/>
                </a:solidFill>
              </a:rPr>
              <a:t>)</a:t>
            </a:r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28754" name="AutoShape 81"/>
          <p:cNvSpPr/>
          <p:nvPr/>
        </p:nvSpPr>
        <p:spPr>
          <a:xfrm rot="5400000">
            <a:off x="2501900" y="3644900"/>
            <a:ext cx="825500" cy="723900"/>
          </a:xfrm>
          <a:prstGeom prst="flowChartCollate">
            <a:avLst/>
          </a:prstGeom>
          <a:noFill/>
          <a:ln w="571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8755" name="Text Box 82"/>
          <p:cNvSpPr txBox="1"/>
          <p:nvPr/>
        </p:nvSpPr>
        <p:spPr>
          <a:xfrm>
            <a:off x="6681788" y="3505200"/>
            <a:ext cx="2106612" cy="8239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4800" b="0" dirty="0">
                <a:solidFill>
                  <a:schemeClr val="tx1"/>
                </a:solidFill>
                <a:ea typeface="经典综艺体简" pitchFamily="49" charset="-122"/>
              </a:rPr>
              <a:t>= </a:t>
            </a:r>
            <a:r>
              <a:rPr lang="en-US" altLang="zh-CN" b="0" dirty="0">
                <a:solidFill>
                  <a:schemeClr val="tx1"/>
                </a:solidFill>
                <a:ea typeface="经典综艺体简" pitchFamily="49" charset="-122"/>
              </a:rPr>
              <a:t>10000</a:t>
            </a:r>
            <a:r>
              <a:rPr lang="zh-CN" altLang="en-US" b="0" dirty="0">
                <a:solidFill>
                  <a:schemeClr val="tx1"/>
                </a:solidFill>
              </a:rPr>
              <a:t>行</a:t>
            </a:r>
            <a:endParaRPr lang="zh-CN" altLang="en-US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9699" name="Rectangle 2"/>
          <p:cNvSpPr>
            <a:spLocks noGrp="1"/>
          </p:cNvSpPr>
          <p:nvPr>
            <p:ph idx="1"/>
          </p:nvPr>
        </p:nvSpPr>
        <p:spPr>
          <a:xfrm>
            <a:off x="228600" y="673100"/>
            <a:ext cx="8763000" cy="60325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chemeClr val="accent2"/>
              </a:buClr>
              <a:buNone/>
            </a:pPr>
            <a:r>
              <a:rPr lang="en-US" altLang="zh-CN" dirty="0">
                <a:solidFill>
                  <a:schemeClr val="tx1"/>
                </a:solidFill>
              </a:rPr>
              <a:t>   Q2: 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</a:t>
            </a:r>
            <a:r>
              <a:rPr lang="en-US" altLang="zh-CN" baseline="-18000" dirty="0">
                <a:solidFill>
                  <a:schemeClr val="tx1"/>
                </a:solidFill>
                <a:sym typeface="Symbol" panose="05050102010706020507" pitchFamily="18" charset="2"/>
              </a:rPr>
              <a:t>Sname 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(</a:t>
            </a:r>
            <a:r>
              <a:rPr lang="en-US" altLang="zh-CN" sz="3600" dirty="0">
                <a:solidFill>
                  <a:schemeClr val="tx1"/>
                </a:solidFill>
                <a:sym typeface="Symbol" panose="05050102010706020507" pitchFamily="18" charset="2"/>
              </a:rPr>
              <a:t></a:t>
            </a:r>
            <a:r>
              <a:rPr lang="en-US" altLang="zh-CN" sz="3600" baseline="-25000" dirty="0">
                <a:solidFill>
                  <a:schemeClr val="tx1"/>
                </a:solidFill>
                <a:sym typeface="Symbol" panose="05050102010706020507" pitchFamily="18" charset="2"/>
              </a:rPr>
              <a:t>SC.</a:t>
            </a:r>
            <a:r>
              <a:rPr lang="en-US" altLang="zh-CN" baseline="-20000" dirty="0">
                <a:solidFill>
                  <a:schemeClr val="tx1"/>
                </a:solidFill>
                <a:sym typeface="Symbol" panose="05050102010706020507" pitchFamily="18" charset="2"/>
              </a:rPr>
              <a:t>Cno =‘2’ 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(SC    S))</a:t>
            </a:r>
            <a:endParaRPr lang="en-US" altLang="zh-CN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dirty="0"/>
              <a:t>1.</a:t>
            </a:r>
            <a:r>
              <a:rPr lang="zh-CN" altLang="en-US" dirty="0"/>
              <a:t>计算自然连接  </a:t>
            </a:r>
            <a:r>
              <a:rPr lang="en-US" altLang="zh-CN" dirty="0"/>
              <a:t>SC     S</a:t>
            </a:r>
            <a:endParaRPr lang="en-US" altLang="zh-CN" dirty="0"/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dirty="0">
                <a:solidFill>
                  <a:srgbClr val="FF0000"/>
                </a:solidFill>
              </a:rPr>
              <a:t>读取时间</a:t>
            </a:r>
            <a:r>
              <a:rPr lang="en-US" altLang="zh-CN" dirty="0">
                <a:solidFill>
                  <a:srgbClr val="FF0000"/>
                </a:solidFill>
              </a:rPr>
              <a:t>T1 = 2100 /20 = 105 </a:t>
            </a:r>
            <a:r>
              <a:rPr lang="zh-CN" altLang="en-US" dirty="0">
                <a:solidFill>
                  <a:srgbClr val="FF0000"/>
                </a:solidFill>
              </a:rPr>
              <a:t>秒</a:t>
            </a:r>
            <a:r>
              <a:rPr lang="en-US" altLang="zh-CN" dirty="0"/>
              <a:t>(</a:t>
            </a:r>
            <a:r>
              <a:rPr lang="zh-CN" altLang="en-US" dirty="0"/>
              <a:t>与</a:t>
            </a:r>
            <a:r>
              <a:rPr lang="en-US" altLang="zh-CN" dirty="0"/>
              <a:t>Q1</a:t>
            </a:r>
            <a:r>
              <a:rPr lang="zh-CN" altLang="en-US" dirty="0"/>
              <a:t>一样</a:t>
            </a:r>
            <a:r>
              <a:rPr lang="en-US" altLang="zh-CN" dirty="0"/>
              <a:t>)</a:t>
            </a:r>
            <a:endParaRPr lang="en-US" altLang="zh-CN" dirty="0"/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dirty="0"/>
              <a:t>中间结果大小 </a:t>
            </a:r>
            <a:r>
              <a:rPr lang="en-US" altLang="zh-CN" dirty="0"/>
              <a:t>= 10000 </a:t>
            </a:r>
            <a:endParaRPr lang="en-US" altLang="zh-CN" dirty="0"/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dirty="0">
                <a:solidFill>
                  <a:srgbClr val="FF0000"/>
                </a:solidFill>
              </a:rPr>
              <a:t>写中间结果的时间</a:t>
            </a:r>
            <a:r>
              <a:rPr lang="en-US" altLang="zh-CN" dirty="0">
                <a:solidFill>
                  <a:srgbClr val="FF0000"/>
                </a:solidFill>
              </a:rPr>
              <a:t>T2 = 10000 / 10 /20 = 50 </a:t>
            </a:r>
            <a:r>
              <a:rPr lang="zh-CN" altLang="en-US" dirty="0">
                <a:solidFill>
                  <a:srgbClr val="FF0000"/>
                </a:solidFill>
              </a:rPr>
              <a:t>秒</a:t>
            </a:r>
            <a:endParaRPr lang="zh-CN" altLang="en-US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dirty="0"/>
              <a:t>2.</a:t>
            </a:r>
            <a:r>
              <a:rPr lang="zh-CN" altLang="en-US" dirty="0"/>
              <a:t>作选择运算</a:t>
            </a:r>
            <a:r>
              <a:rPr lang="zh-CN" altLang="en-US" sz="3200" dirty="0">
                <a:sym typeface="Symbol" panose="05050102010706020507" pitchFamily="18" charset="2"/>
              </a:rPr>
              <a:t></a:t>
            </a:r>
            <a:r>
              <a:rPr lang="en-US" altLang="zh-CN" sz="3200" baseline="-25000" dirty="0">
                <a:sym typeface="Symbol" panose="05050102010706020507" pitchFamily="18" charset="2"/>
              </a:rPr>
              <a:t>SC.</a:t>
            </a:r>
            <a:r>
              <a:rPr lang="en-US" altLang="zh-CN" baseline="-20000" dirty="0">
                <a:sym typeface="Symbol" panose="05050102010706020507" pitchFamily="18" charset="2"/>
              </a:rPr>
              <a:t>Cno =‘2’ </a:t>
            </a:r>
            <a:r>
              <a:rPr lang="en-US" altLang="zh-CN" dirty="0">
                <a:sym typeface="Symbol" panose="05050102010706020507" pitchFamily="18" charset="2"/>
              </a:rPr>
              <a:t>()</a:t>
            </a:r>
            <a:endParaRPr lang="en-US" altLang="zh-CN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读中间数据的时间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T3 = 50 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秒</a:t>
            </a:r>
            <a:endParaRPr lang="zh-CN" altLang="en-US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dirty="0">
                <a:sym typeface="Symbol" panose="05050102010706020507" pitchFamily="18" charset="2"/>
              </a:rPr>
              <a:t>3. </a:t>
            </a:r>
            <a:r>
              <a:rPr lang="zh-CN" altLang="en-US" dirty="0">
                <a:sym typeface="Symbol" panose="05050102010706020507" pitchFamily="18" charset="2"/>
              </a:rPr>
              <a:t>投影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zh-CN" altLang="en-US" dirty="0">
                <a:sym typeface="Symbol" panose="05050102010706020507" pitchFamily="18" charset="2"/>
              </a:rPr>
              <a:t>时间忽略不计</a:t>
            </a:r>
            <a:r>
              <a:rPr lang="en-US" altLang="zh-CN" dirty="0">
                <a:sym typeface="Symbol" panose="05050102010706020507" pitchFamily="18" charset="2"/>
              </a:rPr>
              <a:t>)</a:t>
            </a:r>
            <a:endParaRPr lang="en-US" altLang="zh-CN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Q2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总时间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= T1 + T2 + T3 </a:t>
            </a:r>
            <a:endParaRPr lang="en-US" altLang="zh-CN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= 105 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秒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+ 50 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秒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+ 50 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秒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= 205 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秒</a:t>
            </a:r>
            <a:endParaRPr lang="zh-CN" altLang="en-US" dirty="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29700" name="Rectangle 3"/>
          <p:cNvSpPr>
            <a:spLocks noGrp="1"/>
          </p:cNvSpPr>
          <p:nvPr>
            <p:ph type="title"/>
          </p:nvPr>
        </p:nvSpPr>
        <p:spPr>
          <a:xfrm>
            <a:off x="685800" y="381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9.2  </a:t>
            </a:r>
            <a:r>
              <a:rPr lang="zh-CN" altLang="en-US" sz="3200" dirty="0"/>
              <a:t>关系数据库系统的查询优化</a:t>
            </a:r>
            <a:endParaRPr lang="zh-CN" altLang="en-US" sz="3200" dirty="0"/>
          </a:p>
        </p:txBody>
      </p:sp>
      <p:sp>
        <p:nvSpPr>
          <p:cNvPr id="29701" name="AutoShape 4"/>
          <p:cNvSpPr/>
          <p:nvPr/>
        </p:nvSpPr>
        <p:spPr>
          <a:xfrm rot="5400000">
            <a:off x="5181600" y="1066800"/>
            <a:ext cx="228600" cy="228600"/>
          </a:xfrm>
          <a:prstGeom prst="flowChartCollate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9702" name="AutoShape 5"/>
          <p:cNvSpPr/>
          <p:nvPr/>
        </p:nvSpPr>
        <p:spPr>
          <a:xfrm rot="5400000">
            <a:off x="3911600" y="1638300"/>
            <a:ext cx="228600" cy="228600"/>
          </a:xfrm>
          <a:prstGeom prst="flowChartCollate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en-US" altLang="zh-CN" sz="14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0723" name="Rectangle 2"/>
          <p:cNvSpPr>
            <a:spLocks noGrp="1"/>
          </p:cNvSpPr>
          <p:nvPr>
            <p:ph idx="1"/>
          </p:nvPr>
        </p:nvSpPr>
        <p:spPr>
          <a:xfrm>
            <a:off x="228600" y="673100"/>
            <a:ext cx="8763000" cy="11557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chemeClr val="accent2"/>
              </a:buClr>
              <a:buNone/>
            </a:pPr>
            <a:r>
              <a:rPr lang="en-US" altLang="zh-CN" dirty="0">
                <a:solidFill>
                  <a:schemeClr val="tx1"/>
                </a:solidFill>
              </a:rPr>
              <a:t>   Q3: 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</a:t>
            </a:r>
            <a:r>
              <a:rPr lang="en-US" altLang="zh-CN" baseline="-18000" dirty="0">
                <a:solidFill>
                  <a:schemeClr val="tx1"/>
                </a:solidFill>
                <a:sym typeface="Symbol" panose="05050102010706020507" pitchFamily="18" charset="2"/>
              </a:rPr>
              <a:t>Sname 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(S    </a:t>
            </a:r>
            <a:r>
              <a:rPr lang="en-US" altLang="zh-CN" sz="3600" dirty="0">
                <a:solidFill>
                  <a:schemeClr val="tx1"/>
                </a:solidFill>
                <a:sym typeface="Symbol" panose="05050102010706020507" pitchFamily="18" charset="2"/>
              </a:rPr>
              <a:t></a:t>
            </a:r>
            <a:r>
              <a:rPr lang="en-US" altLang="zh-CN" sz="3600" baseline="-25000" dirty="0">
                <a:solidFill>
                  <a:schemeClr val="tx1"/>
                </a:solidFill>
                <a:sym typeface="Symbol" panose="05050102010706020507" pitchFamily="18" charset="2"/>
              </a:rPr>
              <a:t>SC.</a:t>
            </a:r>
            <a:r>
              <a:rPr lang="en-US" altLang="zh-CN" baseline="-20000" dirty="0">
                <a:solidFill>
                  <a:schemeClr val="tx1"/>
                </a:solidFill>
                <a:sym typeface="Symbol" panose="05050102010706020507" pitchFamily="18" charset="2"/>
              </a:rPr>
              <a:t>Cno =‘2’ 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(SC))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30724" name="Rectangle 3"/>
          <p:cNvSpPr>
            <a:spLocks noGrp="1"/>
          </p:cNvSpPr>
          <p:nvPr>
            <p:ph type="title"/>
          </p:nvPr>
        </p:nvSpPr>
        <p:spPr>
          <a:xfrm>
            <a:off x="685800" y="381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9.2  </a:t>
            </a:r>
            <a:r>
              <a:rPr lang="zh-CN" altLang="en-US" sz="3200" dirty="0"/>
              <a:t>关系数据库系统的查询优化</a:t>
            </a:r>
            <a:endParaRPr lang="zh-CN" altLang="en-US" sz="3200" dirty="0"/>
          </a:p>
        </p:txBody>
      </p:sp>
      <p:sp>
        <p:nvSpPr>
          <p:cNvPr id="30725" name="AutoShape 4"/>
          <p:cNvSpPr/>
          <p:nvPr/>
        </p:nvSpPr>
        <p:spPr>
          <a:xfrm rot="5400000">
            <a:off x="2971800" y="1066800"/>
            <a:ext cx="228600" cy="228600"/>
          </a:xfrm>
          <a:prstGeom prst="flowChartCollate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en-US" altLang="zh-CN" sz="1400" b="0" dirty="0">
              <a:solidFill>
                <a:schemeClr val="tx1"/>
              </a:solidFill>
            </a:endParaRPr>
          </a:p>
        </p:txBody>
      </p:sp>
      <p:graphicFrame>
        <p:nvGraphicFramePr>
          <p:cNvPr id="21509" name="Group 5"/>
          <p:cNvGraphicFramePr>
            <a:graphicFrameLocks noGrp="1"/>
          </p:cNvGraphicFramePr>
          <p:nvPr/>
        </p:nvGraphicFramePr>
        <p:xfrm>
          <a:off x="406400" y="2133600"/>
          <a:ext cx="1968500" cy="4387850"/>
        </p:xfrm>
        <a:graphic>
          <a:graphicData uri="http://schemas.openxmlformats.org/drawingml/2006/table">
            <a:tbl>
              <a:tblPr/>
              <a:tblGrid>
                <a:gridCol w="944563"/>
                <a:gridCol w="1023937"/>
              </a:tblGrid>
              <a:tr h="1809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学号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Sno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姓名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Sname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李勇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刘晨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</a:tr>
              <a:tr h="4032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</a:tr>
            </a:tbl>
          </a:graphicData>
        </a:graphic>
      </p:graphicFrame>
      <p:sp>
        <p:nvSpPr>
          <p:cNvPr id="30758" name="Text Box 37"/>
          <p:cNvSpPr txBox="1"/>
          <p:nvPr/>
        </p:nvSpPr>
        <p:spPr>
          <a:xfrm>
            <a:off x="368300" y="1524000"/>
            <a:ext cx="19939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b="0" dirty="0">
                <a:solidFill>
                  <a:schemeClr val="tx1"/>
                </a:solidFill>
              </a:rPr>
              <a:t>S(1000</a:t>
            </a:r>
            <a:r>
              <a:rPr lang="zh-CN" altLang="en-US" b="0" dirty="0">
                <a:solidFill>
                  <a:schemeClr val="tx1"/>
                </a:solidFill>
              </a:rPr>
              <a:t>行</a:t>
            </a:r>
            <a:r>
              <a:rPr lang="en-US" altLang="zh-CN" b="0" dirty="0">
                <a:solidFill>
                  <a:schemeClr val="tx1"/>
                </a:solidFill>
              </a:rPr>
              <a:t>)</a:t>
            </a:r>
            <a:endParaRPr lang="en-US" altLang="zh-CN" b="0" dirty="0">
              <a:solidFill>
                <a:schemeClr val="tx1"/>
              </a:solidFill>
            </a:endParaRPr>
          </a:p>
        </p:txBody>
      </p:sp>
      <p:graphicFrame>
        <p:nvGraphicFramePr>
          <p:cNvPr id="21542" name="Group 38"/>
          <p:cNvGraphicFramePr>
            <a:graphicFrameLocks noGrp="1"/>
          </p:cNvGraphicFramePr>
          <p:nvPr/>
        </p:nvGraphicFramePr>
        <p:xfrm>
          <a:off x="3454400" y="2120900"/>
          <a:ext cx="3048000" cy="4333875"/>
        </p:xfrm>
        <a:graphic>
          <a:graphicData uri="http://schemas.openxmlformats.org/drawingml/2006/table">
            <a:tbl>
              <a:tblPr/>
              <a:tblGrid>
                <a:gridCol w="990600"/>
                <a:gridCol w="990600"/>
                <a:gridCol w="1066800"/>
              </a:tblGrid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学号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Sno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课程号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Cno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成绩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Grade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85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</a:tr>
              <a:tr h="4381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90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</a:tr>
              <a:tr h="4381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381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381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381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30801" name="Text Box 80"/>
          <p:cNvSpPr txBox="1"/>
          <p:nvPr/>
        </p:nvSpPr>
        <p:spPr>
          <a:xfrm>
            <a:off x="3771900" y="1465263"/>
            <a:ext cx="3044825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600" b="0" dirty="0">
                <a:solidFill>
                  <a:schemeClr val="tx1"/>
                </a:solidFill>
                <a:sym typeface="Symbol" panose="05050102010706020507" pitchFamily="18" charset="2"/>
              </a:rPr>
              <a:t></a:t>
            </a:r>
            <a:r>
              <a:rPr lang="en-US" altLang="zh-CN" b="0" dirty="0">
                <a:solidFill>
                  <a:schemeClr val="tx1"/>
                </a:solidFill>
              </a:rPr>
              <a:t> …(SC)  (50</a:t>
            </a:r>
            <a:r>
              <a:rPr lang="zh-CN" altLang="en-US" b="0" dirty="0">
                <a:solidFill>
                  <a:schemeClr val="tx1"/>
                </a:solidFill>
              </a:rPr>
              <a:t>行</a:t>
            </a:r>
            <a:r>
              <a:rPr lang="en-US" altLang="zh-CN" b="0" dirty="0">
                <a:solidFill>
                  <a:schemeClr val="tx1"/>
                </a:solidFill>
              </a:rPr>
              <a:t>)</a:t>
            </a:r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30802" name="AutoShape 81"/>
          <p:cNvSpPr/>
          <p:nvPr/>
        </p:nvSpPr>
        <p:spPr>
          <a:xfrm rot="5400000">
            <a:off x="2501900" y="3644900"/>
            <a:ext cx="825500" cy="723900"/>
          </a:xfrm>
          <a:prstGeom prst="flowChartCollate">
            <a:avLst/>
          </a:prstGeom>
          <a:noFill/>
          <a:ln w="571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0803" name="Text Box 82"/>
          <p:cNvSpPr txBox="1"/>
          <p:nvPr/>
        </p:nvSpPr>
        <p:spPr>
          <a:xfrm>
            <a:off x="6986588" y="3505200"/>
            <a:ext cx="1498600" cy="8239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4800" b="0" dirty="0">
                <a:solidFill>
                  <a:schemeClr val="tx1"/>
                </a:solidFill>
                <a:ea typeface="经典综艺体简" pitchFamily="49" charset="-122"/>
              </a:rPr>
              <a:t>= </a:t>
            </a:r>
            <a:r>
              <a:rPr lang="en-US" altLang="zh-CN" b="0" dirty="0">
                <a:solidFill>
                  <a:schemeClr val="tx1"/>
                </a:solidFill>
                <a:ea typeface="经典综艺体简" pitchFamily="49" charset="-122"/>
              </a:rPr>
              <a:t>50</a:t>
            </a:r>
            <a:r>
              <a:rPr lang="zh-CN" altLang="en-US" b="0" dirty="0">
                <a:solidFill>
                  <a:schemeClr val="tx1"/>
                </a:solidFill>
              </a:rPr>
              <a:t>行</a:t>
            </a:r>
            <a:endParaRPr lang="zh-CN" altLang="en-US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1747" name="Rectangle 2"/>
          <p:cNvSpPr>
            <a:spLocks noGrp="1"/>
          </p:cNvSpPr>
          <p:nvPr>
            <p:ph idx="1"/>
          </p:nvPr>
        </p:nvSpPr>
        <p:spPr>
          <a:xfrm>
            <a:off x="228600" y="673100"/>
            <a:ext cx="8763000" cy="60325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chemeClr val="accent2"/>
              </a:buClr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   Q3: 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</a:t>
            </a:r>
            <a:r>
              <a:rPr lang="en-US" altLang="zh-CN" sz="2800" baseline="-18000" dirty="0">
                <a:solidFill>
                  <a:schemeClr val="tx1"/>
                </a:solidFill>
                <a:sym typeface="Symbol" panose="05050102010706020507" pitchFamily="18" charset="2"/>
              </a:rPr>
              <a:t>Sname 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(S    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</a:t>
            </a:r>
            <a:r>
              <a:rPr lang="en-US" altLang="zh-CN" baseline="-25000" dirty="0">
                <a:solidFill>
                  <a:schemeClr val="tx1"/>
                </a:solidFill>
                <a:sym typeface="Symbol" panose="05050102010706020507" pitchFamily="18" charset="2"/>
              </a:rPr>
              <a:t>SC.</a:t>
            </a:r>
            <a:r>
              <a:rPr lang="en-US" altLang="zh-CN" sz="2800" baseline="-20000" dirty="0">
                <a:solidFill>
                  <a:schemeClr val="tx1"/>
                </a:solidFill>
                <a:sym typeface="Symbol" panose="05050102010706020507" pitchFamily="18" charset="2"/>
              </a:rPr>
              <a:t>Cno =‘2’ 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(SC))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400" dirty="0"/>
              <a:t>1.</a:t>
            </a:r>
            <a:r>
              <a:rPr lang="zh-CN" altLang="en-US" sz="2400" dirty="0"/>
              <a:t>计算</a:t>
            </a:r>
            <a:r>
              <a:rPr lang="en-US" altLang="zh-CN" sz="2400" dirty="0">
                <a:solidFill>
                  <a:srgbClr val="FF0000"/>
                </a:solidFill>
              </a:rPr>
              <a:t>SC1</a:t>
            </a:r>
            <a:r>
              <a:rPr lang="en-US" altLang="zh-CN" sz="2400" dirty="0"/>
              <a:t>= </a:t>
            </a:r>
            <a:r>
              <a:rPr lang="en-US" altLang="zh-CN" dirty="0">
                <a:sym typeface="Symbol" panose="05050102010706020507" pitchFamily="18" charset="2"/>
              </a:rPr>
              <a:t></a:t>
            </a:r>
            <a:r>
              <a:rPr lang="en-US" altLang="zh-CN" baseline="-25000" dirty="0">
                <a:sym typeface="Symbol" panose="05050102010706020507" pitchFamily="18" charset="2"/>
              </a:rPr>
              <a:t>SC.</a:t>
            </a:r>
            <a:r>
              <a:rPr lang="en-US" altLang="zh-CN" sz="2400" baseline="-20000" dirty="0">
                <a:sym typeface="Symbol" panose="05050102010706020507" pitchFamily="18" charset="2"/>
              </a:rPr>
              <a:t>Cno =‘2’ </a:t>
            </a:r>
            <a:r>
              <a:rPr lang="en-US" altLang="zh-CN" sz="2400" dirty="0">
                <a:sym typeface="Symbol" panose="05050102010706020507" pitchFamily="18" charset="2"/>
              </a:rPr>
              <a:t>(SC):</a:t>
            </a:r>
            <a:r>
              <a:rPr lang="zh-CN" altLang="en-US" sz="2400" dirty="0"/>
              <a:t>读</a:t>
            </a:r>
            <a:r>
              <a:rPr lang="en-US" altLang="zh-CN" sz="2400" dirty="0"/>
              <a:t>SC</a:t>
            </a:r>
            <a:r>
              <a:rPr lang="zh-CN" altLang="en-US" sz="2400" dirty="0"/>
              <a:t>并选择</a:t>
            </a:r>
            <a:endParaRPr lang="zh-CN" altLang="en-US" sz="2400" dirty="0"/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rgbClr val="FF0000"/>
                </a:solidFill>
              </a:rPr>
              <a:t>读</a:t>
            </a:r>
            <a:r>
              <a:rPr lang="en-US" altLang="zh-CN" sz="2400" dirty="0">
                <a:solidFill>
                  <a:srgbClr val="FF0000"/>
                </a:solidFill>
              </a:rPr>
              <a:t>SC</a:t>
            </a:r>
            <a:r>
              <a:rPr lang="zh-CN" altLang="en-US" sz="2400" dirty="0">
                <a:solidFill>
                  <a:srgbClr val="FF0000"/>
                </a:solidFill>
              </a:rPr>
              <a:t>时间</a:t>
            </a:r>
            <a:r>
              <a:rPr lang="en-US" altLang="zh-CN" sz="2400" dirty="0">
                <a:solidFill>
                  <a:srgbClr val="FF0000"/>
                </a:solidFill>
              </a:rPr>
              <a:t>T1 = 10000/100/20 = 5 </a:t>
            </a:r>
            <a:r>
              <a:rPr lang="zh-CN" altLang="en-US" sz="2400" dirty="0">
                <a:solidFill>
                  <a:srgbClr val="FF0000"/>
                </a:solidFill>
              </a:rPr>
              <a:t>秒</a:t>
            </a:r>
            <a:endParaRPr lang="zh-CN" altLang="en-US" sz="2400" dirty="0"/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sz="2400" dirty="0"/>
              <a:t>中间结果大小 </a:t>
            </a:r>
            <a:r>
              <a:rPr lang="en-US" altLang="zh-CN" sz="2400" dirty="0"/>
              <a:t>= 50,  </a:t>
            </a:r>
            <a:r>
              <a:rPr lang="zh-CN" altLang="en-US" sz="2400" dirty="0"/>
              <a:t>不必写入外存</a:t>
            </a:r>
            <a:r>
              <a:rPr lang="en-US" altLang="zh-CN" sz="2400" dirty="0"/>
              <a:t>,</a:t>
            </a:r>
            <a:endParaRPr lang="en-US" altLang="zh-CN" sz="2400" dirty="0"/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rgbClr val="FF0000"/>
                </a:solidFill>
              </a:rPr>
              <a:t>写中间结果的时间忽略不计</a:t>
            </a:r>
            <a:endParaRPr lang="zh-CN" altLang="en-US" sz="2400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400" dirty="0"/>
              <a:t>2.</a:t>
            </a:r>
            <a:r>
              <a:rPr lang="zh-CN" altLang="en-US" sz="2400" dirty="0"/>
              <a:t>计算</a:t>
            </a:r>
            <a:r>
              <a:rPr lang="en-US" altLang="zh-CN" sz="2400" dirty="0"/>
              <a:t>S     </a:t>
            </a:r>
            <a:r>
              <a:rPr lang="en-US" altLang="zh-CN" sz="2400" dirty="0">
                <a:solidFill>
                  <a:srgbClr val="FF0000"/>
                </a:solidFill>
              </a:rPr>
              <a:t>SC1</a:t>
            </a:r>
            <a:endParaRPr lang="en-US" altLang="zh-CN" sz="2400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读</a:t>
            </a:r>
            <a:r>
              <a:rPr lang="en-US" altLang="zh-CN" sz="2400" dirty="0">
                <a:solidFill>
                  <a:srgbClr val="FF0000"/>
                </a:solidFill>
                <a:sym typeface="Symbol" panose="05050102010706020507" pitchFamily="18" charset="2"/>
              </a:rPr>
              <a:t>S</a:t>
            </a:r>
            <a:r>
              <a:rPr lang="zh-CN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时间</a:t>
            </a:r>
            <a:r>
              <a:rPr lang="en-US" altLang="zh-CN" sz="2400" dirty="0">
                <a:solidFill>
                  <a:srgbClr val="FF0000"/>
                </a:solidFill>
                <a:sym typeface="Symbol" panose="05050102010706020507" pitchFamily="18" charset="2"/>
              </a:rPr>
              <a:t>T2 = 1000/10/20 = 5 </a:t>
            </a:r>
            <a:r>
              <a:rPr lang="zh-CN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秒</a:t>
            </a:r>
            <a:endParaRPr lang="zh-CN" altLang="en-US" sz="2400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sz="2400" dirty="0">
                <a:sym typeface="Symbol" panose="05050102010706020507" pitchFamily="18" charset="2"/>
              </a:rPr>
              <a:t>注：虽然</a:t>
            </a:r>
            <a:r>
              <a:rPr lang="en-US" altLang="zh-CN" sz="2400" dirty="0">
                <a:sym typeface="Symbol" panose="05050102010706020507" pitchFamily="18" charset="2"/>
              </a:rPr>
              <a:t>S</a:t>
            </a:r>
            <a:r>
              <a:rPr lang="zh-CN" altLang="en-US" sz="2400" dirty="0">
                <a:sym typeface="Symbol" panose="05050102010706020507" pitchFamily="18" charset="2"/>
              </a:rPr>
              <a:t>需分</a:t>
            </a:r>
            <a:r>
              <a:rPr lang="en-US" altLang="zh-CN" sz="2400" dirty="0">
                <a:sym typeface="Symbol" panose="05050102010706020507" pitchFamily="18" charset="2"/>
              </a:rPr>
              <a:t>20</a:t>
            </a:r>
            <a:r>
              <a:rPr lang="zh-CN" altLang="en-US" sz="2400" dirty="0">
                <a:sym typeface="Symbol" panose="05050102010706020507" pitchFamily="18" charset="2"/>
              </a:rPr>
              <a:t>次读入，且每读一部分都要遍历一遍</a:t>
            </a:r>
            <a:r>
              <a:rPr lang="en-US" altLang="zh-CN" sz="2400" dirty="0">
                <a:sym typeface="Symbol" panose="05050102010706020507" pitchFamily="18" charset="2"/>
              </a:rPr>
              <a:t>SC1,</a:t>
            </a:r>
            <a:r>
              <a:rPr lang="zh-CN" altLang="en-US" sz="2400" dirty="0">
                <a:sym typeface="Symbol" panose="05050102010706020507" pitchFamily="18" charset="2"/>
              </a:rPr>
              <a:t>但因</a:t>
            </a:r>
            <a:r>
              <a:rPr lang="en-US" altLang="zh-CN" sz="2400" dirty="0">
                <a:sym typeface="Symbol" panose="05050102010706020507" pitchFamily="18" charset="2"/>
              </a:rPr>
              <a:t>SC1</a:t>
            </a:r>
            <a:r>
              <a:rPr lang="zh-CN" altLang="en-US" sz="2400" dirty="0">
                <a:sym typeface="Symbol" panose="05050102010706020507" pitchFamily="18" charset="2"/>
              </a:rPr>
              <a:t>只有</a:t>
            </a:r>
            <a:r>
              <a:rPr lang="en-US" altLang="zh-CN" sz="2400" dirty="0">
                <a:sym typeface="Symbol" panose="05050102010706020507" pitchFamily="18" charset="2"/>
              </a:rPr>
              <a:t>50</a:t>
            </a:r>
            <a:r>
              <a:rPr lang="zh-CN" altLang="en-US" sz="2400" dirty="0">
                <a:sym typeface="Symbol" panose="05050102010706020507" pitchFamily="18" charset="2"/>
              </a:rPr>
              <a:t>个元组，全在内存，无</a:t>
            </a:r>
            <a:r>
              <a:rPr lang="en-US" altLang="zh-CN" sz="2400" dirty="0">
                <a:sym typeface="Symbol" panose="05050102010706020507" pitchFamily="18" charset="2"/>
              </a:rPr>
              <a:t>I/O</a:t>
            </a:r>
            <a:r>
              <a:rPr lang="zh-CN" altLang="en-US" sz="2400" dirty="0">
                <a:sym typeface="Symbol" panose="05050102010706020507" pitchFamily="18" charset="2"/>
              </a:rPr>
              <a:t>操作，这部分时间忽略不计，只计读</a:t>
            </a:r>
            <a:r>
              <a:rPr lang="en-US" altLang="zh-CN" sz="2400" dirty="0">
                <a:sym typeface="Symbol" panose="05050102010706020507" pitchFamily="18" charset="2"/>
              </a:rPr>
              <a:t>S</a:t>
            </a:r>
            <a:r>
              <a:rPr lang="zh-CN" altLang="en-US" sz="2400" dirty="0">
                <a:sym typeface="Symbol" panose="05050102010706020507" pitchFamily="18" charset="2"/>
              </a:rPr>
              <a:t>一遍的时间即可。</a:t>
            </a:r>
            <a:endParaRPr lang="zh-CN" altLang="en-US" sz="2400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sz="2400" dirty="0">
                <a:sym typeface="Symbol" panose="05050102010706020507" pitchFamily="18" charset="2"/>
              </a:rPr>
              <a:t>计算的结果仍只有</a:t>
            </a:r>
            <a:r>
              <a:rPr lang="en-US" altLang="zh-CN" sz="2400" dirty="0">
                <a:sym typeface="Symbol" panose="05050102010706020507" pitchFamily="18" charset="2"/>
              </a:rPr>
              <a:t>50</a:t>
            </a:r>
            <a:r>
              <a:rPr lang="zh-CN" altLang="en-US" sz="2400" dirty="0">
                <a:sym typeface="Symbol" panose="05050102010706020507" pitchFamily="18" charset="2"/>
              </a:rPr>
              <a:t>个元组，不计</a:t>
            </a:r>
            <a:r>
              <a:rPr lang="en-US" altLang="zh-CN" sz="2400" dirty="0">
                <a:sym typeface="Symbol" panose="05050102010706020507" pitchFamily="18" charset="2"/>
              </a:rPr>
              <a:t>I/O</a:t>
            </a:r>
            <a:r>
              <a:rPr lang="zh-CN" altLang="en-US" sz="2400" dirty="0">
                <a:sym typeface="Symbol" panose="05050102010706020507" pitchFamily="18" charset="2"/>
              </a:rPr>
              <a:t>时间。</a:t>
            </a:r>
            <a:endParaRPr lang="zh-CN" altLang="en-US" sz="2400" dirty="0">
              <a:sym typeface="Symbol" panose="05050102010706020507" pitchFamily="18" charset="2"/>
            </a:endParaRPr>
          </a:p>
        </p:txBody>
      </p:sp>
      <p:sp>
        <p:nvSpPr>
          <p:cNvPr id="31748" name="Rectangle 3"/>
          <p:cNvSpPr>
            <a:spLocks noGrp="1"/>
          </p:cNvSpPr>
          <p:nvPr>
            <p:ph type="title"/>
          </p:nvPr>
        </p:nvSpPr>
        <p:spPr>
          <a:xfrm>
            <a:off x="685800" y="381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9.2  </a:t>
            </a:r>
            <a:r>
              <a:rPr lang="zh-CN" altLang="en-US" sz="3200" dirty="0"/>
              <a:t>关系数据库系统的查询优化</a:t>
            </a:r>
            <a:endParaRPr lang="zh-CN" altLang="en-US" sz="3200" dirty="0"/>
          </a:p>
        </p:txBody>
      </p:sp>
      <p:sp>
        <p:nvSpPr>
          <p:cNvPr id="31749" name="AutoShape 4"/>
          <p:cNvSpPr/>
          <p:nvPr/>
        </p:nvSpPr>
        <p:spPr>
          <a:xfrm rot="5400000">
            <a:off x="2667000" y="1028700"/>
            <a:ext cx="228600" cy="228600"/>
          </a:xfrm>
          <a:prstGeom prst="flowChartCollate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1750" name="AutoShape 5"/>
          <p:cNvSpPr/>
          <p:nvPr/>
        </p:nvSpPr>
        <p:spPr>
          <a:xfrm rot="5400000">
            <a:off x="1879600" y="3505200"/>
            <a:ext cx="228600" cy="228600"/>
          </a:xfrm>
          <a:prstGeom prst="flowChartCollate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en-US" altLang="zh-CN" sz="14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2771" name="Rectangle 2"/>
          <p:cNvSpPr>
            <a:spLocks noGrp="1"/>
          </p:cNvSpPr>
          <p:nvPr>
            <p:ph idx="1"/>
          </p:nvPr>
        </p:nvSpPr>
        <p:spPr>
          <a:xfrm>
            <a:off x="228600" y="673100"/>
            <a:ext cx="8763000" cy="60325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chemeClr val="accent2"/>
              </a:buClr>
              <a:buNone/>
            </a:pPr>
            <a:r>
              <a:rPr lang="en-US" altLang="zh-CN" dirty="0">
                <a:solidFill>
                  <a:schemeClr val="tx1"/>
                </a:solidFill>
              </a:rPr>
              <a:t>   Q3(</a:t>
            </a:r>
            <a:r>
              <a:rPr lang="zh-CN" altLang="en-US" dirty="0">
                <a:solidFill>
                  <a:schemeClr val="tx1"/>
                </a:solidFill>
              </a:rPr>
              <a:t>续</a:t>
            </a:r>
            <a:r>
              <a:rPr lang="en-US" altLang="zh-CN" dirty="0">
                <a:solidFill>
                  <a:schemeClr val="tx1"/>
                </a:solidFill>
              </a:rPr>
              <a:t>):</a:t>
            </a:r>
            <a:endParaRPr lang="en-US" altLang="zh-CN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dirty="0">
                <a:sym typeface="Symbol" panose="05050102010706020507" pitchFamily="18" charset="2"/>
              </a:rPr>
              <a:t>3. </a:t>
            </a:r>
            <a:r>
              <a:rPr lang="zh-CN" altLang="en-US" dirty="0">
                <a:sym typeface="Symbol" panose="05050102010706020507" pitchFamily="18" charset="2"/>
              </a:rPr>
              <a:t>投影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zh-CN" altLang="en-US" dirty="0">
                <a:sym typeface="Symbol" panose="05050102010706020507" pitchFamily="18" charset="2"/>
              </a:rPr>
              <a:t>时间忽略不计</a:t>
            </a:r>
            <a:r>
              <a:rPr lang="en-US" altLang="zh-CN" dirty="0">
                <a:sym typeface="Symbol" panose="05050102010706020507" pitchFamily="18" charset="2"/>
              </a:rPr>
              <a:t>)</a:t>
            </a:r>
            <a:endParaRPr lang="en-US" altLang="zh-CN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Q3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总时间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= T1 + T2 = 5 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秒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+ 5 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秒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= 10 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秒</a:t>
            </a:r>
            <a:endParaRPr lang="zh-CN" altLang="en-US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   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Q4: </a:t>
            </a:r>
            <a:r>
              <a:rPr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假定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SC</a:t>
            </a:r>
            <a:r>
              <a:rPr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在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cno</a:t>
            </a:r>
            <a:r>
              <a:rPr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上建有索引，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S</a:t>
            </a:r>
            <a:r>
              <a:rPr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表在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sno</a:t>
            </a:r>
            <a:r>
              <a:rPr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上建有索引，如仍用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Q3</a:t>
            </a:r>
            <a:r>
              <a:rPr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方法，则第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步选择时，根本不用读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SC</a:t>
            </a:r>
            <a:r>
              <a:rPr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表全部，只需读取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cno=‘2’</a:t>
            </a:r>
            <a:r>
              <a:rPr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的那些元组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(50</a:t>
            </a:r>
            <a:r>
              <a:rPr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个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),</a:t>
            </a:r>
            <a:r>
              <a:rPr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第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步也不需读取所有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S</a:t>
            </a:r>
            <a:r>
              <a:rPr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表元组，只需读出相关的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50</a:t>
            </a:r>
            <a:r>
              <a:rPr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个，这样总的时间可进一步大大减少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(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&lt;10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秒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)</a:t>
            </a:r>
            <a:r>
              <a:rPr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。</a:t>
            </a:r>
            <a:endParaRPr lang="zh-CN" altLang="en-US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32772" name="Rectangle 3"/>
          <p:cNvSpPr>
            <a:spLocks noGrp="1"/>
          </p:cNvSpPr>
          <p:nvPr>
            <p:ph type="title"/>
          </p:nvPr>
        </p:nvSpPr>
        <p:spPr>
          <a:xfrm>
            <a:off x="685800" y="381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9.2  </a:t>
            </a:r>
            <a:r>
              <a:rPr lang="zh-CN" altLang="en-US" sz="3200" dirty="0"/>
              <a:t>关系数据库系统的查询优化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3795" name="Rectangle 2"/>
          <p:cNvSpPr>
            <a:spLocks noGrp="1"/>
          </p:cNvSpPr>
          <p:nvPr>
            <p:ph idx="1"/>
          </p:nvPr>
        </p:nvSpPr>
        <p:spPr>
          <a:xfrm>
            <a:off x="228600" y="673100"/>
            <a:ext cx="8763000" cy="11557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chemeClr val="accent2"/>
              </a:buClr>
              <a:buNone/>
            </a:pPr>
            <a:r>
              <a:rPr lang="en-US" altLang="zh-CN" dirty="0">
                <a:solidFill>
                  <a:schemeClr val="tx1"/>
                </a:solidFill>
              </a:rPr>
              <a:t>   Q4: 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</a:t>
            </a:r>
            <a:r>
              <a:rPr lang="en-US" altLang="zh-CN" baseline="-18000" dirty="0">
                <a:solidFill>
                  <a:schemeClr val="tx1"/>
                </a:solidFill>
                <a:sym typeface="Symbol" panose="05050102010706020507" pitchFamily="18" charset="2"/>
              </a:rPr>
              <a:t>Sname 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(S    </a:t>
            </a:r>
            <a:r>
              <a:rPr lang="en-US" altLang="zh-CN" sz="3600" dirty="0">
                <a:solidFill>
                  <a:schemeClr val="tx1"/>
                </a:solidFill>
                <a:sym typeface="Symbol" panose="05050102010706020507" pitchFamily="18" charset="2"/>
              </a:rPr>
              <a:t></a:t>
            </a:r>
            <a:r>
              <a:rPr lang="en-US" altLang="zh-CN" sz="3600" baseline="-25000" dirty="0">
                <a:solidFill>
                  <a:schemeClr val="tx1"/>
                </a:solidFill>
                <a:sym typeface="Symbol" panose="05050102010706020507" pitchFamily="18" charset="2"/>
              </a:rPr>
              <a:t>SC.</a:t>
            </a:r>
            <a:r>
              <a:rPr lang="en-US" altLang="zh-CN" baseline="-20000" dirty="0">
                <a:solidFill>
                  <a:schemeClr val="tx1"/>
                </a:solidFill>
                <a:sym typeface="Symbol" panose="05050102010706020507" pitchFamily="18" charset="2"/>
              </a:rPr>
              <a:t>Cno =‘2’ 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(SC))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33796" name="Rectangle 3"/>
          <p:cNvSpPr>
            <a:spLocks noGrp="1"/>
          </p:cNvSpPr>
          <p:nvPr>
            <p:ph type="title"/>
          </p:nvPr>
        </p:nvSpPr>
        <p:spPr>
          <a:xfrm>
            <a:off x="685800" y="381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9.2  </a:t>
            </a:r>
            <a:r>
              <a:rPr lang="zh-CN" altLang="en-US" sz="3200" dirty="0"/>
              <a:t>关系数据库系统的查询优化</a:t>
            </a:r>
            <a:endParaRPr lang="zh-CN" altLang="en-US" sz="3200" dirty="0"/>
          </a:p>
        </p:txBody>
      </p:sp>
      <p:sp>
        <p:nvSpPr>
          <p:cNvPr id="33797" name="AutoShape 4"/>
          <p:cNvSpPr/>
          <p:nvPr/>
        </p:nvSpPr>
        <p:spPr>
          <a:xfrm rot="5400000">
            <a:off x="2971800" y="1066800"/>
            <a:ext cx="228600" cy="228600"/>
          </a:xfrm>
          <a:prstGeom prst="flowChartCollate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en-US" altLang="zh-CN" sz="1400" b="0" dirty="0">
              <a:solidFill>
                <a:schemeClr val="tx1"/>
              </a:solidFill>
            </a:endParaRPr>
          </a:p>
        </p:txBody>
      </p:sp>
      <p:graphicFrame>
        <p:nvGraphicFramePr>
          <p:cNvPr id="24581" name="Group 5"/>
          <p:cNvGraphicFramePr>
            <a:graphicFrameLocks noGrp="1"/>
          </p:cNvGraphicFramePr>
          <p:nvPr/>
        </p:nvGraphicFramePr>
        <p:xfrm>
          <a:off x="406400" y="2133600"/>
          <a:ext cx="1968500" cy="4387850"/>
        </p:xfrm>
        <a:graphic>
          <a:graphicData uri="http://schemas.openxmlformats.org/drawingml/2006/table">
            <a:tbl>
              <a:tblPr/>
              <a:tblGrid>
                <a:gridCol w="944563"/>
                <a:gridCol w="1023937"/>
              </a:tblGrid>
              <a:tr h="1809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学号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Sno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姓名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Sname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李勇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刘晨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</a:tr>
              <a:tr h="4032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</a:tr>
            </a:tbl>
          </a:graphicData>
        </a:graphic>
      </p:graphicFrame>
      <p:sp>
        <p:nvSpPr>
          <p:cNvPr id="33830" name="Text Box 37"/>
          <p:cNvSpPr txBox="1"/>
          <p:nvPr/>
        </p:nvSpPr>
        <p:spPr>
          <a:xfrm>
            <a:off x="368300" y="1524000"/>
            <a:ext cx="19939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b="0" dirty="0">
                <a:solidFill>
                  <a:schemeClr val="tx1"/>
                </a:solidFill>
              </a:rPr>
              <a:t>S(1000</a:t>
            </a:r>
            <a:r>
              <a:rPr lang="zh-CN" altLang="en-US" b="0" dirty="0">
                <a:solidFill>
                  <a:schemeClr val="tx1"/>
                </a:solidFill>
              </a:rPr>
              <a:t>行</a:t>
            </a:r>
            <a:r>
              <a:rPr lang="en-US" altLang="zh-CN" b="0" dirty="0">
                <a:solidFill>
                  <a:schemeClr val="tx1"/>
                </a:solidFill>
              </a:rPr>
              <a:t>)</a:t>
            </a:r>
            <a:endParaRPr lang="en-US" altLang="zh-CN" b="0" dirty="0">
              <a:solidFill>
                <a:schemeClr val="tx1"/>
              </a:solidFill>
            </a:endParaRPr>
          </a:p>
        </p:txBody>
      </p:sp>
      <p:graphicFrame>
        <p:nvGraphicFramePr>
          <p:cNvPr id="24614" name="Group 38"/>
          <p:cNvGraphicFramePr>
            <a:graphicFrameLocks noGrp="1"/>
          </p:cNvGraphicFramePr>
          <p:nvPr/>
        </p:nvGraphicFramePr>
        <p:xfrm>
          <a:off x="3454400" y="2120900"/>
          <a:ext cx="3048000" cy="4333875"/>
        </p:xfrm>
        <a:graphic>
          <a:graphicData uri="http://schemas.openxmlformats.org/drawingml/2006/table">
            <a:tbl>
              <a:tblPr/>
              <a:tblGrid>
                <a:gridCol w="990600"/>
                <a:gridCol w="990600"/>
                <a:gridCol w="1066800"/>
              </a:tblGrid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学号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Sno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课程号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Cno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成绩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Grade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85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90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4381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88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3873" name="Text Box 80"/>
          <p:cNvSpPr txBox="1"/>
          <p:nvPr/>
        </p:nvSpPr>
        <p:spPr>
          <a:xfrm>
            <a:off x="3771900" y="1465263"/>
            <a:ext cx="3044825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600" b="0" dirty="0">
                <a:solidFill>
                  <a:schemeClr val="tx1"/>
                </a:solidFill>
                <a:sym typeface="Symbol" panose="05050102010706020507" pitchFamily="18" charset="2"/>
              </a:rPr>
              <a:t></a:t>
            </a:r>
            <a:r>
              <a:rPr lang="en-US" altLang="zh-CN" b="0" dirty="0">
                <a:solidFill>
                  <a:schemeClr val="tx1"/>
                </a:solidFill>
              </a:rPr>
              <a:t> …(SC)  (50</a:t>
            </a:r>
            <a:r>
              <a:rPr lang="zh-CN" altLang="en-US" b="0" dirty="0">
                <a:solidFill>
                  <a:schemeClr val="tx1"/>
                </a:solidFill>
              </a:rPr>
              <a:t>行</a:t>
            </a:r>
            <a:r>
              <a:rPr lang="en-US" altLang="zh-CN" b="0" dirty="0">
                <a:solidFill>
                  <a:schemeClr val="tx1"/>
                </a:solidFill>
              </a:rPr>
              <a:t>)</a:t>
            </a:r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33874" name="AutoShape 81"/>
          <p:cNvSpPr/>
          <p:nvPr/>
        </p:nvSpPr>
        <p:spPr>
          <a:xfrm rot="5400000">
            <a:off x="2501900" y="3644900"/>
            <a:ext cx="825500" cy="723900"/>
          </a:xfrm>
          <a:prstGeom prst="flowChartCollate">
            <a:avLst/>
          </a:prstGeom>
          <a:noFill/>
          <a:ln w="571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3875" name="Text Box 82"/>
          <p:cNvSpPr txBox="1"/>
          <p:nvPr/>
        </p:nvSpPr>
        <p:spPr>
          <a:xfrm>
            <a:off x="6705600" y="3429000"/>
            <a:ext cx="1651000" cy="8239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4800" b="0" dirty="0">
                <a:solidFill>
                  <a:schemeClr val="tx1"/>
                </a:solidFill>
                <a:ea typeface="经典综艺体简" pitchFamily="49" charset="-122"/>
              </a:rPr>
              <a:t>=  </a:t>
            </a:r>
            <a:r>
              <a:rPr lang="en-US" altLang="zh-CN" b="0" dirty="0">
                <a:solidFill>
                  <a:schemeClr val="tx1"/>
                </a:solidFill>
                <a:ea typeface="经典综艺体简" pitchFamily="49" charset="-122"/>
              </a:rPr>
              <a:t>50</a:t>
            </a:r>
            <a:r>
              <a:rPr lang="zh-CN" altLang="en-US" b="0" dirty="0">
                <a:solidFill>
                  <a:schemeClr val="tx1"/>
                </a:solidFill>
              </a:rPr>
              <a:t>行</a:t>
            </a:r>
            <a:endParaRPr lang="zh-CN" altLang="en-US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4819" name="Rectangle 2"/>
          <p:cNvSpPr>
            <a:spLocks noGrp="1"/>
          </p:cNvSpPr>
          <p:nvPr>
            <p:ph idx="1"/>
          </p:nvPr>
        </p:nvSpPr>
        <p:spPr>
          <a:xfrm>
            <a:off x="755650" y="836613"/>
            <a:ext cx="7367588" cy="5754687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chemeClr val="accent2"/>
              </a:buClr>
              <a:buNone/>
            </a:pPr>
            <a:r>
              <a:rPr lang="zh-CN" altLang="en-US" dirty="0">
                <a:solidFill>
                  <a:srgbClr val="FF0000"/>
                </a:solidFill>
              </a:rPr>
              <a:t>对比</a:t>
            </a:r>
            <a:endParaRPr lang="zh-CN" altLang="en-US" dirty="0">
              <a:solidFill>
                <a:srgbClr val="FF0000"/>
              </a:solidFill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chemeClr val="accent2"/>
              </a:buClr>
            </a:pPr>
            <a:r>
              <a:rPr lang="en-US" altLang="zh-CN" dirty="0">
                <a:solidFill>
                  <a:schemeClr val="tx1"/>
                </a:solidFill>
              </a:rPr>
              <a:t>Q1: 27.8</a:t>
            </a:r>
            <a:r>
              <a:rPr lang="zh-CN" altLang="en-US" dirty="0">
                <a:solidFill>
                  <a:schemeClr val="tx1"/>
                </a:solidFill>
              </a:rPr>
              <a:t>小时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chemeClr val="accent2"/>
              </a:buClr>
            </a:pPr>
            <a:r>
              <a:rPr lang="en-US" altLang="zh-CN" dirty="0">
                <a:solidFill>
                  <a:schemeClr val="tx1"/>
                </a:solidFill>
              </a:rPr>
              <a:t>Q2: 205</a:t>
            </a:r>
            <a:r>
              <a:rPr lang="zh-CN" altLang="en-US" dirty="0">
                <a:solidFill>
                  <a:schemeClr val="tx1"/>
                </a:solidFill>
              </a:rPr>
              <a:t>秒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chemeClr val="accent2"/>
              </a:buClr>
            </a:pPr>
            <a:r>
              <a:rPr lang="en-US" altLang="zh-CN" dirty="0">
                <a:solidFill>
                  <a:schemeClr val="tx1"/>
                </a:solidFill>
              </a:rPr>
              <a:t>Q3: 10</a:t>
            </a:r>
            <a:r>
              <a:rPr lang="zh-CN" altLang="en-US" dirty="0">
                <a:solidFill>
                  <a:schemeClr val="tx1"/>
                </a:solidFill>
              </a:rPr>
              <a:t>秒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chemeClr val="accent2"/>
              </a:buClr>
            </a:pPr>
            <a:r>
              <a:rPr lang="en-US" altLang="zh-CN" dirty="0">
                <a:solidFill>
                  <a:schemeClr val="tx1"/>
                </a:solidFill>
              </a:rPr>
              <a:t>Q4: &lt;10</a:t>
            </a:r>
            <a:r>
              <a:rPr lang="zh-CN" altLang="en-US" dirty="0">
                <a:solidFill>
                  <a:schemeClr val="tx1"/>
                </a:solidFill>
              </a:rPr>
              <a:t>秒</a:t>
            </a:r>
            <a:endParaRPr lang="zh-CN" altLang="en-US" dirty="0"/>
          </a:p>
        </p:txBody>
      </p:sp>
      <p:sp>
        <p:nvSpPr>
          <p:cNvPr id="34820" name="Rectangle 3"/>
          <p:cNvSpPr>
            <a:spLocks noGrp="1"/>
          </p:cNvSpPr>
          <p:nvPr>
            <p:ph type="title"/>
          </p:nvPr>
        </p:nvSpPr>
        <p:spPr>
          <a:xfrm>
            <a:off x="685800" y="381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9.2  </a:t>
            </a:r>
            <a:r>
              <a:rPr lang="zh-CN" altLang="en-US" sz="3200" dirty="0"/>
              <a:t>关系数据库系统的查询优化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5843" name="Rectangle 2"/>
          <p:cNvSpPr>
            <a:spLocks noGrp="1"/>
          </p:cNvSpPr>
          <p:nvPr>
            <p:ph idx="1"/>
          </p:nvPr>
        </p:nvSpPr>
        <p:spPr>
          <a:xfrm>
            <a:off x="611188" y="836613"/>
            <a:ext cx="8281987" cy="5754687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rgbClr val="FF0000"/>
              </a:buClr>
            </a:pPr>
            <a:r>
              <a:rPr lang="zh-CN" altLang="en-US" dirty="0">
                <a:solidFill>
                  <a:schemeClr val="tx1"/>
                </a:solidFill>
              </a:rPr>
              <a:t>把代数表达式</a:t>
            </a:r>
            <a:r>
              <a:rPr lang="en-US" altLang="zh-CN" dirty="0">
                <a:solidFill>
                  <a:schemeClr val="tx1"/>
                </a:solidFill>
              </a:rPr>
              <a:t>Q1</a:t>
            </a:r>
            <a:r>
              <a:rPr lang="zh-CN" altLang="en-US" dirty="0">
                <a:solidFill>
                  <a:schemeClr val="tx1"/>
                </a:solidFill>
              </a:rPr>
              <a:t>变换为</a:t>
            </a:r>
            <a:r>
              <a:rPr lang="en-US" altLang="zh-CN" dirty="0">
                <a:solidFill>
                  <a:schemeClr val="tx1"/>
                </a:solidFill>
              </a:rPr>
              <a:t>Q2</a:t>
            </a:r>
            <a:r>
              <a:rPr lang="zh-CN" altLang="en-US" dirty="0">
                <a:solidFill>
                  <a:schemeClr val="tx1"/>
                </a:solidFill>
              </a:rPr>
              <a:t>、 </a:t>
            </a:r>
            <a:r>
              <a:rPr lang="en-US" altLang="zh-CN" dirty="0">
                <a:solidFill>
                  <a:schemeClr val="tx1"/>
                </a:solidFill>
              </a:rPr>
              <a:t>Q3</a:t>
            </a:r>
            <a:endParaRPr lang="en-US" altLang="zh-CN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sz="3200" dirty="0"/>
              <a:t>有选择和连接操作时，先做选择操作，可大大减少连接的元组，这是代数优化</a:t>
            </a:r>
            <a:endParaRPr lang="zh-CN" altLang="en-US" sz="3200" dirty="0"/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rgbClr val="FF0000"/>
              </a:buClr>
            </a:pPr>
            <a:r>
              <a:rPr lang="zh-CN" altLang="en-US" dirty="0">
                <a:solidFill>
                  <a:schemeClr val="tx1"/>
                </a:solidFill>
              </a:rPr>
              <a:t>在</a:t>
            </a:r>
            <a:r>
              <a:rPr lang="en-US" altLang="zh-CN" dirty="0">
                <a:solidFill>
                  <a:schemeClr val="tx1"/>
                </a:solidFill>
              </a:rPr>
              <a:t>Q3/Q4</a:t>
            </a:r>
            <a:r>
              <a:rPr lang="zh-CN" altLang="en-US" dirty="0">
                <a:solidFill>
                  <a:schemeClr val="tx1"/>
                </a:solidFill>
              </a:rPr>
              <a:t>中</a:t>
            </a:r>
            <a:endParaRPr lang="zh-CN" altLang="en-US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</a:pPr>
            <a:r>
              <a:rPr lang="en-US" altLang="zh-CN" sz="3200" dirty="0"/>
              <a:t>SC</a:t>
            </a:r>
            <a:r>
              <a:rPr lang="zh-CN" altLang="en-US" sz="3200" dirty="0"/>
              <a:t>表的选择操作算法有全表扫描和索引扫描</a:t>
            </a:r>
            <a:r>
              <a:rPr lang="en-US" altLang="zh-CN" sz="3200" dirty="0"/>
              <a:t>2</a:t>
            </a:r>
            <a:r>
              <a:rPr lang="zh-CN" altLang="en-US" sz="3200" dirty="0"/>
              <a:t>种方法，索引扫描方法较优 </a:t>
            </a:r>
            <a:endParaRPr lang="zh-CN" altLang="en-US" sz="3200" dirty="0"/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sz="3200" dirty="0"/>
              <a:t>对于</a:t>
            </a:r>
            <a:r>
              <a:rPr lang="en-US" altLang="zh-CN" sz="3200" dirty="0"/>
              <a:t>Student</a:t>
            </a:r>
            <a:r>
              <a:rPr lang="zh-CN" altLang="en-US" sz="3200" dirty="0"/>
              <a:t>和</a:t>
            </a:r>
            <a:r>
              <a:rPr lang="en-US" altLang="zh-CN" sz="3200" dirty="0"/>
              <a:t>SC</a:t>
            </a:r>
            <a:r>
              <a:rPr lang="zh-CN" altLang="en-US" sz="3200" dirty="0"/>
              <a:t>表的连接，利用</a:t>
            </a:r>
            <a:r>
              <a:rPr lang="en-US" altLang="zh-CN" sz="3200" dirty="0"/>
              <a:t>Student</a:t>
            </a:r>
            <a:r>
              <a:rPr lang="zh-CN" altLang="en-US" sz="3200" dirty="0"/>
              <a:t>表上的索引，采用</a:t>
            </a:r>
            <a:r>
              <a:rPr lang="en-US" altLang="zh-CN" sz="3200" dirty="0"/>
              <a:t>index join</a:t>
            </a:r>
            <a:r>
              <a:rPr lang="zh-CN" altLang="en-US" sz="3200" dirty="0"/>
              <a:t>代价较小</a:t>
            </a:r>
            <a:r>
              <a:rPr lang="en-US" altLang="zh-CN" sz="3200" dirty="0"/>
              <a:t>,</a:t>
            </a:r>
            <a:r>
              <a:rPr lang="zh-CN" altLang="en-US" sz="3200" dirty="0"/>
              <a:t>这就是物理优化 </a:t>
            </a:r>
            <a:endParaRPr lang="zh-CN" altLang="en-US" sz="3200" dirty="0"/>
          </a:p>
        </p:txBody>
      </p:sp>
      <p:sp>
        <p:nvSpPr>
          <p:cNvPr id="35844" name="Rectangle 3"/>
          <p:cNvSpPr>
            <a:spLocks noGrp="1"/>
          </p:cNvSpPr>
          <p:nvPr>
            <p:ph type="title"/>
          </p:nvPr>
        </p:nvSpPr>
        <p:spPr>
          <a:xfrm>
            <a:off x="685800" y="381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9.2  </a:t>
            </a:r>
            <a:r>
              <a:rPr lang="zh-CN" altLang="en-US" sz="3200" dirty="0"/>
              <a:t>关系数据库系统的查询优化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6867" name="Rectangle 2"/>
          <p:cNvSpPr/>
          <p:nvPr/>
        </p:nvSpPr>
        <p:spPr>
          <a:xfrm>
            <a:off x="523875" y="3168650"/>
            <a:ext cx="7747000" cy="609600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6868" name="Rectangle 3"/>
          <p:cNvSpPr>
            <a:spLocks noGrp="1"/>
          </p:cNvSpPr>
          <p:nvPr>
            <p:ph idx="1"/>
          </p:nvPr>
        </p:nvSpPr>
        <p:spPr>
          <a:xfrm>
            <a:off x="900113" y="1773238"/>
            <a:ext cx="7327900" cy="3455987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9.1 </a:t>
            </a:r>
            <a:r>
              <a:rPr lang="zh-CN" altLang="en-US" dirty="0">
                <a:solidFill>
                  <a:schemeClr val="tx1"/>
                </a:solidFill>
              </a:rPr>
              <a:t>关系数据库系统的查询处理 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9.2 </a:t>
            </a:r>
            <a:r>
              <a:rPr lang="zh-CN" altLang="en-US" dirty="0">
                <a:solidFill>
                  <a:schemeClr val="tx1"/>
                </a:solidFill>
              </a:rPr>
              <a:t>关系数据库系统的查询优化 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bg1"/>
                </a:solidFill>
              </a:rPr>
              <a:t>9.3 </a:t>
            </a:r>
            <a:r>
              <a:rPr lang="zh-CN" altLang="en-US" dirty="0">
                <a:solidFill>
                  <a:schemeClr val="bg1"/>
                </a:solidFill>
              </a:rPr>
              <a:t>代数优化</a:t>
            </a:r>
            <a:endParaRPr lang="zh-CN" altLang="en-US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9.4 </a:t>
            </a:r>
            <a:r>
              <a:rPr lang="zh-CN" altLang="en-US" dirty="0">
                <a:solidFill>
                  <a:schemeClr val="tx1"/>
                </a:solidFill>
              </a:rPr>
              <a:t>物理优化 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9.5 </a:t>
            </a:r>
            <a:r>
              <a:rPr lang="zh-CN" altLang="en-US" dirty="0">
                <a:solidFill>
                  <a:schemeClr val="tx1"/>
                </a:solidFill>
              </a:rPr>
              <a:t>小 结 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6869" name="Rectangle 4"/>
          <p:cNvSpPr>
            <a:spLocks noGrp="1"/>
          </p:cNvSpPr>
          <p:nvPr>
            <p:ph type="title"/>
          </p:nvPr>
        </p:nvSpPr>
        <p:spPr>
          <a:xfrm>
            <a:off x="914400" y="546100"/>
            <a:ext cx="7978775" cy="11430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第</a:t>
            </a:r>
            <a:r>
              <a:rPr lang="en-US" altLang="zh-CN" dirty="0"/>
              <a:t>9</a:t>
            </a:r>
            <a:r>
              <a:rPr lang="zh-CN" altLang="en-US" dirty="0"/>
              <a:t>章 关系查询处理和查询优化</a:t>
            </a:r>
            <a:endParaRPr lang="zh-CN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7891" name="Rectangle 2"/>
          <p:cNvSpPr>
            <a:spLocks noGrp="1"/>
          </p:cNvSpPr>
          <p:nvPr>
            <p:ph idx="1"/>
          </p:nvPr>
        </p:nvSpPr>
        <p:spPr>
          <a:xfrm>
            <a:off x="971550" y="1628775"/>
            <a:ext cx="7162800" cy="44196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FF0000"/>
                </a:solidFill>
              </a:rPr>
              <a:t>9.3.1 </a:t>
            </a:r>
            <a:r>
              <a:rPr lang="zh-CN" altLang="en-US" dirty="0">
                <a:solidFill>
                  <a:srgbClr val="FF0000"/>
                </a:solidFill>
              </a:rPr>
              <a:t>关系代数表达式等价变换规则</a:t>
            </a:r>
            <a:endParaRPr lang="zh-CN" altLang="en-US" dirty="0">
              <a:solidFill>
                <a:srgbClr val="FF0000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9.3.2 </a:t>
            </a:r>
            <a:r>
              <a:rPr lang="zh-CN" altLang="en-US" dirty="0">
                <a:solidFill>
                  <a:schemeClr val="tx1"/>
                </a:solidFill>
              </a:rPr>
              <a:t>查询树的启发式优化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7892" name="Rectangle 3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9.3  </a:t>
            </a:r>
            <a:r>
              <a:rPr lang="zh-CN" altLang="en-US" dirty="0"/>
              <a:t>代数优化</a:t>
            </a:r>
            <a:endParaRPr lang="zh-CN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8915" name="Rectangle 2"/>
          <p:cNvSpPr>
            <a:spLocks noGrp="1"/>
          </p:cNvSpPr>
          <p:nvPr>
            <p:ph idx="1"/>
          </p:nvPr>
        </p:nvSpPr>
        <p:spPr>
          <a:xfrm>
            <a:off x="457200" y="836613"/>
            <a:ext cx="8153400" cy="5181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ClrTx/>
              <a:buNone/>
            </a:pPr>
            <a:r>
              <a:rPr lang="en-US" altLang="zh-CN" sz="2800" dirty="0"/>
              <a:t>l. </a:t>
            </a:r>
            <a:r>
              <a:rPr lang="zh-CN" altLang="en-US" dirty="0"/>
              <a:t>连接、笛卡尔积交换律</a:t>
            </a:r>
            <a:endParaRPr lang="zh-CN" altLang="en-US" sz="2800" dirty="0"/>
          </a:p>
          <a:p>
            <a:pPr algn="just" eaLnBrk="1" hangingPunct="1">
              <a:lnSpc>
                <a:spcPct val="90000"/>
              </a:lnSpc>
              <a:buClrTx/>
              <a:buNone/>
            </a:pPr>
            <a:r>
              <a:rPr lang="zh-CN" altLang="en-US" sz="2800" dirty="0"/>
              <a:t>		</a:t>
            </a:r>
            <a:r>
              <a:rPr lang="en-US" altLang="zh-CN" sz="2800" dirty="0">
                <a:solidFill>
                  <a:schemeClr val="tx1"/>
                </a:solidFill>
              </a:rPr>
              <a:t>E1× E2 ≡ E2×E1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90000"/>
              </a:lnSpc>
              <a:buClrTx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		E1      E2≡E2     E1         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90000"/>
              </a:lnSpc>
              <a:buClrTx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		E1</a:t>
            </a:r>
            <a:r>
              <a:rPr lang="en-US" altLang="zh-CN" sz="2400" baseline="-24000" dirty="0">
                <a:solidFill>
                  <a:schemeClr val="tx1"/>
                </a:solidFill>
              </a:rPr>
              <a:t>F</a:t>
            </a:r>
            <a:r>
              <a:rPr lang="en-US" altLang="zh-CN" sz="2800" dirty="0">
                <a:solidFill>
                  <a:schemeClr val="tx1"/>
                </a:solidFill>
              </a:rPr>
              <a:t>     E2≡E2</a:t>
            </a:r>
            <a:r>
              <a:rPr lang="en-US" altLang="zh-CN" sz="2400" baseline="-24000" dirty="0">
                <a:solidFill>
                  <a:schemeClr val="tx1"/>
                </a:solidFill>
              </a:rPr>
              <a:t>F</a:t>
            </a:r>
            <a:r>
              <a:rPr lang="en-US" altLang="zh-CN" sz="2800" dirty="0">
                <a:solidFill>
                  <a:schemeClr val="tx1"/>
                </a:solidFill>
              </a:rPr>
              <a:t>    E1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90000"/>
              </a:lnSpc>
              <a:buClrTx/>
              <a:buNone/>
            </a:pPr>
            <a:endParaRPr lang="en-US" altLang="zh-CN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800" dirty="0"/>
              <a:t>2. </a:t>
            </a:r>
            <a:r>
              <a:rPr lang="zh-CN" altLang="en-US" sz="2800" dirty="0"/>
              <a:t>连接、笛卡尔积的结合律</a:t>
            </a:r>
            <a:endParaRPr lang="zh-CN" altLang="en-US" sz="2800" dirty="0"/>
          </a:p>
          <a:p>
            <a:pPr algn="just" eaLnBrk="1" hangingPunct="1">
              <a:lnSpc>
                <a:spcPct val="130000"/>
              </a:lnSpc>
              <a:buClrTx/>
              <a:buNone/>
            </a:pPr>
            <a:r>
              <a:rPr lang="zh-CN" altLang="en-US" sz="2800" dirty="0"/>
              <a:t>    </a:t>
            </a:r>
            <a:r>
              <a:rPr lang="en-US" altLang="zh-CN" sz="2800" dirty="0">
                <a:solidFill>
                  <a:schemeClr val="tx1"/>
                </a:solidFill>
              </a:rPr>
              <a:t>(E1×E2) × E3 ≡ E1 × (E2×E3)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30000"/>
              </a:lnSpc>
              <a:buClrTx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    (E1    E2)    E3 ≡ E1    (E2    E3)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30000"/>
              </a:lnSpc>
              <a:buClrTx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    (E1    E2)    E3 ≡ E1     (E2    E3) 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buClrTx/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		  </a:t>
            </a:r>
            <a:r>
              <a:rPr lang="en-US" altLang="zh-CN" sz="2000" baseline="50000" dirty="0">
                <a:solidFill>
                  <a:schemeClr val="tx1"/>
                </a:solidFill>
              </a:rPr>
              <a:t>F</a:t>
            </a:r>
            <a:r>
              <a:rPr lang="en-US" altLang="zh-CN" sz="2000" dirty="0">
                <a:solidFill>
                  <a:schemeClr val="tx1"/>
                </a:solidFill>
              </a:rPr>
              <a:t>            </a:t>
            </a:r>
            <a:r>
              <a:rPr lang="en-US" altLang="zh-CN" sz="2000" baseline="50000" dirty="0">
                <a:solidFill>
                  <a:schemeClr val="tx1"/>
                </a:solidFill>
              </a:rPr>
              <a:t>F</a:t>
            </a:r>
            <a:r>
              <a:rPr lang="en-US" altLang="zh-CN" sz="2000" dirty="0">
                <a:solidFill>
                  <a:schemeClr val="tx1"/>
                </a:solidFill>
              </a:rPr>
              <a:t>                          </a:t>
            </a:r>
            <a:r>
              <a:rPr lang="en-US" altLang="zh-CN" sz="2000" baseline="50000" dirty="0">
                <a:solidFill>
                  <a:schemeClr val="tx1"/>
                </a:solidFill>
              </a:rPr>
              <a:t>F</a:t>
            </a:r>
            <a:r>
              <a:rPr lang="en-US" altLang="zh-CN" sz="2000" dirty="0">
                <a:solidFill>
                  <a:schemeClr val="tx1"/>
                </a:solidFill>
              </a:rPr>
              <a:t>            </a:t>
            </a:r>
            <a:r>
              <a:rPr lang="en-US" altLang="zh-CN" sz="2000" baseline="50000" dirty="0">
                <a:solidFill>
                  <a:schemeClr val="tx1"/>
                </a:solidFill>
              </a:rPr>
              <a:t>F</a:t>
            </a:r>
            <a:r>
              <a:rPr lang="en-US" altLang="zh-CN" sz="2400" dirty="0"/>
              <a:t>    </a:t>
            </a:r>
            <a:endParaRPr lang="en-US" altLang="zh-CN" sz="2400" dirty="0"/>
          </a:p>
        </p:txBody>
      </p:sp>
      <p:sp>
        <p:nvSpPr>
          <p:cNvPr id="38916" name="Rectangle 3"/>
          <p:cNvSpPr>
            <a:spLocks noGrp="1"/>
          </p:cNvSpPr>
          <p:nvPr>
            <p:ph type="title"/>
          </p:nvPr>
        </p:nvSpPr>
        <p:spPr>
          <a:xfrm>
            <a:off x="914400" y="-254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9.3.1  </a:t>
            </a:r>
            <a:r>
              <a:rPr lang="zh-CN" altLang="en-US" sz="3200" dirty="0"/>
              <a:t>关系代数的等价变换规则</a:t>
            </a:r>
            <a:endParaRPr lang="zh-CN" altLang="en-US" sz="3200" dirty="0"/>
          </a:p>
        </p:txBody>
      </p:sp>
      <p:sp>
        <p:nvSpPr>
          <p:cNvPr id="38917" name="AutoShape 4"/>
          <p:cNvSpPr/>
          <p:nvPr/>
        </p:nvSpPr>
        <p:spPr>
          <a:xfrm rot="5400000">
            <a:off x="1968500" y="1909763"/>
            <a:ext cx="293688" cy="306387"/>
          </a:xfrm>
          <a:prstGeom prst="flowChartCollate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8918" name="AutoShape 5"/>
          <p:cNvSpPr/>
          <p:nvPr/>
        </p:nvSpPr>
        <p:spPr>
          <a:xfrm rot="5400000">
            <a:off x="3563938" y="1909763"/>
            <a:ext cx="304800" cy="304800"/>
          </a:xfrm>
          <a:prstGeom prst="flowChartCollate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8919" name="AutoShape 6"/>
          <p:cNvSpPr/>
          <p:nvPr/>
        </p:nvSpPr>
        <p:spPr>
          <a:xfrm rot="5400000">
            <a:off x="2035175" y="2420938"/>
            <a:ext cx="304800" cy="304800"/>
          </a:xfrm>
          <a:prstGeom prst="flowChartCollate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8920" name="AutoShape 7"/>
          <p:cNvSpPr/>
          <p:nvPr/>
        </p:nvSpPr>
        <p:spPr>
          <a:xfrm rot="5400000">
            <a:off x="3635375" y="2420938"/>
            <a:ext cx="304800" cy="304800"/>
          </a:xfrm>
          <a:prstGeom prst="flowChartCollate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8921" name="AutoShape 8"/>
          <p:cNvSpPr/>
          <p:nvPr/>
        </p:nvSpPr>
        <p:spPr>
          <a:xfrm rot="5400000">
            <a:off x="1447800" y="4581525"/>
            <a:ext cx="304800" cy="304800"/>
          </a:xfrm>
          <a:prstGeom prst="flowChartCollate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8922" name="AutoShape 9"/>
          <p:cNvSpPr/>
          <p:nvPr/>
        </p:nvSpPr>
        <p:spPr>
          <a:xfrm rot="5400000">
            <a:off x="2336800" y="4581525"/>
            <a:ext cx="304800" cy="304800"/>
          </a:xfrm>
          <a:prstGeom prst="flowChartCollate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8923" name="AutoShape 10"/>
          <p:cNvSpPr/>
          <p:nvPr/>
        </p:nvSpPr>
        <p:spPr>
          <a:xfrm rot="5400000">
            <a:off x="3924300" y="4581525"/>
            <a:ext cx="304800" cy="304800"/>
          </a:xfrm>
          <a:prstGeom prst="flowChartCollate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8924" name="AutoShape 11"/>
          <p:cNvSpPr/>
          <p:nvPr/>
        </p:nvSpPr>
        <p:spPr>
          <a:xfrm rot="5400000">
            <a:off x="4787900" y="4581525"/>
            <a:ext cx="304800" cy="304800"/>
          </a:xfrm>
          <a:prstGeom prst="flowChartCollate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8925" name="AutoShape 12"/>
          <p:cNvSpPr/>
          <p:nvPr/>
        </p:nvSpPr>
        <p:spPr>
          <a:xfrm rot="5400000">
            <a:off x="1447800" y="5257800"/>
            <a:ext cx="304800" cy="304800"/>
          </a:xfrm>
          <a:prstGeom prst="flowChartCollate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8926" name="AutoShape 13"/>
          <p:cNvSpPr/>
          <p:nvPr/>
        </p:nvSpPr>
        <p:spPr>
          <a:xfrm rot="5400000">
            <a:off x="2362200" y="5257800"/>
            <a:ext cx="304800" cy="304800"/>
          </a:xfrm>
          <a:prstGeom prst="flowChartCollate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8927" name="AutoShape 14"/>
          <p:cNvSpPr/>
          <p:nvPr/>
        </p:nvSpPr>
        <p:spPr>
          <a:xfrm rot="5400000">
            <a:off x="3924300" y="5257800"/>
            <a:ext cx="304800" cy="304800"/>
          </a:xfrm>
          <a:prstGeom prst="flowChartCollate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8928" name="AutoShape 15"/>
          <p:cNvSpPr/>
          <p:nvPr/>
        </p:nvSpPr>
        <p:spPr>
          <a:xfrm rot="5400000">
            <a:off x="4859338" y="5257800"/>
            <a:ext cx="304800" cy="304800"/>
          </a:xfrm>
          <a:prstGeom prst="flowChartCollate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en-US" altLang="zh-CN" sz="14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9939" name="Rectangle 2"/>
          <p:cNvSpPr>
            <a:spLocks noGrp="1"/>
          </p:cNvSpPr>
          <p:nvPr>
            <p:ph idx="1"/>
          </p:nvPr>
        </p:nvSpPr>
        <p:spPr>
          <a:xfrm>
            <a:off x="457200" y="914400"/>
            <a:ext cx="8153400" cy="53340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buNone/>
            </a:pPr>
            <a:r>
              <a:rPr lang="en-US" altLang="zh-CN" sz="3600" dirty="0"/>
              <a:t>3</a:t>
            </a:r>
            <a:r>
              <a:rPr lang="en-US" altLang="zh-CN" dirty="0"/>
              <a:t>. </a:t>
            </a:r>
            <a:r>
              <a:rPr lang="zh-CN" altLang="en-US" dirty="0"/>
              <a:t>投影的串接定律</a:t>
            </a:r>
            <a:endParaRPr lang="zh-CN" altLang="en-US" dirty="0"/>
          </a:p>
          <a:p>
            <a:pPr algn="just" eaLnBrk="1" hangingPunct="1">
              <a:buNone/>
            </a:pPr>
            <a:r>
              <a:rPr lang="zh-CN" altLang="en-US" sz="2800" dirty="0"/>
              <a:t> </a:t>
            </a:r>
            <a:r>
              <a:rPr lang="en-US" altLang="zh-CN" dirty="0">
                <a:solidFill>
                  <a:schemeClr val="tx1"/>
                </a:solidFill>
              </a:rPr>
              <a:t>π</a:t>
            </a:r>
            <a:r>
              <a:rPr lang="en-US" altLang="zh-CN" sz="2400" dirty="0">
                <a:solidFill>
                  <a:schemeClr val="tx1"/>
                </a:solidFill>
              </a:rPr>
              <a:t> </a:t>
            </a:r>
            <a:r>
              <a:rPr lang="en-US" altLang="zh-CN" sz="2800" baseline="-25000" dirty="0">
                <a:solidFill>
                  <a:schemeClr val="tx1"/>
                </a:solidFill>
              </a:rPr>
              <a:t>A1,A2,</a:t>
            </a:r>
            <a:r>
              <a:rPr lang="en-US" altLang="zh-CN" sz="2800" baseline="-2500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sz="2800" baseline="-25000" dirty="0">
                <a:solidFill>
                  <a:schemeClr val="tx1"/>
                </a:solidFill>
                <a:sym typeface="MT Extra" panose="05050102010205020202" pitchFamily="18" charset="2"/>
              </a:rPr>
              <a:t></a:t>
            </a:r>
            <a:r>
              <a:rPr lang="en-US" altLang="zh-CN" sz="2800" baseline="-25000" dirty="0">
                <a:solidFill>
                  <a:schemeClr val="tx1"/>
                </a:solidFill>
              </a:rPr>
              <a:t>,An</a:t>
            </a:r>
            <a:r>
              <a:rPr lang="en-US" altLang="zh-CN" sz="2800" dirty="0">
                <a:solidFill>
                  <a:schemeClr val="tx1"/>
                </a:solidFill>
              </a:rPr>
              <a:t>(</a:t>
            </a:r>
            <a:r>
              <a:rPr lang="en-US" altLang="zh-CN" dirty="0">
                <a:solidFill>
                  <a:schemeClr val="tx1"/>
                </a:solidFill>
              </a:rPr>
              <a:t>π</a:t>
            </a:r>
            <a:r>
              <a:rPr lang="en-US" altLang="zh-CN" sz="2800" dirty="0">
                <a:solidFill>
                  <a:schemeClr val="tx1"/>
                </a:solidFill>
              </a:rPr>
              <a:t> </a:t>
            </a:r>
            <a:r>
              <a:rPr lang="en-US" altLang="zh-CN" sz="2800" baseline="-25000" dirty="0">
                <a:solidFill>
                  <a:schemeClr val="tx1"/>
                </a:solidFill>
              </a:rPr>
              <a:t>B1,B2, </a:t>
            </a:r>
            <a:r>
              <a:rPr lang="en-US" altLang="zh-CN" sz="2800" baseline="-25000" dirty="0">
                <a:solidFill>
                  <a:schemeClr val="tx1"/>
                </a:solidFill>
                <a:sym typeface="MT Extra" panose="05050102010205020202" pitchFamily="18" charset="2"/>
              </a:rPr>
              <a:t></a:t>
            </a:r>
            <a:r>
              <a:rPr lang="en-US" altLang="zh-CN" sz="2800" baseline="-25000" dirty="0">
                <a:solidFill>
                  <a:schemeClr val="tx1"/>
                </a:solidFill>
              </a:rPr>
              <a:t>,Bm</a:t>
            </a:r>
            <a:r>
              <a:rPr lang="en-US" altLang="zh-CN" sz="2800" dirty="0">
                <a:solidFill>
                  <a:schemeClr val="tx1"/>
                </a:solidFill>
              </a:rPr>
              <a:t>(E))≡ </a:t>
            </a:r>
            <a:r>
              <a:rPr lang="en-US" altLang="zh-CN" dirty="0">
                <a:solidFill>
                  <a:schemeClr val="tx1"/>
                </a:solidFill>
              </a:rPr>
              <a:t>π</a:t>
            </a:r>
            <a:r>
              <a:rPr lang="en-US" altLang="zh-CN" sz="2400" dirty="0">
                <a:solidFill>
                  <a:schemeClr val="tx1"/>
                </a:solidFill>
              </a:rPr>
              <a:t> </a:t>
            </a:r>
            <a:r>
              <a:rPr lang="en-US" altLang="zh-CN" sz="2800" baseline="-25000" dirty="0">
                <a:solidFill>
                  <a:schemeClr val="tx1"/>
                </a:solidFill>
              </a:rPr>
              <a:t>A1,A2, </a:t>
            </a:r>
            <a:r>
              <a:rPr lang="en-US" altLang="zh-CN" sz="2800" baseline="-25000" dirty="0">
                <a:solidFill>
                  <a:schemeClr val="tx1"/>
                </a:solidFill>
                <a:sym typeface="MT Extra" panose="05050102010205020202" pitchFamily="18" charset="2"/>
              </a:rPr>
              <a:t></a:t>
            </a:r>
            <a:r>
              <a:rPr lang="en-US" altLang="zh-CN" sz="2800" baseline="-25000" dirty="0">
                <a:solidFill>
                  <a:schemeClr val="tx1"/>
                </a:solidFill>
              </a:rPr>
              <a:t>,An</a:t>
            </a:r>
            <a:r>
              <a:rPr lang="en-US" altLang="zh-CN" sz="2800" dirty="0">
                <a:solidFill>
                  <a:schemeClr val="tx1"/>
                </a:solidFill>
              </a:rPr>
              <a:t> (E)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algn="just" eaLnBrk="1" hangingPunct="1">
              <a:buNone/>
            </a:pPr>
            <a:endParaRPr lang="en-US" altLang="zh-CN" sz="2800" dirty="0">
              <a:solidFill>
                <a:schemeClr val="tx1"/>
              </a:solidFill>
            </a:endParaRPr>
          </a:p>
          <a:p>
            <a:pPr algn="just" eaLnBrk="1" hangingPunct="1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假设：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1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1)	E</a:t>
            </a:r>
            <a:r>
              <a:rPr lang="zh-CN" altLang="en-US" sz="2800" dirty="0">
                <a:solidFill>
                  <a:schemeClr val="tx1"/>
                </a:solidFill>
              </a:rPr>
              <a:t>是关系代数表达式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1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2)	A</a:t>
            </a:r>
            <a:r>
              <a:rPr lang="en-US" altLang="zh-CN" sz="2800" baseline="-25000" dirty="0">
                <a:solidFill>
                  <a:schemeClr val="tx1"/>
                </a:solidFill>
              </a:rPr>
              <a:t>i</a:t>
            </a:r>
            <a:r>
              <a:rPr lang="en-US" altLang="zh-CN" sz="2800" dirty="0">
                <a:solidFill>
                  <a:schemeClr val="tx1"/>
                </a:solidFill>
              </a:rPr>
              <a:t>(i=1</a:t>
            </a:r>
            <a:r>
              <a:rPr lang="zh-CN" altLang="en-US" sz="2800" dirty="0">
                <a:solidFill>
                  <a:schemeClr val="tx1"/>
                </a:solidFill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</a:rPr>
              <a:t>2</a:t>
            </a:r>
            <a:r>
              <a:rPr lang="zh-CN" altLang="en-US" sz="2800" dirty="0">
                <a:solidFill>
                  <a:schemeClr val="tx1"/>
                </a:solidFill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  <a:latin typeface="Courier New" panose="02070309020205020404" pitchFamily="49" charset="0"/>
              </a:rPr>
              <a:t>…</a:t>
            </a:r>
            <a:r>
              <a:rPr lang="zh-CN" altLang="en-US" sz="2800" dirty="0">
                <a:solidFill>
                  <a:schemeClr val="tx1"/>
                </a:solidFill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</a:rPr>
              <a:t>n), B</a:t>
            </a:r>
            <a:r>
              <a:rPr lang="en-US" altLang="zh-CN" sz="2800" baseline="-25000" dirty="0">
                <a:solidFill>
                  <a:schemeClr val="tx1"/>
                </a:solidFill>
              </a:rPr>
              <a:t>j</a:t>
            </a:r>
            <a:r>
              <a:rPr lang="en-US" altLang="zh-CN" sz="2800" dirty="0">
                <a:solidFill>
                  <a:schemeClr val="tx1"/>
                </a:solidFill>
              </a:rPr>
              <a:t>(j=l</a:t>
            </a:r>
            <a:r>
              <a:rPr lang="zh-CN" altLang="en-US" sz="2800" dirty="0">
                <a:solidFill>
                  <a:schemeClr val="tx1"/>
                </a:solidFill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</a:rPr>
              <a:t>2</a:t>
            </a:r>
            <a:r>
              <a:rPr lang="zh-CN" altLang="en-US" sz="2800" dirty="0">
                <a:solidFill>
                  <a:schemeClr val="tx1"/>
                </a:solidFill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</a:rPr>
              <a:t>…</a:t>
            </a:r>
            <a:r>
              <a:rPr lang="zh-CN" altLang="en-US" sz="2800" dirty="0">
                <a:solidFill>
                  <a:schemeClr val="tx1"/>
                </a:solidFill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</a:rPr>
              <a:t>m)</a:t>
            </a:r>
            <a:r>
              <a:rPr lang="zh-CN" altLang="en-US" sz="2800" dirty="0">
                <a:solidFill>
                  <a:schemeClr val="tx1"/>
                </a:solidFill>
              </a:rPr>
              <a:t>是属性名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1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3){A</a:t>
            </a:r>
            <a:r>
              <a:rPr lang="en-US" altLang="zh-CN" sz="2800" baseline="-25000" dirty="0">
                <a:solidFill>
                  <a:schemeClr val="tx1"/>
                </a:solidFill>
              </a:rPr>
              <a:t>1</a:t>
            </a:r>
            <a:r>
              <a:rPr lang="en-US" altLang="zh-CN" sz="2800" dirty="0">
                <a:solidFill>
                  <a:schemeClr val="tx1"/>
                </a:solidFill>
              </a:rPr>
              <a:t>, A</a:t>
            </a:r>
            <a:r>
              <a:rPr lang="en-US" altLang="zh-CN" sz="2800" baseline="-25000" dirty="0">
                <a:solidFill>
                  <a:schemeClr val="tx1"/>
                </a:solidFill>
              </a:rPr>
              <a:t>2</a:t>
            </a:r>
            <a:r>
              <a:rPr lang="en-US" altLang="zh-CN" sz="2800" dirty="0">
                <a:solidFill>
                  <a:schemeClr val="tx1"/>
                </a:solidFill>
              </a:rPr>
              <a:t>, …, A</a:t>
            </a:r>
            <a:r>
              <a:rPr lang="en-US" altLang="zh-CN" sz="2800" baseline="-25000" dirty="0">
                <a:solidFill>
                  <a:schemeClr val="tx1"/>
                </a:solidFill>
              </a:rPr>
              <a:t>n</a:t>
            </a:r>
            <a:r>
              <a:rPr lang="en-US" altLang="zh-CN" sz="2800" dirty="0">
                <a:solidFill>
                  <a:schemeClr val="tx1"/>
                </a:solidFill>
              </a:rPr>
              <a:t>}</a:t>
            </a:r>
            <a:r>
              <a:rPr lang="zh-CN" altLang="en-US" sz="2800" dirty="0">
                <a:solidFill>
                  <a:schemeClr val="tx1"/>
                </a:solidFill>
              </a:rPr>
              <a:t>构成</a:t>
            </a:r>
            <a:r>
              <a:rPr lang="en-US" altLang="zh-CN" sz="2800" dirty="0">
                <a:solidFill>
                  <a:schemeClr val="tx1"/>
                </a:solidFill>
              </a:rPr>
              <a:t>{B</a:t>
            </a:r>
            <a:r>
              <a:rPr lang="en-US" altLang="zh-CN" sz="2800" baseline="-25000" dirty="0">
                <a:solidFill>
                  <a:schemeClr val="tx1"/>
                </a:solidFill>
              </a:rPr>
              <a:t>l</a:t>
            </a:r>
            <a:r>
              <a:rPr lang="zh-CN" altLang="en-US" sz="2800" dirty="0">
                <a:solidFill>
                  <a:schemeClr val="tx1"/>
                </a:solidFill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</a:rPr>
              <a:t>B</a:t>
            </a:r>
            <a:r>
              <a:rPr lang="en-US" altLang="zh-CN" sz="2800" baseline="-25000" dirty="0">
                <a:solidFill>
                  <a:schemeClr val="tx1"/>
                </a:solidFill>
              </a:rPr>
              <a:t>2</a:t>
            </a:r>
            <a:r>
              <a:rPr lang="zh-CN" altLang="en-US" sz="2800" dirty="0">
                <a:solidFill>
                  <a:schemeClr val="tx1"/>
                </a:solidFill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</a:rPr>
              <a:t>…</a:t>
            </a:r>
            <a:r>
              <a:rPr lang="zh-CN" altLang="en-US" sz="2800" dirty="0">
                <a:solidFill>
                  <a:schemeClr val="tx1"/>
                </a:solidFill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</a:rPr>
              <a:t>B</a:t>
            </a:r>
            <a:r>
              <a:rPr lang="en-US" altLang="zh-CN" sz="2800" baseline="-25000" dirty="0">
                <a:solidFill>
                  <a:schemeClr val="tx1"/>
                </a:solidFill>
              </a:rPr>
              <a:t>m</a:t>
            </a:r>
            <a:r>
              <a:rPr lang="en-US" altLang="zh-CN" sz="2800" dirty="0">
                <a:solidFill>
                  <a:schemeClr val="tx1"/>
                </a:solidFill>
              </a:rPr>
              <a:t>}</a:t>
            </a:r>
            <a:r>
              <a:rPr lang="zh-CN" altLang="en-US" sz="2800" dirty="0">
                <a:solidFill>
                  <a:schemeClr val="tx1"/>
                </a:solidFill>
              </a:rPr>
              <a:t>的子集 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buClrTx/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39940" name="Rectangle 3"/>
          <p:cNvSpPr>
            <a:spLocks noGrp="1"/>
          </p:cNvSpPr>
          <p:nvPr>
            <p:ph type="title"/>
          </p:nvPr>
        </p:nvSpPr>
        <p:spPr>
          <a:xfrm>
            <a:off x="914400" y="-254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9.3.1  </a:t>
            </a:r>
            <a:r>
              <a:rPr lang="zh-CN" altLang="en-US" sz="3200" dirty="0"/>
              <a:t>关系代数的等价变换规则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0963" name="Rectangle 2"/>
          <p:cNvSpPr>
            <a:spLocks noGrp="1"/>
          </p:cNvSpPr>
          <p:nvPr>
            <p:ph idx="1"/>
          </p:nvPr>
        </p:nvSpPr>
        <p:spPr>
          <a:xfrm>
            <a:off x="457200" y="914400"/>
            <a:ext cx="8153400" cy="53340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dirty="0"/>
              <a:t>4. </a:t>
            </a:r>
            <a:r>
              <a:rPr lang="zh-CN" altLang="en-US" dirty="0"/>
              <a:t>选择的串接定律</a:t>
            </a:r>
            <a:endParaRPr lang="zh-CN" altLang="en-US" dirty="0"/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sz="2800" dirty="0">
                <a:solidFill>
                  <a:schemeClr val="tx1"/>
                </a:solidFill>
              </a:rPr>
              <a:t>б</a:t>
            </a:r>
            <a:r>
              <a:rPr lang="en-US" altLang="zh-CN" sz="2800" baseline="-25000" dirty="0">
                <a:solidFill>
                  <a:schemeClr val="tx1"/>
                </a:solidFill>
              </a:rPr>
              <a:t>F1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（ </a:t>
            </a:r>
            <a:r>
              <a:rPr lang="en-US" altLang="zh-CN" sz="2800" dirty="0">
                <a:solidFill>
                  <a:schemeClr val="tx1"/>
                </a:solidFill>
              </a:rPr>
              <a:t>б</a:t>
            </a:r>
            <a:r>
              <a:rPr lang="en-US" altLang="zh-CN" sz="2800" b="0" dirty="0">
                <a:solidFill>
                  <a:schemeClr val="tx1"/>
                </a:solidFill>
              </a:rPr>
              <a:t> </a:t>
            </a:r>
            <a:r>
              <a:rPr lang="en-US" altLang="zh-CN" sz="2800" baseline="-25000" dirty="0">
                <a:solidFill>
                  <a:schemeClr val="tx1"/>
                </a:solidFill>
              </a:rPr>
              <a:t>F2</a:t>
            </a:r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chemeClr val="tx1"/>
                </a:solidFill>
              </a:rPr>
              <a:t>E</a:t>
            </a:r>
            <a:r>
              <a:rPr lang="zh-CN" altLang="en-US" dirty="0">
                <a:solidFill>
                  <a:schemeClr val="tx1"/>
                </a:solidFill>
              </a:rPr>
              <a:t>））≡ </a:t>
            </a:r>
            <a:r>
              <a:rPr lang="en-US" altLang="zh-CN" sz="2800" dirty="0">
                <a:solidFill>
                  <a:schemeClr val="tx1"/>
                </a:solidFill>
              </a:rPr>
              <a:t>б</a:t>
            </a:r>
            <a:r>
              <a:rPr lang="en-US" altLang="zh-CN" sz="2800" baseline="-25000" dirty="0">
                <a:solidFill>
                  <a:schemeClr val="tx1"/>
                </a:solidFill>
              </a:rPr>
              <a:t>F1∧ F2</a:t>
            </a:r>
            <a:r>
              <a:rPr lang="en-US" altLang="zh-CN" dirty="0">
                <a:solidFill>
                  <a:schemeClr val="tx1"/>
                </a:solidFill>
              </a:rPr>
              <a:t>(E)</a:t>
            </a:r>
            <a:endParaRPr lang="en-US" altLang="zh-CN" dirty="0">
              <a:solidFill>
                <a:schemeClr val="tx1"/>
              </a:solidFill>
            </a:endParaRPr>
          </a:p>
          <a:p>
            <a:pPr lvl="1" algn="just" eaLnBrk="1" hangingPunct="1">
              <a:lnSpc>
                <a:spcPct val="160000"/>
              </a:lnSpc>
            </a:pPr>
            <a:r>
              <a:rPr lang="zh-CN" altLang="en-US" dirty="0"/>
              <a:t>选择的串接律说明   选择条件可以合并</a:t>
            </a:r>
            <a:endParaRPr lang="zh-CN" altLang="en-US" dirty="0"/>
          </a:p>
          <a:p>
            <a:pPr lvl="1" algn="just" eaLnBrk="1" hangingPunct="1">
              <a:lnSpc>
                <a:spcPct val="160000"/>
              </a:lnSpc>
            </a:pPr>
            <a:r>
              <a:rPr lang="zh-CN" altLang="en-US" dirty="0"/>
              <a:t>这样一次就可检查全部条件。 </a:t>
            </a:r>
            <a:endParaRPr lang="zh-CN" altLang="en-US" dirty="0"/>
          </a:p>
        </p:txBody>
      </p:sp>
      <p:sp>
        <p:nvSpPr>
          <p:cNvPr id="40964" name="Rectangle 3"/>
          <p:cNvSpPr>
            <a:spLocks noGrp="1"/>
          </p:cNvSpPr>
          <p:nvPr>
            <p:ph type="title"/>
          </p:nvPr>
        </p:nvSpPr>
        <p:spPr>
          <a:xfrm>
            <a:off x="914400" y="-254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9.3.1  </a:t>
            </a:r>
            <a:r>
              <a:rPr lang="zh-CN" altLang="en-US" sz="3200" dirty="0"/>
              <a:t>关系代数的等价变换规则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1987" name="Rectangle 2"/>
          <p:cNvSpPr>
            <a:spLocks noGrp="1"/>
          </p:cNvSpPr>
          <p:nvPr>
            <p:ph idx="1"/>
          </p:nvPr>
        </p:nvSpPr>
        <p:spPr>
          <a:xfrm>
            <a:off x="457200" y="914400"/>
            <a:ext cx="8153400" cy="53340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buNone/>
            </a:pPr>
            <a:r>
              <a:rPr lang="en-US" altLang="zh-CN" dirty="0"/>
              <a:t>5. </a:t>
            </a:r>
            <a:r>
              <a:rPr lang="zh-CN" altLang="en-US" dirty="0"/>
              <a:t>选择与投影的交换律</a:t>
            </a:r>
            <a:endParaRPr lang="zh-CN" altLang="en-US" sz="2800" dirty="0"/>
          </a:p>
          <a:p>
            <a:pPr algn="just" eaLnBrk="1" hangingPunct="1">
              <a:lnSpc>
                <a:spcPct val="17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(1)</a:t>
            </a:r>
            <a:r>
              <a:rPr lang="zh-CN" altLang="en-US" sz="2800" dirty="0">
                <a:solidFill>
                  <a:schemeClr val="tx1"/>
                </a:solidFill>
              </a:rPr>
              <a:t>假设</a:t>
            </a:r>
            <a:r>
              <a:rPr lang="en-US" altLang="zh-CN" sz="2800" dirty="0">
                <a:solidFill>
                  <a:schemeClr val="tx1"/>
                </a:solidFill>
              </a:rPr>
              <a:t>: </a:t>
            </a:r>
            <a:r>
              <a:rPr lang="zh-CN" altLang="en-US" sz="2800" dirty="0">
                <a:solidFill>
                  <a:schemeClr val="tx1"/>
                </a:solidFill>
              </a:rPr>
              <a:t>选择条件</a:t>
            </a:r>
            <a:r>
              <a:rPr lang="en-US" altLang="zh-CN" sz="2800" dirty="0">
                <a:solidFill>
                  <a:schemeClr val="tx1"/>
                </a:solidFill>
              </a:rPr>
              <a:t>F</a:t>
            </a:r>
            <a:r>
              <a:rPr lang="zh-CN" altLang="en-US" sz="2800" dirty="0">
                <a:solidFill>
                  <a:schemeClr val="tx1"/>
                </a:solidFill>
              </a:rPr>
              <a:t>只涉及属性</a:t>
            </a:r>
            <a:r>
              <a:rPr lang="en-US" altLang="zh-CN" sz="2800" dirty="0">
                <a:solidFill>
                  <a:schemeClr val="tx1"/>
                </a:solidFill>
              </a:rPr>
              <a:t>A1</a:t>
            </a:r>
            <a:r>
              <a:rPr lang="zh-CN" altLang="en-US" sz="2800" dirty="0">
                <a:solidFill>
                  <a:schemeClr val="tx1"/>
                </a:solidFill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  <a:latin typeface="Courier New" panose="02070309020205020404" pitchFamily="49" charset="0"/>
              </a:rPr>
              <a:t>…</a:t>
            </a:r>
            <a:r>
              <a:rPr lang="zh-CN" altLang="en-US" sz="2800" dirty="0">
                <a:solidFill>
                  <a:schemeClr val="tx1"/>
                </a:solidFill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</a:rPr>
              <a:t>An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1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    б</a:t>
            </a:r>
            <a:r>
              <a:rPr lang="en-US" altLang="zh-CN" sz="2800" baseline="-25000" dirty="0">
                <a:solidFill>
                  <a:schemeClr val="tx1"/>
                </a:solidFill>
              </a:rPr>
              <a:t>F</a:t>
            </a:r>
            <a:r>
              <a:rPr lang="en-US" altLang="zh-CN" sz="2800" dirty="0">
                <a:solidFill>
                  <a:schemeClr val="tx1"/>
                </a:solidFill>
              </a:rPr>
              <a:t> (</a:t>
            </a:r>
            <a:r>
              <a:rPr lang="en-US" altLang="zh-CN" dirty="0">
                <a:solidFill>
                  <a:schemeClr val="tx1"/>
                </a:solidFill>
              </a:rPr>
              <a:t>π</a:t>
            </a:r>
            <a:r>
              <a:rPr lang="en-US" altLang="zh-CN" sz="2800" baseline="-25000" dirty="0">
                <a:solidFill>
                  <a:schemeClr val="tx1"/>
                </a:solidFill>
              </a:rPr>
              <a:t>A1,A2, </a:t>
            </a:r>
            <a:r>
              <a:rPr lang="en-US" altLang="zh-CN" sz="2800" baseline="-25000" dirty="0">
                <a:solidFill>
                  <a:schemeClr val="tx1"/>
                </a:solidFill>
                <a:sym typeface="MT Extra" panose="05050102010205020202" pitchFamily="18" charset="2"/>
              </a:rPr>
              <a:t></a:t>
            </a:r>
            <a:r>
              <a:rPr lang="en-US" altLang="zh-CN" sz="2800" baseline="-25000" dirty="0">
                <a:solidFill>
                  <a:schemeClr val="tx1"/>
                </a:solidFill>
              </a:rPr>
              <a:t>,An</a:t>
            </a:r>
            <a:r>
              <a:rPr lang="en-US" altLang="zh-CN" sz="2000" i="1" dirty="0">
                <a:solidFill>
                  <a:schemeClr val="tx1"/>
                </a:solidFill>
              </a:rPr>
              <a:t>(</a:t>
            </a:r>
            <a:r>
              <a:rPr lang="en-US" altLang="zh-CN" sz="2800" dirty="0">
                <a:solidFill>
                  <a:schemeClr val="tx1"/>
                </a:solidFill>
              </a:rPr>
              <a:t>E))≡ </a:t>
            </a:r>
            <a:r>
              <a:rPr lang="en-US" altLang="zh-CN" dirty="0">
                <a:solidFill>
                  <a:schemeClr val="tx1"/>
                </a:solidFill>
              </a:rPr>
              <a:t>π</a:t>
            </a:r>
            <a:r>
              <a:rPr lang="en-US" altLang="zh-CN" sz="2800" baseline="-25000" dirty="0">
                <a:solidFill>
                  <a:schemeClr val="tx1"/>
                </a:solidFill>
              </a:rPr>
              <a:t>A1,A2, </a:t>
            </a:r>
            <a:r>
              <a:rPr lang="en-US" altLang="zh-CN" sz="2800" baseline="-25000" dirty="0">
                <a:solidFill>
                  <a:schemeClr val="tx1"/>
                </a:solidFill>
                <a:sym typeface="MT Extra" panose="05050102010205020202" pitchFamily="18" charset="2"/>
              </a:rPr>
              <a:t></a:t>
            </a:r>
            <a:r>
              <a:rPr lang="en-US" altLang="zh-CN" sz="2800" baseline="-25000" dirty="0">
                <a:solidFill>
                  <a:schemeClr val="tx1"/>
                </a:solidFill>
              </a:rPr>
              <a:t>,An</a:t>
            </a:r>
            <a:r>
              <a:rPr lang="en-US" altLang="zh-CN" sz="2800" dirty="0">
                <a:solidFill>
                  <a:schemeClr val="tx1"/>
                </a:solidFill>
              </a:rPr>
              <a:t>(б</a:t>
            </a:r>
            <a:r>
              <a:rPr lang="en-US" altLang="zh-CN" sz="2800" baseline="-25000" dirty="0">
                <a:solidFill>
                  <a:schemeClr val="tx1"/>
                </a:solidFill>
              </a:rPr>
              <a:t>F</a:t>
            </a:r>
            <a:r>
              <a:rPr lang="en-US" altLang="zh-CN" sz="2800" dirty="0">
                <a:solidFill>
                  <a:schemeClr val="tx1"/>
                </a:solidFill>
              </a:rPr>
              <a:t>(E))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1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  <a:latin typeface="Courier New" panose="02070309020205020404" pitchFamily="49" charset="0"/>
              </a:rPr>
              <a:t> 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1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(2)</a:t>
            </a:r>
            <a:r>
              <a:rPr lang="zh-CN" altLang="en-US" sz="2800" dirty="0">
                <a:solidFill>
                  <a:schemeClr val="tx1"/>
                </a:solidFill>
              </a:rPr>
              <a:t>假设</a:t>
            </a:r>
            <a:r>
              <a:rPr lang="en-US" altLang="zh-CN" sz="2800" dirty="0">
                <a:solidFill>
                  <a:schemeClr val="tx1"/>
                </a:solidFill>
              </a:rPr>
              <a:t>: F</a:t>
            </a:r>
            <a:r>
              <a:rPr lang="zh-CN" altLang="en-US" sz="2800" dirty="0">
                <a:solidFill>
                  <a:schemeClr val="tx1"/>
                </a:solidFill>
              </a:rPr>
              <a:t>中有不属于</a:t>
            </a:r>
            <a:r>
              <a:rPr lang="en-US" altLang="zh-CN" sz="2800" dirty="0">
                <a:solidFill>
                  <a:schemeClr val="tx1"/>
                </a:solidFill>
              </a:rPr>
              <a:t>A1, </a:t>
            </a:r>
            <a:r>
              <a:rPr lang="en-US" altLang="zh-CN" sz="2800" dirty="0">
                <a:solidFill>
                  <a:schemeClr val="tx1"/>
                </a:solidFill>
                <a:latin typeface="Courier New" panose="02070309020205020404" pitchFamily="49" charset="0"/>
              </a:rPr>
              <a:t>…</a:t>
            </a:r>
            <a:r>
              <a:rPr lang="en-US" altLang="zh-CN" sz="2800" dirty="0">
                <a:solidFill>
                  <a:schemeClr val="tx1"/>
                </a:solidFill>
              </a:rPr>
              <a:t>,An</a:t>
            </a:r>
            <a:r>
              <a:rPr lang="zh-CN" altLang="en-US" sz="2800" dirty="0">
                <a:solidFill>
                  <a:schemeClr val="tx1"/>
                </a:solidFill>
              </a:rPr>
              <a:t>的属性</a:t>
            </a:r>
            <a:r>
              <a:rPr lang="en-US" altLang="zh-CN" sz="2800" dirty="0">
                <a:solidFill>
                  <a:schemeClr val="tx1"/>
                </a:solidFill>
              </a:rPr>
              <a:t>B1,</a:t>
            </a:r>
            <a:r>
              <a:rPr lang="en-US" altLang="zh-CN" sz="2800" dirty="0">
                <a:solidFill>
                  <a:schemeClr val="tx1"/>
                </a:solidFill>
                <a:latin typeface="Courier New" panose="02070309020205020404" pitchFamily="49" charset="0"/>
              </a:rPr>
              <a:t>…</a:t>
            </a:r>
            <a:r>
              <a:rPr lang="en-US" altLang="zh-CN" sz="2800" dirty="0">
                <a:solidFill>
                  <a:schemeClr val="tx1"/>
                </a:solidFill>
              </a:rPr>
              <a:t>,Bm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1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    π</a:t>
            </a:r>
            <a:r>
              <a:rPr lang="en-US" altLang="zh-CN" sz="2800" dirty="0">
                <a:solidFill>
                  <a:schemeClr val="tx1"/>
                </a:solidFill>
              </a:rPr>
              <a:t> </a:t>
            </a:r>
            <a:r>
              <a:rPr lang="en-US" altLang="zh-CN" sz="2800" baseline="-25000" dirty="0">
                <a:solidFill>
                  <a:schemeClr val="tx1"/>
                </a:solidFill>
              </a:rPr>
              <a:t>A1,A2, </a:t>
            </a:r>
            <a:r>
              <a:rPr lang="en-US" altLang="zh-CN" sz="2800" baseline="-25000" dirty="0">
                <a:solidFill>
                  <a:schemeClr val="tx1"/>
                </a:solidFill>
                <a:sym typeface="MT Extra" panose="05050102010205020202" pitchFamily="18" charset="2"/>
              </a:rPr>
              <a:t></a:t>
            </a:r>
            <a:r>
              <a:rPr lang="en-US" altLang="zh-CN" sz="2800" baseline="-25000" dirty="0">
                <a:solidFill>
                  <a:schemeClr val="tx1"/>
                </a:solidFill>
              </a:rPr>
              <a:t>,An</a:t>
            </a:r>
            <a:r>
              <a:rPr lang="en-US" altLang="zh-CN" sz="2000" i="1" dirty="0">
                <a:solidFill>
                  <a:schemeClr val="tx1"/>
                </a:solidFill>
              </a:rPr>
              <a:t> </a:t>
            </a:r>
            <a:r>
              <a:rPr lang="en-US" altLang="zh-CN" sz="2800" dirty="0">
                <a:solidFill>
                  <a:schemeClr val="tx1"/>
                </a:solidFill>
              </a:rPr>
              <a:t>(</a:t>
            </a:r>
            <a:r>
              <a:rPr lang="en-US" altLang="zh-CN" sz="2000" i="1" dirty="0">
                <a:solidFill>
                  <a:schemeClr val="tx1"/>
                </a:solidFill>
              </a:rPr>
              <a:t> </a:t>
            </a:r>
            <a:r>
              <a:rPr lang="en-US" altLang="zh-CN" sz="2800" dirty="0">
                <a:solidFill>
                  <a:schemeClr val="tx1"/>
                </a:solidFill>
              </a:rPr>
              <a:t>б</a:t>
            </a:r>
            <a:r>
              <a:rPr lang="en-US" altLang="zh-CN" sz="2800" baseline="-25000" dirty="0">
                <a:solidFill>
                  <a:schemeClr val="tx1"/>
                </a:solidFill>
              </a:rPr>
              <a:t>F</a:t>
            </a:r>
            <a:r>
              <a:rPr lang="en-US" altLang="zh-CN" sz="2800" dirty="0">
                <a:solidFill>
                  <a:schemeClr val="tx1"/>
                </a:solidFill>
              </a:rPr>
              <a:t> </a:t>
            </a:r>
            <a:r>
              <a:rPr lang="en-US" altLang="zh-CN" sz="2000" i="1" dirty="0">
                <a:solidFill>
                  <a:schemeClr val="tx1"/>
                </a:solidFill>
              </a:rPr>
              <a:t>(</a:t>
            </a:r>
            <a:r>
              <a:rPr lang="en-US" altLang="zh-CN" sz="2800" dirty="0">
                <a:solidFill>
                  <a:schemeClr val="tx1"/>
                </a:solidFill>
              </a:rPr>
              <a:t>E))≡ 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1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	       </a:t>
            </a:r>
            <a:r>
              <a:rPr lang="en-US" altLang="zh-CN" dirty="0">
                <a:solidFill>
                  <a:schemeClr val="tx1"/>
                </a:solidFill>
              </a:rPr>
              <a:t>π</a:t>
            </a:r>
            <a:r>
              <a:rPr lang="en-US" altLang="zh-CN" sz="2800" baseline="-25000" dirty="0">
                <a:solidFill>
                  <a:schemeClr val="tx1"/>
                </a:solidFill>
              </a:rPr>
              <a:t>A1,A2, </a:t>
            </a:r>
            <a:r>
              <a:rPr lang="en-US" altLang="zh-CN" sz="2800" baseline="-25000" dirty="0">
                <a:solidFill>
                  <a:schemeClr val="tx1"/>
                </a:solidFill>
                <a:sym typeface="MT Extra" panose="05050102010205020202" pitchFamily="18" charset="2"/>
              </a:rPr>
              <a:t></a:t>
            </a:r>
            <a:r>
              <a:rPr lang="en-US" altLang="zh-CN" sz="2800" baseline="-25000" dirty="0">
                <a:solidFill>
                  <a:schemeClr val="tx1"/>
                </a:solidFill>
              </a:rPr>
              <a:t>,An</a:t>
            </a:r>
            <a:r>
              <a:rPr lang="en-US" altLang="zh-CN" sz="2800" dirty="0">
                <a:solidFill>
                  <a:schemeClr val="tx1"/>
                </a:solidFill>
              </a:rPr>
              <a:t>(б</a:t>
            </a:r>
            <a:r>
              <a:rPr lang="en-US" altLang="zh-CN" sz="2800" baseline="-25000" dirty="0">
                <a:solidFill>
                  <a:schemeClr val="tx1"/>
                </a:solidFill>
              </a:rPr>
              <a:t>F</a:t>
            </a:r>
            <a:r>
              <a:rPr lang="en-US" altLang="zh-CN" sz="2400" i="1" dirty="0">
                <a:solidFill>
                  <a:schemeClr val="tx1"/>
                </a:solidFill>
              </a:rPr>
              <a:t> </a:t>
            </a:r>
            <a:r>
              <a:rPr lang="en-US" altLang="zh-CN" sz="2800" dirty="0">
                <a:solidFill>
                  <a:schemeClr val="tx1"/>
                </a:solidFill>
              </a:rPr>
              <a:t>(</a:t>
            </a:r>
            <a:r>
              <a:rPr lang="en-US" altLang="zh-CN" dirty="0">
                <a:solidFill>
                  <a:schemeClr val="tx1"/>
                </a:solidFill>
              </a:rPr>
              <a:t>π</a:t>
            </a:r>
            <a:r>
              <a:rPr lang="en-US" altLang="zh-CN" sz="2800" baseline="-25000" dirty="0">
                <a:solidFill>
                  <a:schemeClr val="tx1"/>
                </a:solidFill>
              </a:rPr>
              <a:t>A1,A2, </a:t>
            </a:r>
            <a:r>
              <a:rPr lang="en-US" altLang="zh-CN" sz="2800" baseline="-25000" dirty="0">
                <a:solidFill>
                  <a:schemeClr val="tx1"/>
                </a:solidFill>
                <a:sym typeface="MT Extra" panose="05050102010205020202" pitchFamily="18" charset="2"/>
              </a:rPr>
              <a:t></a:t>
            </a:r>
            <a:r>
              <a:rPr lang="en-US" altLang="zh-CN" sz="2800" baseline="-25000" dirty="0">
                <a:solidFill>
                  <a:schemeClr val="tx1"/>
                </a:solidFill>
              </a:rPr>
              <a:t>,An,B1,B2, </a:t>
            </a:r>
            <a:r>
              <a:rPr lang="en-US" altLang="zh-CN" sz="2800" baseline="-25000" dirty="0">
                <a:solidFill>
                  <a:schemeClr val="tx1"/>
                </a:solidFill>
                <a:sym typeface="MT Extra" panose="05050102010205020202" pitchFamily="18" charset="2"/>
              </a:rPr>
              <a:t></a:t>
            </a:r>
            <a:r>
              <a:rPr lang="en-US" altLang="zh-CN" sz="2800" baseline="-25000" dirty="0">
                <a:solidFill>
                  <a:schemeClr val="tx1"/>
                </a:solidFill>
              </a:rPr>
              <a:t>,Bm</a:t>
            </a:r>
            <a:r>
              <a:rPr lang="en-US" altLang="zh-CN" sz="2800" dirty="0">
                <a:solidFill>
                  <a:schemeClr val="tx1"/>
                </a:solidFill>
              </a:rPr>
              <a:t>(E)))</a:t>
            </a:r>
            <a:endParaRPr lang="en-US" altLang="zh-CN" sz="2800" dirty="0">
              <a:solidFill>
                <a:schemeClr val="tx1"/>
              </a:solidFill>
            </a:endParaRPr>
          </a:p>
        </p:txBody>
      </p:sp>
      <p:sp>
        <p:nvSpPr>
          <p:cNvPr id="41988" name="Rectangle 3"/>
          <p:cNvSpPr>
            <a:spLocks noGrp="1"/>
          </p:cNvSpPr>
          <p:nvPr>
            <p:ph type="title"/>
          </p:nvPr>
        </p:nvSpPr>
        <p:spPr>
          <a:xfrm>
            <a:off x="914400" y="-254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9.3.1  </a:t>
            </a:r>
            <a:r>
              <a:rPr lang="zh-CN" altLang="en-US" sz="3200" dirty="0"/>
              <a:t>关系代数的等价变换规则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3011" name="Rectangle 2"/>
          <p:cNvSpPr>
            <a:spLocks noGrp="1"/>
          </p:cNvSpPr>
          <p:nvPr>
            <p:ph idx="1"/>
          </p:nvPr>
        </p:nvSpPr>
        <p:spPr>
          <a:xfrm>
            <a:off x="457200" y="914400"/>
            <a:ext cx="8382000" cy="57150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sz="2800" dirty="0"/>
              <a:t>6. </a:t>
            </a:r>
            <a:r>
              <a:rPr lang="zh-CN" altLang="en-US" sz="2800" dirty="0"/>
              <a:t>选择与笛卡尔积的交换律</a:t>
            </a:r>
            <a:endParaRPr lang="zh-CN" altLang="en-US" sz="2400" dirty="0"/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(1)</a:t>
            </a:r>
            <a:r>
              <a:rPr lang="zh-CN" altLang="en-US" sz="2400" dirty="0">
                <a:solidFill>
                  <a:schemeClr val="tx1"/>
                </a:solidFill>
              </a:rPr>
              <a:t>假设：</a:t>
            </a:r>
            <a:r>
              <a:rPr lang="en-US" altLang="zh-CN" sz="2400" dirty="0">
                <a:solidFill>
                  <a:schemeClr val="tx1"/>
                </a:solidFill>
              </a:rPr>
              <a:t>F</a:t>
            </a:r>
            <a:r>
              <a:rPr lang="zh-CN" altLang="en-US" sz="2400" dirty="0">
                <a:solidFill>
                  <a:schemeClr val="tx1"/>
                </a:solidFill>
              </a:rPr>
              <a:t>中涉及的属性都是</a:t>
            </a:r>
            <a:r>
              <a:rPr lang="en-US" altLang="zh-CN" sz="2400" dirty="0">
                <a:solidFill>
                  <a:schemeClr val="tx1"/>
                </a:solidFill>
              </a:rPr>
              <a:t>E1</a:t>
            </a:r>
            <a:r>
              <a:rPr lang="zh-CN" altLang="en-US" sz="2400" dirty="0">
                <a:solidFill>
                  <a:schemeClr val="tx1"/>
                </a:solidFill>
              </a:rPr>
              <a:t>中的属性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 	      </a:t>
            </a:r>
            <a:r>
              <a:rPr lang="en-US" altLang="zh-CN" sz="2400" dirty="0">
                <a:solidFill>
                  <a:schemeClr val="tx1"/>
                </a:solidFill>
              </a:rPr>
              <a:t>б</a:t>
            </a:r>
            <a:r>
              <a:rPr lang="en-US" altLang="zh-CN" sz="2400" baseline="-25000" dirty="0">
                <a:solidFill>
                  <a:schemeClr val="tx1"/>
                </a:solidFill>
              </a:rPr>
              <a:t>F</a:t>
            </a:r>
            <a:r>
              <a:rPr lang="en-US" altLang="zh-CN" sz="2400" dirty="0">
                <a:solidFill>
                  <a:schemeClr val="tx1"/>
                </a:solidFill>
              </a:rPr>
              <a:t> (E1×E2)≡б</a:t>
            </a:r>
            <a:r>
              <a:rPr lang="en-US" altLang="zh-CN" sz="2400" baseline="-25000" dirty="0">
                <a:solidFill>
                  <a:schemeClr val="tx1"/>
                </a:solidFill>
              </a:rPr>
              <a:t>F</a:t>
            </a:r>
            <a:r>
              <a:rPr lang="en-US" altLang="zh-CN" sz="2400" dirty="0">
                <a:solidFill>
                  <a:schemeClr val="tx1"/>
                </a:solidFill>
              </a:rPr>
              <a:t> (E1)×E2</a:t>
            </a:r>
            <a:r>
              <a:rPr lang="en-US" altLang="zh-CN" sz="2400" dirty="0">
                <a:solidFill>
                  <a:schemeClr val="tx1"/>
                </a:solidFill>
                <a:latin typeface="Courier New" panose="02070309020205020404" pitchFamily="49" charset="0"/>
              </a:rPr>
              <a:t> 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(2)</a:t>
            </a:r>
            <a:r>
              <a:rPr lang="zh-CN" altLang="en-US" sz="2400" dirty="0">
                <a:solidFill>
                  <a:schemeClr val="tx1"/>
                </a:solidFill>
              </a:rPr>
              <a:t>假设：</a:t>
            </a:r>
            <a:r>
              <a:rPr lang="en-US" altLang="zh-CN" sz="2400" dirty="0">
                <a:solidFill>
                  <a:schemeClr val="tx1"/>
                </a:solidFill>
              </a:rPr>
              <a:t>F=F1∧F2</a:t>
            </a:r>
            <a:r>
              <a:rPr lang="zh-CN" altLang="en-US" sz="2400" dirty="0">
                <a:solidFill>
                  <a:schemeClr val="tx1"/>
                </a:solidFill>
              </a:rPr>
              <a:t>，并且</a:t>
            </a:r>
            <a:r>
              <a:rPr lang="en-US" altLang="zh-CN" sz="2400" dirty="0">
                <a:solidFill>
                  <a:schemeClr val="tx1"/>
                </a:solidFill>
              </a:rPr>
              <a:t>F1</a:t>
            </a:r>
            <a:r>
              <a:rPr lang="zh-CN" altLang="en-US" sz="2400" dirty="0">
                <a:solidFill>
                  <a:schemeClr val="tx1"/>
                </a:solidFill>
              </a:rPr>
              <a:t>只涉及</a:t>
            </a:r>
            <a:r>
              <a:rPr lang="en-US" altLang="zh-CN" sz="2400" dirty="0">
                <a:solidFill>
                  <a:schemeClr val="tx1"/>
                </a:solidFill>
              </a:rPr>
              <a:t>E1</a:t>
            </a:r>
            <a:r>
              <a:rPr lang="zh-CN" altLang="en-US" sz="2400" dirty="0">
                <a:solidFill>
                  <a:schemeClr val="tx1"/>
                </a:solidFill>
              </a:rPr>
              <a:t>中的属性，</a:t>
            </a:r>
            <a:r>
              <a:rPr lang="en-US" altLang="zh-CN" sz="2400" dirty="0">
                <a:solidFill>
                  <a:schemeClr val="tx1"/>
                </a:solidFill>
              </a:rPr>
              <a:t>F2</a:t>
            </a:r>
            <a:r>
              <a:rPr lang="zh-CN" altLang="en-US" sz="2400" dirty="0">
                <a:solidFill>
                  <a:schemeClr val="tx1"/>
                </a:solidFill>
              </a:rPr>
              <a:t>只涉及</a:t>
            </a:r>
            <a:r>
              <a:rPr lang="en-US" altLang="zh-CN" sz="2400" dirty="0">
                <a:solidFill>
                  <a:schemeClr val="tx1"/>
                </a:solidFill>
              </a:rPr>
              <a:t>E2</a:t>
            </a:r>
            <a:r>
              <a:rPr lang="zh-CN" altLang="en-US" sz="2400" dirty="0">
                <a:solidFill>
                  <a:schemeClr val="tx1"/>
                </a:solidFill>
              </a:rPr>
              <a:t>中的属性</a:t>
            </a:r>
            <a:r>
              <a:rPr lang="en-US" altLang="zh-CN" sz="2400" dirty="0">
                <a:solidFill>
                  <a:schemeClr val="tx1"/>
                </a:solidFill>
              </a:rPr>
              <a:t>,</a:t>
            </a:r>
            <a:r>
              <a:rPr lang="zh-CN" altLang="en-US" sz="2400" dirty="0">
                <a:solidFill>
                  <a:schemeClr val="tx1"/>
                </a:solidFill>
              </a:rPr>
              <a:t>则由上面的等价变换规则</a:t>
            </a:r>
            <a:r>
              <a:rPr lang="en-US" altLang="zh-CN" sz="2400" dirty="0">
                <a:solidFill>
                  <a:schemeClr val="tx1"/>
                </a:solidFill>
              </a:rPr>
              <a:t>1</a:t>
            </a:r>
            <a:r>
              <a:rPr lang="zh-CN" altLang="en-US" sz="2400" dirty="0">
                <a:solidFill>
                  <a:schemeClr val="tx1"/>
                </a:solidFill>
              </a:rPr>
              <a:t>，</a:t>
            </a:r>
            <a:r>
              <a:rPr lang="en-US" altLang="zh-CN" sz="2400" dirty="0">
                <a:solidFill>
                  <a:schemeClr val="tx1"/>
                </a:solidFill>
              </a:rPr>
              <a:t>4</a:t>
            </a:r>
            <a:r>
              <a:rPr lang="zh-CN" altLang="en-US" sz="2400" dirty="0">
                <a:solidFill>
                  <a:schemeClr val="tx1"/>
                </a:solidFill>
              </a:rPr>
              <a:t>，</a:t>
            </a:r>
            <a:r>
              <a:rPr lang="en-US" altLang="zh-CN" sz="2400" dirty="0">
                <a:solidFill>
                  <a:schemeClr val="tx1"/>
                </a:solidFill>
              </a:rPr>
              <a:t>6</a:t>
            </a:r>
            <a:r>
              <a:rPr lang="zh-CN" altLang="en-US" sz="2400" dirty="0">
                <a:solidFill>
                  <a:schemeClr val="tx1"/>
                </a:solidFill>
              </a:rPr>
              <a:t>可推出：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       	</a:t>
            </a:r>
            <a:r>
              <a:rPr lang="en-US" altLang="zh-CN" sz="2400" dirty="0">
                <a:solidFill>
                  <a:schemeClr val="tx1"/>
                </a:solidFill>
              </a:rPr>
              <a:t>б</a:t>
            </a:r>
            <a:r>
              <a:rPr lang="en-US" altLang="zh-CN" sz="2400" baseline="-25000" dirty="0">
                <a:solidFill>
                  <a:schemeClr val="tx1"/>
                </a:solidFill>
              </a:rPr>
              <a:t>F</a:t>
            </a:r>
            <a:r>
              <a:rPr lang="en-US" altLang="zh-CN" sz="2400" dirty="0">
                <a:solidFill>
                  <a:schemeClr val="tx1"/>
                </a:solidFill>
              </a:rPr>
              <a:t>(E1×E2) ≡б</a:t>
            </a:r>
            <a:r>
              <a:rPr lang="en-US" altLang="zh-CN" sz="2400" baseline="-25000" dirty="0">
                <a:solidFill>
                  <a:schemeClr val="tx1"/>
                </a:solidFill>
              </a:rPr>
              <a:t> F1</a:t>
            </a:r>
            <a:r>
              <a:rPr lang="en-US" altLang="zh-CN" sz="2400" dirty="0">
                <a:solidFill>
                  <a:schemeClr val="tx1"/>
                </a:solidFill>
              </a:rPr>
              <a:t>(E1)×б</a:t>
            </a:r>
            <a:r>
              <a:rPr lang="en-US" altLang="zh-CN" sz="2400" baseline="-25000" dirty="0">
                <a:solidFill>
                  <a:schemeClr val="tx1"/>
                </a:solidFill>
              </a:rPr>
              <a:t>F2</a:t>
            </a:r>
            <a:r>
              <a:rPr lang="en-US" altLang="zh-CN" sz="2400" dirty="0">
                <a:solidFill>
                  <a:schemeClr val="tx1"/>
                </a:solidFill>
              </a:rPr>
              <a:t> (E2)</a:t>
            </a:r>
            <a:r>
              <a:rPr lang="en-US" altLang="zh-CN" sz="2400" dirty="0">
                <a:solidFill>
                  <a:schemeClr val="tx1"/>
                </a:solidFill>
                <a:latin typeface="Courier New" panose="02070309020205020404" pitchFamily="49" charset="0"/>
              </a:rPr>
              <a:t> 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(3) </a:t>
            </a:r>
            <a:r>
              <a:rPr lang="zh-CN" altLang="en-US" sz="2400" dirty="0">
                <a:solidFill>
                  <a:schemeClr val="tx1"/>
                </a:solidFill>
              </a:rPr>
              <a:t>假设： </a:t>
            </a:r>
            <a:r>
              <a:rPr lang="en-US" altLang="zh-CN" sz="2400" dirty="0">
                <a:solidFill>
                  <a:schemeClr val="tx1"/>
                </a:solidFill>
              </a:rPr>
              <a:t>F=F1∧F2</a:t>
            </a:r>
            <a:r>
              <a:rPr lang="zh-CN" altLang="en-US" sz="2400" dirty="0">
                <a:solidFill>
                  <a:schemeClr val="tx1"/>
                </a:solidFill>
              </a:rPr>
              <a:t>，</a:t>
            </a:r>
            <a:r>
              <a:rPr lang="en-US" altLang="zh-CN" sz="2400" dirty="0">
                <a:solidFill>
                  <a:schemeClr val="tx1"/>
                </a:solidFill>
              </a:rPr>
              <a:t>F1</a:t>
            </a:r>
            <a:r>
              <a:rPr lang="zh-CN" altLang="en-US" sz="2400" dirty="0">
                <a:solidFill>
                  <a:schemeClr val="tx1"/>
                </a:solidFill>
              </a:rPr>
              <a:t>只涉及</a:t>
            </a:r>
            <a:r>
              <a:rPr lang="en-US" altLang="zh-CN" sz="2400" dirty="0">
                <a:solidFill>
                  <a:schemeClr val="tx1"/>
                </a:solidFill>
              </a:rPr>
              <a:t>E1</a:t>
            </a:r>
            <a:r>
              <a:rPr lang="zh-CN" altLang="en-US" sz="2400" dirty="0">
                <a:solidFill>
                  <a:schemeClr val="tx1"/>
                </a:solidFill>
              </a:rPr>
              <a:t>中的属性，</a:t>
            </a:r>
            <a:r>
              <a:rPr lang="en-US" altLang="zh-CN" sz="2400" dirty="0">
                <a:solidFill>
                  <a:schemeClr val="tx1"/>
                </a:solidFill>
              </a:rPr>
              <a:t>F2</a:t>
            </a:r>
            <a:r>
              <a:rPr lang="zh-CN" altLang="en-US" sz="2400" dirty="0">
                <a:solidFill>
                  <a:schemeClr val="tx1"/>
                </a:solidFill>
              </a:rPr>
              <a:t>涉及</a:t>
            </a:r>
            <a:r>
              <a:rPr lang="en-US" altLang="zh-CN" sz="2400" dirty="0">
                <a:solidFill>
                  <a:schemeClr val="tx1"/>
                </a:solidFill>
              </a:rPr>
              <a:t>E1</a:t>
            </a:r>
            <a:r>
              <a:rPr lang="zh-CN" altLang="en-US" sz="2400" dirty="0">
                <a:solidFill>
                  <a:schemeClr val="tx1"/>
                </a:solidFill>
              </a:rPr>
              <a:t>和</a:t>
            </a:r>
            <a:r>
              <a:rPr lang="en-US" altLang="zh-CN" sz="2400" dirty="0">
                <a:solidFill>
                  <a:schemeClr val="tx1"/>
                </a:solidFill>
              </a:rPr>
              <a:t>E2</a:t>
            </a:r>
            <a:r>
              <a:rPr lang="zh-CN" altLang="en-US" sz="2400" dirty="0">
                <a:solidFill>
                  <a:schemeClr val="tx1"/>
                </a:solidFill>
              </a:rPr>
              <a:t>两者的属性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	  </a:t>
            </a:r>
            <a:r>
              <a:rPr lang="en-US" altLang="zh-CN" sz="2400" dirty="0">
                <a:solidFill>
                  <a:schemeClr val="tx1"/>
                </a:solidFill>
              </a:rPr>
              <a:t>б</a:t>
            </a:r>
            <a:r>
              <a:rPr lang="en-US" altLang="zh-CN" sz="2400" baseline="-25000" dirty="0">
                <a:solidFill>
                  <a:schemeClr val="tx1"/>
                </a:solidFill>
              </a:rPr>
              <a:t>F</a:t>
            </a:r>
            <a:r>
              <a:rPr lang="en-US" altLang="zh-CN" sz="2400" dirty="0">
                <a:solidFill>
                  <a:schemeClr val="tx1"/>
                </a:solidFill>
              </a:rPr>
              <a:t>(E1×E2)≡б </a:t>
            </a:r>
            <a:r>
              <a:rPr lang="en-US" altLang="zh-CN" sz="2400" baseline="-25000" dirty="0">
                <a:solidFill>
                  <a:schemeClr val="tx1"/>
                </a:solidFill>
              </a:rPr>
              <a:t>F2</a:t>
            </a:r>
            <a:r>
              <a:rPr lang="en-US" altLang="zh-CN" sz="2400" dirty="0">
                <a:solidFill>
                  <a:schemeClr val="tx1"/>
                </a:solidFill>
              </a:rPr>
              <a:t>(б</a:t>
            </a:r>
            <a:r>
              <a:rPr lang="en-US" altLang="zh-CN" sz="2400" baseline="-25000" dirty="0">
                <a:solidFill>
                  <a:schemeClr val="tx1"/>
                </a:solidFill>
              </a:rPr>
              <a:t>F1</a:t>
            </a:r>
            <a:r>
              <a:rPr lang="en-US" altLang="zh-CN" sz="2400" dirty="0">
                <a:solidFill>
                  <a:schemeClr val="tx1"/>
                </a:solidFill>
              </a:rPr>
              <a:t>(E1)×E2)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sz="3600" dirty="0"/>
              <a:t>  </a:t>
            </a:r>
            <a:r>
              <a:rPr lang="zh-CN" altLang="en-US" sz="2400" dirty="0">
                <a:solidFill>
                  <a:schemeClr val="tx1"/>
                </a:solidFill>
              </a:rPr>
              <a:t>它使部分选择在笛卡尔积前先做 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43012" name="Rectangle 3"/>
          <p:cNvSpPr>
            <a:spLocks noGrp="1"/>
          </p:cNvSpPr>
          <p:nvPr>
            <p:ph type="title"/>
          </p:nvPr>
        </p:nvSpPr>
        <p:spPr>
          <a:xfrm>
            <a:off x="914400" y="-254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9.3.1  </a:t>
            </a:r>
            <a:r>
              <a:rPr lang="zh-CN" altLang="en-US" sz="3200" dirty="0"/>
              <a:t>关系代数的等价变换规则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4035" name="Rectangle 2"/>
          <p:cNvSpPr>
            <a:spLocks noGrp="1"/>
          </p:cNvSpPr>
          <p:nvPr>
            <p:ph idx="1"/>
          </p:nvPr>
        </p:nvSpPr>
        <p:spPr>
          <a:xfrm>
            <a:off x="457200" y="914400"/>
            <a:ext cx="8382000" cy="51816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buNone/>
            </a:pPr>
            <a:r>
              <a:rPr lang="en-US" altLang="zh-CN" sz="3600" dirty="0"/>
              <a:t>7. </a:t>
            </a:r>
            <a:r>
              <a:rPr lang="zh-CN" altLang="en-US" sz="3600" dirty="0"/>
              <a:t>选择与并的交换</a:t>
            </a:r>
            <a:r>
              <a:rPr lang="en-US" altLang="zh-CN" sz="3600" dirty="0"/>
              <a:t>(</a:t>
            </a:r>
            <a:r>
              <a:rPr lang="zh-CN" altLang="en-US" sz="3600" dirty="0"/>
              <a:t>分配律</a:t>
            </a:r>
            <a:r>
              <a:rPr lang="en-US" altLang="zh-CN" sz="3600" dirty="0"/>
              <a:t>)</a:t>
            </a:r>
            <a:endParaRPr lang="en-US" altLang="zh-CN" sz="3600" dirty="0"/>
          </a:p>
          <a:p>
            <a:pPr algn="just" eaLnBrk="1" hangingPunct="1">
              <a:buNone/>
            </a:pPr>
            <a:r>
              <a:rPr lang="en-US" altLang="zh-CN" dirty="0"/>
              <a:t>	</a:t>
            </a:r>
            <a:r>
              <a:rPr lang="zh-CN" altLang="en-US" dirty="0">
                <a:solidFill>
                  <a:schemeClr val="tx1"/>
                </a:solidFill>
              </a:rPr>
              <a:t>假设：</a:t>
            </a:r>
            <a:r>
              <a:rPr lang="en-US" altLang="zh-CN" dirty="0">
                <a:solidFill>
                  <a:schemeClr val="tx1"/>
                </a:solidFill>
              </a:rPr>
              <a:t>E=E1∪E2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E1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E2</a:t>
            </a:r>
            <a:r>
              <a:rPr lang="zh-CN" altLang="en-US" dirty="0">
                <a:solidFill>
                  <a:schemeClr val="tx1"/>
                </a:solidFill>
              </a:rPr>
              <a:t>有相同的属性名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buNone/>
            </a:pPr>
            <a:r>
              <a:rPr lang="zh-CN" altLang="en-US" dirty="0">
                <a:solidFill>
                  <a:schemeClr val="tx1"/>
                </a:solidFill>
              </a:rPr>
              <a:t>	</a:t>
            </a:r>
            <a:r>
              <a:rPr lang="en-US" altLang="zh-CN" dirty="0">
                <a:solidFill>
                  <a:schemeClr val="tx1"/>
                </a:solidFill>
              </a:rPr>
              <a:t>б</a:t>
            </a:r>
            <a:r>
              <a:rPr lang="en-US" altLang="zh-CN" baseline="-25000" dirty="0">
                <a:solidFill>
                  <a:schemeClr val="tx1"/>
                </a:solidFill>
              </a:rPr>
              <a:t>F</a:t>
            </a:r>
            <a:r>
              <a:rPr lang="en-US" altLang="zh-CN" dirty="0">
                <a:solidFill>
                  <a:schemeClr val="tx1"/>
                </a:solidFill>
              </a:rPr>
              <a:t>(E1∪E2)≡ б</a:t>
            </a:r>
            <a:r>
              <a:rPr lang="en-US" altLang="zh-CN" baseline="-25000" dirty="0">
                <a:solidFill>
                  <a:schemeClr val="tx1"/>
                </a:solidFill>
              </a:rPr>
              <a:t>F</a:t>
            </a:r>
            <a:r>
              <a:rPr lang="en-US" altLang="zh-CN" dirty="0">
                <a:solidFill>
                  <a:schemeClr val="tx1"/>
                </a:solidFill>
              </a:rPr>
              <a:t>(E1)∪ б</a:t>
            </a:r>
            <a:r>
              <a:rPr lang="en-US" altLang="zh-CN" baseline="-25000" dirty="0">
                <a:solidFill>
                  <a:schemeClr val="tx1"/>
                </a:solidFill>
              </a:rPr>
              <a:t>F</a:t>
            </a:r>
            <a:r>
              <a:rPr lang="en-US" altLang="zh-CN" dirty="0">
                <a:solidFill>
                  <a:schemeClr val="tx1"/>
                </a:solidFill>
              </a:rPr>
              <a:t>(E2)</a:t>
            </a:r>
            <a:endParaRPr lang="en-US" altLang="zh-CN" dirty="0">
              <a:solidFill>
                <a:schemeClr val="tx1"/>
              </a:solidFill>
            </a:endParaRPr>
          </a:p>
          <a:p>
            <a:pPr algn="just" eaLnBrk="1" hangingPunct="1">
              <a:buNone/>
            </a:pPr>
            <a:r>
              <a:rPr lang="en-US" altLang="zh-CN" dirty="0">
                <a:solidFill>
                  <a:schemeClr val="tx1"/>
                </a:solidFill>
                <a:latin typeface="Courier New" panose="02070309020205020404" pitchFamily="49" charset="0"/>
              </a:rPr>
              <a:t> </a:t>
            </a:r>
            <a:endParaRPr lang="en-US" altLang="zh-CN" dirty="0">
              <a:solidFill>
                <a:schemeClr val="tx1"/>
              </a:solidFill>
            </a:endParaRPr>
          </a:p>
          <a:p>
            <a:pPr algn="just" eaLnBrk="1" hangingPunct="1">
              <a:buNone/>
            </a:pPr>
            <a:r>
              <a:rPr lang="en-US" altLang="zh-CN" sz="3600" dirty="0"/>
              <a:t>8. </a:t>
            </a:r>
            <a:r>
              <a:rPr lang="zh-CN" altLang="en-US" sz="3600" dirty="0"/>
              <a:t>选择与差运算的交换</a:t>
            </a:r>
            <a:r>
              <a:rPr lang="en-US" altLang="zh-CN" sz="3600" dirty="0"/>
              <a:t>(</a:t>
            </a:r>
            <a:r>
              <a:rPr lang="zh-CN" altLang="en-US" sz="3600" dirty="0"/>
              <a:t>分配律</a:t>
            </a:r>
            <a:r>
              <a:rPr lang="en-US" altLang="zh-CN" sz="3600" dirty="0"/>
              <a:t>)</a:t>
            </a:r>
            <a:endParaRPr lang="en-US" altLang="zh-CN" sz="3600" dirty="0"/>
          </a:p>
          <a:p>
            <a:pPr algn="just" eaLnBrk="1" hangingPunct="1">
              <a:buNone/>
            </a:pPr>
            <a:r>
              <a:rPr lang="en-US" altLang="zh-CN" dirty="0"/>
              <a:t>	</a:t>
            </a:r>
            <a:r>
              <a:rPr lang="zh-CN" altLang="en-US" dirty="0">
                <a:solidFill>
                  <a:schemeClr val="tx1"/>
                </a:solidFill>
              </a:rPr>
              <a:t>假设：</a:t>
            </a:r>
            <a:r>
              <a:rPr lang="en-US" altLang="zh-CN" dirty="0">
                <a:solidFill>
                  <a:schemeClr val="tx1"/>
                </a:solidFill>
              </a:rPr>
              <a:t>E1</a:t>
            </a:r>
            <a:r>
              <a:rPr lang="zh-CN" altLang="en-US" dirty="0">
                <a:solidFill>
                  <a:schemeClr val="tx1"/>
                </a:solidFill>
              </a:rPr>
              <a:t>与</a:t>
            </a:r>
            <a:r>
              <a:rPr lang="en-US" altLang="zh-CN" dirty="0">
                <a:solidFill>
                  <a:schemeClr val="tx1"/>
                </a:solidFill>
              </a:rPr>
              <a:t>E2</a:t>
            </a:r>
            <a:r>
              <a:rPr lang="zh-CN" altLang="en-US" dirty="0">
                <a:solidFill>
                  <a:schemeClr val="tx1"/>
                </a:solidFill>
              </a:rPr>
              <a:t>有相同的属性名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buNone/>
            </a:pPr>
            <a:r>
              <a:rPr lang="zh-CN" altLang="en-US" dirty="0">
                <a:solidFill>
                  <a:schemeClr val="tx1"/>
                </a:solidFill>
              </a:rPr>
              <a:t>	</a:t>
            </a:r>
            <a:r>
              <a:rPr lang="en-US" altLang="zh-CN" dirty="0">
                <a:solidFill>
                  <a:schemeClr val="tx1"/>
                </a:solidFill>
              </a:rPr>
              <a:t>б</a:t>
            </a:r>
            <a:r>
              <a:rPr lang="en-US" altLang="zh-CN" baseline="-25000" dirty="0">
                <a:solidFill>
                  <a:schemeClr val="tx1"/>
                </a:solidFill>
              </a:rPr>
              <a:t>F</a:t>
            </a:r>
            <a:r>
              <a:rPr lang="en-US" altLang="zh-CN" dirty="0">
                <a:solidFill>
                  <a:schemeClr val="tx1"/>
                </a:solidFill>
              </a:rPr>
              <a:t>(E1-E2)≡ б</a:t>
            </a:r>
            <a:r>
              <a:rPr lang="en-US" altLang="zh-CN" baseline="-25000" dirty="0">
                <a:solidFill>
                  <a:schemeClr val="tx1"/>
                </a:solidFill>
              </a:rPr>
              <a:t>F</a:t>
            </a:r>
            <a:r>
              <a:rPr lang="en-US" altLang="zh-CN" dirty="0">
                <a:solidFill>
                  <a:schemeClr val="tx1"/>
                </a:solidFill>
              </a:rPr>
              <a:t>(E1) - б</a:t>
            </a:r>
            <a:r>
              <a:rPr lang="en-US" altLang="zh-CN" baseline="-25000" dirty="0">
                <a:solidFill>
                  <a:schemeClr val="tx1"/>
                </a:solidFill>
              </a:rPr>
              <a:t>F</a:t>
            </a:r>
            <a:r>
              <a:rPr lang="en-US" altLang="zh-CN" dirty="0">
                <a:solidFill>
                  <a:schemeClr val="tx1"/>
                </a:solidFill>
              </a:rPr>
              <a:t>(E2) 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44036" name="Rectangle 3"/>
          <p:cNvSpPr>
            <a:spLocks noGrp="1"/>
          </p:cNvSpPr>
          <p:nvPr>
            <p:ph type="title"/>
          </p:nvPr>
        </p:nvSpPr>
        <p:spPr>
          <a:xfrm>
            <a:off x="914400" y="-254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9.3.1  </a:t>
            </a:r>
            <a:r>
              <a:rPr lang="zh-CN" altLang="en-US" sz="3200" dirty="0"/>
              <a:t>关系代数的等价变换规则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5059" name="Rectangle 2"/>
          <p:cNvSpPr>
            <a:spLocks noGrp="1"/>
          </p:cNvSpPr>
          <p:nvPr>
            <p:ph idx="1"/>
          </p:nvPr>
        </p:nvSpPr>
        <p:spPr>
          <a:xfrm>
            <a:off x="457200" y="914400"/>
            <a:ext cx="8382000" cy="51816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50000"/>
              </a:lnSpc>
              <a:buNone/>
            </a:pPr>
            <a:r>
              <a:rPr lang="en-US" altLang="zh-CN" sz="3600" dirty="0"/>
              <a:t>9.</a:t>
            </a:r>
            <a:r>
              <a:rPr lang="zh-CN" altLang="en-US" dirty="0"/>
              <a:t>选择对自然连接的分配律</a:t>
            </a:r>
            <a:endParaRPr lang="zh-CN" altLang="en-US" dirty="0"/>
          </a:p>
          <a:p>
            <a:pPr eaLnBrk="1" hangingPunct="1">
              <a:lnSpc>
                <a:spcPct val="110000"/>
              </a:lnSpc>
              <a:buNone/>
            </a:pPr>
            <a:r>
              <a:rPr lang="zh-CN" altLang="en-US" dirty="0"/>
              <a:t>    </a:t>
            </a:r>
            <a:r>
              <a:rPr lang="en-US" altLang="zh-CN" dirty="0">
                <a:solidFill>
                  <a:schemeClr val="tx1"/>
                </a:solidFill>
              </a:rPr>
              <a:t>σ</a:t>
            </a:r>
            <a:r>
              <a:rPr lang="en-US" altLang="zh-CN" baseline="-25000" dirty="0">
                <a:solidFill>
                  <a:schemeClr val="tx1"/>
                </a:solidFill>
              </a:rPr>
              <a:t>F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en-US" altLang="zh-CN" i="1" dirty="0">
                <a:solidFill>
                  <a:schemeClr val="tx1"/>
                </a:solidFill>
              </a:rPr>
              <a:t>E</a:t>
            </a:r>
            <a:r>
              <a:rPr lang="en-US" altLang="zh-CN" baseline="-25000" dirty="0">
                <a:solidFill>
                  <a:schemeClr val="tx1"/>
                </a:solidFill>
              </a:rPr>
              <a:t>1</a:t>
            </a:r>
            <a:r>
              <a:rPr lang="en-US" altLang="zh-CN" dirty="0">
                <a:solidFill>
                  <a:schemeClr val="tx1"/>
                </a:solidFill>
              </a:rPr>
              <a:t>    </a:t>
            </a:r>
            <a:r>
              <a:rPr lang="en-US" altLang="zh-CN" i="1" dirty="0">
                <a:solidFill>
                  <a:schemeClr val="tx1"/>
                </a:solidFill>
              </a:rPr>
              <a:t>E</a:t>
            </a:r>
            <a:r>
              <a:rPr lang="en-US" altLang="zh-CN" baseline="-25000" dirty="0">
                <a:solidFill>
                  <a:schemeClr val="tx1"/>
                </a:solidFill>
              </a:rPr>
              <a:t>2</a:t>
            </a:r>
            <a:r>
              <a:rPr lang="en-US" altLang="zh-CN" dirty="0">
                <a:solidFill>
                  <a:schemeClr val="tx1"/>
                </a:solidFill>
              </a:rPr>
              <a:t>)≡σ</a:t>
            </a:r>
            <a:r>
              <a:rPr lang="en-US" altLang="zh-CN" baseline="-25000" dirty="0">
                <a:solidFill>
                  <a:schemeClr val="tx1"/>
                </a:solidFill>
              </a:rPr>
              <a:t>F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en-US" altLang="zh-CN" i="1" dirty="0">
                <a:solidFill>
                  <a:schemeClr val="tx1"/>
                </a:solidFill>
              </a:rPr>
              <a:t>E</a:t>
            </a:r>
            <a:r>
              <a:rPr lang="en-US" altLang="zh-CN" baseline="-25000" dirty="0">
                <a:solidFill>
                  <a:schemeClr val="tx1"/>
                </a:solidFill>
              </a:rPr>
              <a:t>1</a:t>
            </a:r>
            <a:r>
              <a:rPr lang="en-US" altLang="zh-CN" dirty="0">
                <a:solidFill>
                  <a:schemeClr val="tx1"/>
                </a:solidFill>
              </a:rPr>
              <a:t>)      σ</a:t>
            </a:r>
            <a:r>
              <a:rPr lang="en-US" altLang="zh-CN" baseline="-25000" dirty="0">
                <a:solidFill>
                  <a:schemeClr val="tx1"/>
                </a:solidFill>
              </a:rPr>
              <a:t>F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en-US" altLang="zh-CN" i="1" dirty="0">
                <a:solidFill>
                  <a:schemeClr val="tx1"/>
                </a:solidFill>
              </a:rPr>
              <a:t>E</a:t>
            </a:r>
            <a:r>
              <a:rPr lang="en-US" altLang="zh-CN" baseline="-25000" dirty="0">
                <a:solidFill>
                  <a:schemeClr val="tx1"/>
                </a:solidFill>
              </a:rPr>
              <a:t>2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    F</a:t>
            </a:r>
            <a:r>
              <a:rPr lang="zh-CN" altLang="en-US" dirty="0">
                <a:solidFill>
                  <a:schemeClr val="tx1"/>
                </a:solidFill>
              </a:rPr>
              <a:t>只涉及</a:t>
            </a:r>
            <a:r>
              <a:rPr lang="en-US" altLang="zh-CN" i="1" dirty="0">
                <a:solidFill>
                  <a:schemeClr val="tx1"/>
                </a:solidFill>
              </a:rPr>
              <a:t>E</a:t>
            </a:r>
            <a:r>
              <a:rPr lang="en-US" altLang="zh-CN" baseline="-25000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与</a:t>
            </a:r>
            <a:r>
              <a:rPr lang="en-US" altLang="zh-CN" i="1" dirty="0">
                <a:solidFill>
                  <a:schemeClr val="tx1"/>
                </a:solidFill>
              </a:rPr>
              <a:t>E</a:t>
            </a:r>
            <a:r>
              <a:rPr lang="en-US" altLang="zh-CN" baseline="-25000" dirty="0">
                <a:solidFill>
                  <a:schemeClr val="tx1"/>
                </a:solidFill>
              </a:rPr>
              <a:t>2</a:t>
            </a:r>
            <a:r>
              <a:rPr lang="zh-CN" altLang="en-US" dirty="0">
                <a:solidFill>
                  <a:schemeClr val="tx1"/>
                </a:solidFill>
              </a:rPr>
              <a:t>的公共属性</a:t>
            </a:r>
            <a:r>
              <a:rPr lang="zh-CN" altLang="en-US" sz="3600" dirty="0">
                <a:solidFill>
                  <a:schemeClr val="tx1"/>
                </a:solidFill>
              </a:rPr>
              <a:t> 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sp>
        <p:nvSpPr>
          <p:cNvPr id="45060" name="Rectangle 3"/>
          <p:cNvSpPr>
            <a:spLocks noGrp="1"/>
          </p:cNvSpPr>
          <p:nvPr>
            <p:ph type="title"/>
          </p:nvPr>
        </p:nvSpPr>
        <p:spPr>
          <a:xfrm>
            <a:off x="914400" y="-254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9.3.1  </a:t>
            </a:r>
            <a:r>
              <a:rPr lang="zh-CN" altLang="en-US" sz="3200" dirty="0"/>
              <a:t>关系代数的等价变换规则</a:t>
            </a:r>
            <a:endParaRPr lang="zh-CN" altLang="en-US" sz="3200" dirty="0"/>
          </a:p>
        </p:txBody>
      </p:sp>
      <p:pic>
        <p:nvPicPr>
          <p:cNvPr id="45061" name="Picture 4" descr="2A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8175" y="2032000"/>
            <a:ext cx="360363" cy="2222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5062" name="Picture 5" descr="2A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1638" y="2060575"/>
            <a:ext cx="430212" cy="2651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6083" name="Rectangle 2"/>
          <p:cNvSpPr>
            <a:spLocks noGrp="1"/>
          </p:cNvSpPr>
          <p:nvPr>
            <p:ph idx="1"/>
          </p:nvPr>
        </p:nvSpPr>
        <p:spPr>
          <a:xfrm>
            <a:off x="457200" y="914400"/>
            <a:ext cx="8382000" cy="51816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50000"/>
              </a:lnSpc>
              <a:buNone/>
            </a:pPr>
            <a:r>
              <a:rPr lang="en-US" altLang="zh-CN" sz="3600" dirty="0"/>
              <a:t>10. </a:t>
            </a:r>
            <a:r>
              <a:rPr lang="zh-CN" altLang="en-US" sz="3600" dirty="0"/>
              <a:t>投影与笛卡尔积的交换</a:t>
            </a:r>
            <a:r>
              <a:rPr lang="en-US" altLang="zh-CN" sz="3600" dirty="0"/>
              <a:t>(</a:t>
            </a:r>
            <a:r>
              <a:rPr lang="zh-CN" altLang="en-US" sz="3600" dirty="0"/>
              <a:t>分配律</a:t>
            </a:r>
            <a:r>
              <a:rPr lang="en-US" altLang="zh-CN" sz="3600" dirty="0"/>
              <a:t>)</a:t>
            </a:r>
            <a:endParaRPr lang="en-US" altLang="zh-CN" sz="3600" dirty="0"/>
          </a:p>
          <a:p>
            <a:pPr algn="just" eaLnBrk="1" hangingPunct="1">
              <a:lnSpc>
                <a:spcPct val="150000"/>
              </a:lnSpc>
              <a:buNone/>
            </a:pPr>
            <a:r>
              <a:rPr lang="en-US" altLang="zh-CN" dirty="0"/>
              <a:t>	</a:t>
            </a:r>
            <a:r>
              <a:rPr lang="zh-CN" altLang="en-US" sz="2800" dirty="0">
                <a:solidFill>
                  <a:schemeClr val="tx1"/>
                </a:solidFill>
              </a:rPr>
              <a:t>假设：</a:t>
            </a:r>
            <a:r>
              <a:rPr lang="en-US" altLang="zh-CN" sz="2800" dirty="0">
                <a:solidFill>
                  <a:schemeClr val="tx1"/>
                </a:solidFill>
              </a:rPr>
              <a:t>E1</a:t>
            </a:r>
            <a:r>
              <a:rPr lang="zh-CN" altLang="en-US" sz="2800" dirty="0">
                <a:solidFill>
                  <a:schemeClr val="tx1"/>
                </a:solidFill>
              </a:rPr>
              <a:t>和</a:t>
            </a:r>
            <a:r>
              <a:rPr lang="en-US" altLang="zh-CN" sz="2800" dirty="0">
                <a:solidFill>
                  <a:schemeClr val="tx1"/>
                </a:solidFill>
              </a:rPr>
              <a:t>E2</a:t>
            </a:r>
            <a:r>
              <a:rPr lang="zh-CN" altLang="en-US" sz="2800" dirty="0">
                <a:solidFill>
                  <a:schemeClr val="tx1"/>
                </a:solidFill>
              </a:rPr>
              <a:t>是两个关系表达式，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5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             </a:t>
            </a:r>
            <a:r>
              <a:rPr lang="en-US" altLang="zh-CN" sz="2800" dirty="0">
                <a:solidFill>
                  <a:schemeClr val="tx1"/>
                </a:solidFill>
              </a:rPr>
              <a:t>A1</a:t>
            </a:r>
            <a:r>
              <a:rPr lang="zh-CN" altLang="en-US" sz="2800" dirty="0">
                <a:solidFill>
                  <a:schemeClr val="tx1"/>
                </a:solidFill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  <a:latin typeface="Courier New" panose="02070309020205020404" pitchFamily="49" charset="0"/>
              </a:rPr>
              <a:t>…</a:t>
            </a:r>
            <a:r>
              <a:rPr lang="zh-CN" altLang="en-US" sz="2800" dirty="0">
                <a:solidFill>
                  <a:schemeClr val="tx1"/>
                </a:solidFill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</a:rPr>
              <a:t>An</a:t>
            </a:r>
            <a:r>
              <a:rPr lang="zh-CN" altLang="en-US" sz="2800" dirty="0">
                <a:solidFill>
                  <a:schemeClr val="tx1"/>
                </a:solidFill>
              </a:rPr>
              <a:t>是</a:t>
            </a:r>
            <a:r>
              <a:rPr lang="en-US" altLang="zh-CN" sz="2800" dirty="0">
                <a:solidFill>
                  <a:schemeClr val="tx1"/>
                </a:solidFill>
              </a:rPr>
              <a:t>E1</a:t>
            </a:r>
            <a:r>
              <a:rPr lang="zh-CN" altLang="en-US" sz="2800" dirty="0">
                <a:solidFill>
                  <a:schemeClr val="tx1"/>
                </a:solidFill>
              </a:rPr>
              <a:t>的属性，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5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             </a:t>
            </a:r>
            <a:r>
              <a:rPr lang="en-US" altLang="zh-CN" sz="2800" dirty="0">
                <a:solidFill>
                  <a:schemeClr val="tx1"/>
                </a:solidFill>
              </a:rPr>
              <a:t>B1</a:t>
            </a:r>
            <a:r>
              <a:rPr lang="zh-CN" altLang="en-US" sz="2800" dirty="0">
                <a:solidFill>
                  <a:schemeClr val="tx1"/>
                </a:solidFill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  <a:latin typeface="Courier New" panose="02070309020205020404" pitchFamily="49" charset="0"/>
              </a:rPr>
              <a:t>…</a:t>
            </a:r>
            <a:r>
              <a:rPr lang="zh-CN" altLang="en-US" sz="2800" dirty="0">
                <a:solidFill>
                  <a:schemeClr val="tx1"/>
                </a:solidFill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</a:rPr>
              <a:t>Bm</a:t>
            </a:r>
            <a:r>
              <a:rPr lang="zh-CN" altLang="en-US" sz="2800" dirty="0">
                <a:solidFill>
                  <a:schemeClr val="tx1"/>
                </a:solidFill>
              </a:rPr>
              <a:t>是</a:t>
            </a:r>
            <a:r>
              <a:rPr lang="en-US" altLang="zh-CN" sz="2800" dirty="0">
                <a:solidFill>
                  <a:schemeClr val="tx1"/>
                </a:solidFill>
              </a:rPr>
              <a:t>E2</a:t>
            </a:r>
            <a:r>
              <a:rPr lang="zh-CN" altLang="en-US" sz="2800" dirty="0">
                <a:solidFill>
                  <a:schemeClr val="tx1"/>
                </a:solidFill>
              </a:rPr>
              <a:t>的属性</a:t>
            </a:r>
            <a:endParaRPr lang="zh-CN" altLang="en-US" dirty="0">
              <a:solidFill>
                <a:schemeClr val="tx1"/>
              </a:solidFill>
            </a:endParaRPr>
          </a:p>
          <a:p>
            <a:pPr lvl="2" algn="just" eaLnBrk="1" hangingPunct="1">
              <a:buNone/>
            </a:pPr>
            <a:endParaRPr lang="zh-CN" altLang="en-US" dirty="0"/>
          </a:p>
          <a:p>
            <a:pPr algn="just" eaLnBrk="1" hangingPunct="1">
              <a:buNone/>
            </a:pPr>
            <a:r>
              <a:rPr lang="zh-CN" altLang="en-US" dirty="0">
                <a:solidFill>
                  <a:schemeClr val="tx1"/>
                </a:solidFill>
              </a:rPr>
              <a:t>    </a:t>
            </a:r>
            <a:r>
              <a:rPr lang="en-US" altLang="zh-CN" dirty="0">
                <a:solidFill>
                  <a:schemeClr val="tx1"/>
                </a:solidFill>
              </a:rPr>
              <a:t>π </a:t>
            </a:r>
            <a:r>
              <a:rPr lang="en-US" altLang="zh-CN" baseline="-25000" dirty="0">
                <a:solidFill>
                  <a:schemeClr val="tx1"/>
                </a:solidFill>
              </a:rPr>
              <a:t>A1,A2, </a:t>
            </a:r>
            <a:r>
              <a:rPr lang="en-US" altLang="zh-CN" dirty="0">
                <a:solidFill>
                  <a:schemeClr val="tx1"/>
                </a:solidFill>
                <a:latin typeface="Courier New" panose="02070309020205020404" pitchFamily="49" charset="0"/>
              </a:rPr>
              <a:t>…</a:t>
            </a:r>
            <a:r>
              <a:rPr lang="en-US" altLang="zh-CN" baseline="-25000" dirty="0">
                <a:solidFill>
                  <a:schemeClr val="tx1"/>
                </a:solidFill>
              </a:rPr>
              <a:t>,An,B1,B2, </a:t>
            </a:r>
            <a:r>
              <a:rPr lang="en-US" altLang="zh-CN" dirty="0">
                <a:solidFill>
                  <a:schemeClr val="tx1"/>
                </a:solidFill>
                <a:latin typeface="Courier New" panose="02070309020205020404" pitchFamily="49" charset="0"/>
              </a:rPr>
              <a:t>…</a:t>
            </a:r>
            <a:r>
              <a:rPr lang="en-US" altLang="zh-CN" baseline="-25000" dirty="0">
                <a:solidFill>
                  <a:schemeClr val="tx1"/>
                </a:solidFill>
              </a:rPr>
              <a:t>,Bm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chemeClr val="tx1"/>
                </a:solidFill>
              </a:rPr>
              <a:t>E1×E2)≡</a:t>
            </a:r>
            <a:endParaRPr lang="en-US" altLang="zh-CN" dirty="0">
              <a:solidFill>
                <a:schemeClr val="tx1"/>
              </a:solidFill>
            </a:endParaRPr>
          </a:p>
          <a:p>
            <a:pPr algn="just" eaLnBrk="1" hangingPunct="1">
              <a:buNone/>
            </a:pPr>
            <a:r>
              <a:rPr lang="en-US" altLang="zh-CN" dirty="0">
                <a:solidFill>
                  <a:schemeClr val="tx1"/>
                </a:solidFill>
              </a:rPr>
              <a:t>	π </a:t>
            </a:r>
            <a:r>
              <a:rPr lang="en-US" altLang="zh-CN" baseline="-25000" dirty="0">
                <a:solidFill>
                  <a:schemeClr val="tx1"/>
                </a:solidFill>
              </a:rPr>
              <a:t>A1,A2, </a:t>
            </a:r>
            <a:r>
              <a:rPr lang="en-US" altLang="zh-CN" dirty="0">
                <a:solidFill>
                  <a:schemeClr val="tx1"/>
                </a:solidFill>
                <a:latin typeface="Courier New" panose="02070309020205020404" pitchFamily="49" charset="0"/>
              </a:rPr>
              <a:t>…</a:t>
            </a:r>
            <a:r>
              <a:rPr lang="en-US" altLang="zh-CN" baseline="-25000" dirty="0">
                <a:solidFill>
                  <a:schemeClr val="tx1"/>
                </a:solidFill>
              </a:rPr>
              <a:t>,An</a:t>
            </a:r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chemeClr val="tx1"/>
                </a:solidFill>
              </a:rPr>
              <a:t>E1)× π </a:t>
            </a:r>
            <a:r>
              <a:rPr lang="en-US" altLang="zh-CN" baseline="-25000" dirty="0">
                <a:solidFill>
                  <a:schemeClr val="tx1"/>
                </a:solidFill>
              </a:rPr>
              <a:t>B1,B2, </a:t>
            </a:r>
            <a:r>
              <a:rPr lang="en-US" altLang="zh-CN" dirty="0">
                <a:solidFill>
                  <a:schemeClr val="tx1"/>
                </a:solidFill>
                <a:latin typeface="Courier New" panose="02070309020205020404" pitchFamily="49" charset="0"/>
              </a:rPr>
              <a:t>…</a:t>
            </a:r>
            <a:r>
              <a:rPr lang="en-US" altLang="zh-CN" baseline="-25000" dirty="0">
                <a:solidFill>
                  <a:schemeClr val="tx1"/>
                </a:solidFill>
              </a:rPr>
              <a:t>,Bm</a:t>
            </a:r>
            <a:r>
              <a:rPr lang="en-US" altLang="zh-CN" dirty="0">
                <a:solidFill>
                  <a:schemeClr val="tx1"/>
                </a:solidFill>
              </a:rPr>
              <a:t>(E2)</a:t>
            </a:r>
            <a:endParaRPr lang="en-US" altLang="zh-CN" dirty="0">
              <a:solidFill>
                <a:schemeClr val="tx1"/>
              </a:solidFill>
            </a:endParaRPr>
          </a:p>
          <a:p>
            <a:pPr lvl="2" algn="just" eaLnBrk="1" hangingPunct="1">
              <a:buNone/>
            </a:pPr>
            <a:endParaRPr lang="en-US" altLang="zh-CN" dirty="0"/>
          </a:p>
        </p:txBody>
      </p:sp>
      <p:sp>
        <p:nvSpPr>
          <p:cNvPr id="46084" name="Rectangle 3"/>
          <p:cNvSpPr>
            <a:spLocks noGrp="1"/>
          </p:cNvSpPr>
          <p:nvPr>
            <p:ph type="title"/>
          </p:nvPr>
        </p:nvSpPr>
        <p:spPr>
          <a:xfrm>
            <a:off x="914400" y="-254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9.3.1  </a:t>
            </a:r>
            <a:r>
              <a:rPr lang="zh-CN" altLang="en-US" sz="3200" dirty="0"/>
              <a:t>关系代数的等价变换规则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7107" name="Rectangle 2"/>
          <p:cNvSpPr>
            <a:spLocks noGrp="1"/>
          </p:cNvSpPr>
          <p:nvPr>
            <p:ph idx="1"/>
          </p:nvPr>
        </p:nvSpPr>
        <p:spPr>
          <a:xfrm>
            <a:off x="457200" y="914400"/>
            <a:ext cx="8382000" cy="51816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70000"/>
              </a:lnSpc>
              <a:buNone/>
            </a:pPr>
            <a:r>
              <a:rPr lang="en-US" altLang="zh-CN" dirty="0"/>
              <a:t>11. </a:t>
            </a:r>
            <a:r>
              <a:rPr lang="zh-CN" altLang="en-US" dirty="0"/>
              <a:t>投影与并的交换</a:t>
            </a:r>
            <a:r>
              <a:rPr lang="en-US" altLang="zh-CN" dirty="0"/>
              <a:t>(</a:t>
            </a:r>
            <a:r>
              <a:rPr lang="zh-CN" altLang="en-US" dirty="0"/>
              <a:t>分配律</a:t>
            </a:r>
            <a:r>
              <a:rPr lang="en-US" altLang="zh-CN" dirty="0"/>
              <a:t>)</a:t>
            </a:r>
            <a:endParaRPr lang="en-US" altLang="zh-CN" dirty="0"/>
          </a:p>
          <a:p>
            <a:pPr algn="just" eaLnBrk="1" hangingPunct="1">
              <a:lnSpc>
                <a:spcPct val="140000"/>
              </a:lnSpc>
              <a:buNone/>
            </a:pPr>
            <a:r>
              <a:rPr lang="en-US" altLang="zh-CN" sz="2800" dirty="0"/>
              <a:t>	</a:t>
            </a:r>
            <a:r>
              <a:rPr lang="zh-CN" altLang="en-US" sz="2400" dirty="0">
                <a:solidFill>
                  <a:schemeClr val="tx1"/>
                </a:solidFill>
              </a:rPr>
              <a:t>假设：</a:t>
            </a:r>
            <a:r>
              <a:rPr lang="en-US" altLang="zh-CN" sz="2400" dirty="0">
                <a:solidFill>
                  <a:schemeClr val="tx1"/>
                </a:solidFill>
              </a:rPr>
              <a:t>E1</a:t>
            </a:r>
            <a:r>
              <a:rPr lang="zh-CN" altLang="en-US" sz="2400" dirty="0">
                <a:solidFill>
                  <a:schemeClr val="tx1"/>
                </a:solidFill>
              </a:rPr>
              <a:t>和</a:t>
            </a:r>
            <a:r>
              <a:rPr lang="en-US" altLang="zh-CN" sz="2400" dirty="0">
                <a:solidFill>
                  <a:schemeClr val="tx1"/>
                </a:solidFill>
              </a:rPr>
              <a:t>E2 </a:t>
            </a:r>
            <a:r>
              <a:rPr lang="zh-CN" altLang="en-US" sz="2400" dirty="0">
                <a:solidFill>
                  <a:schemeClr val="tx1"/>
                </a:solidFill>
              </a:rPr>
              <a:t>有相同的属性名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4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	     </a:t>
            </a:r>
            <a:r>
              <a:rPr lang="en-US" altLang="zh-CN" sz="2800" dirty="0">
                <a:solidFill>
                  <a:schemeClr val="tx1"/>
                </a:solidFill>
              </a:rPr>
              <a:t>π </a:t>
            </a:r>
            <a:r>
              <a:rPr lang="en-US" altLang="zh-CN" sz="2800" baseline="-25000" dirty="0">
                <a:solidFill>
                  <a:schemeClr val="tx1"/>
                </a:solidFill>
              </a:rPr>
              <a:t>A1,A2, </a:t>
            </a:r>
            <a:r>
              <a:rPr lang="en-US" altLang="zh-CN" sz="2800" dirty="0">
                <a:solidFill>
                  <a:schemeClr val="tx1"/>
                </a:solidFill>
                <a:latin typeface="Courier New" panose="02070309020205020404" pitchFamily="49" charset="0"/>
              </a:rPr>
              <a:t>…</a:t>
            </a:r>
            <a:r>
              <a:rPr lang="en-US" altLang="zh-CN" sz="2800" baseline="-25000" dirty="0">
                <a:solidFill>
                  <a:schemeClr val="tx1"/>
                </a:solidFill>
              </a:rPr>
              <a:t>,An</a:t>
            </a:r>
            <a:r>
              <a:rPr lang="en-US" altLang="zh-CN" sz="2800" dirty="0">
                <a:solidFill>
                  <a:schemeClr val="tx1"/>
                </a:solidFill>
              </a:rPr>
              <a:t>(E1∪E2)≡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4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	    π </a:t>
            </a:r>
            <a:r>
              <a:rPr lang="en-US" altLang="zh-CN" sz="2800" baseline="-25000" dirty="0">
                <a:solidFill>
                  <a:schemeClr val="tx1"/>
                </a:solidFill>
              </a:rPr>
              <a:t>A1,A2, </a:t>
            </a:r>
            <a:r>
              <a:rPr lang="en-US" altLang="zh-CN" sz="2800" dirty="0">
                <a:solidFill>
                  <a:schemeClr val="tx1"/>
                </a:solidFill>
                <a:latin typeface="Courier New" panose="02070309020205020404" pitchFamily="49" charset="0"/>
              </a:rPr>
              <a:t>…</a:t>
            </a:r>
            <a:r>
              <a:rPr lang="en-US" altLang="zh-CN" sz="2800" baseline="-25000" dirty="0">
                <a:solidFill>
                  <a:schemeClr val="tx1"/>
                </a:solidFill>
              </a:rPr>
              <a:t>,An</a:t>
            </a:r>
            <a:r>
              <a:rPr lang="en-US" altLang="zh-CN" sz="2800" dirty="0">
                <a:solidFill>
                  <a:schemeClr val="tx1"/>
                </a:solidFill>
              </a:rPr>
              <a:t>(E1)∪ π </a:t>
            </a:r>
            <a:r>
              <a:rPr lang="en-US" altLang="zh-CN" sz="2800" baseline="-25000" dirty="0">
                <a:solidFill>
                  <a:schemeClr val="tx1"/>
                </a:solidFill>
              </a:rPr>
              <a:t>A1,A2, </a:t>
            </a:r>
            <a:r>
              <a:rPr lang="en-US" altLang="zh-CN" sz="2800" dirty="0">
                <a:solidFill>
                  <a:schemeClr val="tx1"/>
                </a:solidFill>
                <a:latin typeface="Courier New" panose="02070309020205020404" pitchFamily="49" charset="0"/>
              </a:rPr>
              <a:t>…</a:t>
            </a:r>
            <a:r>
              <a:rPr lang="en-US" altLang="zh-CN" sz="2800" baseline="-25000" dirty="0">
                <a:solidFill>
                  <a:schemeClr val="tx1"/>
                </a:solidFill>
              </a:rPr>
              <a:t>,An</a:t>
            </a:r>
            <a:r>
              <a:rPr lang="en-US" altLang="zh-CN" sz="2800" dirty="0">
                <a:solidFill>
                  <a:schemeClr val="tx1"/>
                </a:solidFill>
              </a:rPr>
              <a:t>(E2) </a:t>
            </a:r>
            <a:endParaRPr lang="en-US" altLang="zh-CN" sz="2800" dirty="0">
              <a:solidFill>
                <a:schemeClr val="tx1"/>
              </a:solidFill>
            </a:endParaRPr>
          </a:p>
        </p:txBody>
      </p:sp>
      <p:sp>
        <p:nvSpPr>
          <p:cNvPr id="47108" name="Rectangle 3"/>
          <p:cNvSpPr>
            <a:spLocks noGrp="1"/>
          </p:cNvSpPr>
          <p:nvPr>
            <p:ph type="title"/>
          </p:nvPr>
        </p:nvSpPr>
        <p:spPr>
          <a:xfrm>
            <a:off x="914400" y="-254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9.3.1  </a:t>
            </a:r>
            <a:r>
              <a:rPr lang="zh-CN" altLang="en-US" sz="3200" dirty="0"/>
              <a:t>关系代数的等价变换规则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8131" name="Rectangle 2"/>
          <p:cNvSpPr>
            <a:spLocks noGrp="1"/>
          </p:cNvSpPr>
          <p:nvPr>
            <p:ph idx="1"/>
          </p:nvPr>
        </p:nvSpPr>
        <p:spPr>
          <a:xfrm>
            <a:off x="457200" y="914400"/>
            <a:ext cx="8382000" cy="51816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30000"/>
              </a:lnSpc>
              <a:buNone/>
            </a:pPr>
            <a:r>
              <a:rPr lang="zh-CN" altLang="en-US" dirty="0"/>
              <a:t>小结</a:t>
            </a:r>
            <a:endParaRPr lang="zh-CN" altLang="en-US" dirty="0"/>
          </a:p>
          <a:p>
            <a:pPr algn="just" eaLnBrk="1" hangingPunct="1">
              <a:lnSpc>
                <a:spcPct val="13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1-2:   </a:t>
            </a:r>
            <a:r>
              <a:rPr lang="zh-CN" altLang="en-US" dirty="0">
                <a:solidFill>
                  <a:schemeClr val="tx1"/>
                </a:solidFill>
              </a:rPr>
              <a:t>连接、笛卡尔积的交换律、结合律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3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3</a:t>
            </a:r>
            <a:r>
              <a:rPr lang="zh-CN" altLang="en-US" dirty="0">
                <a:solidFill>
                  <a:schemeClr val="tx1"/>
                </a:solidFill>
              </a:rPr>
              <a:t>：    合并或分解投影运算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3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4</a:t>
            </a:r>
            <a:r>
              <a:rPr lang="zh-CN" altLang="en-US" dirty="0">
                <a:solidFill>
                  <a:schemeClr val="tx1"/>
                </a:solidFill>
              </a:rPr>
              <a:t>：    合并或分解选择运算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3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5-9</a:t>
            </a:r>
            <a:r>
              <a:rPr lang="zh-CN" altLang="en-US" dirty="0">
                <a:solidFill>
                  <a:schemeClr val="tx1"/>
                </a:solidFill>
              </a:rPr>
              <a:t>： 选择运算与其他运算交换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5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10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11</a:t>
            </a:r>
            <a:r>
              <a:rPr lang="zh-CN" altLang="en-US" dirty="0">
                <a:solidFill>
                  <a:schemeClr val="tx1"/>
                </a:solidFill>
              </a:rPr>
              <a:t>： 投影运算与其他运算交换 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8132" name="Rectangle 3"/>
          <p:cNvSpPr>
            <a:spLocks noGrp="1"/>
          </p:cNvSpPr>
          <p:nvPr>
            <p:ph type="title"/>
          </p:nvPr>
        </p:nvSpPr>
        <p:spPr>
          <a:xfrm>
            <a:off x="914400" y="-254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9.3.1  </a:t>
            </a:r>
            <a:r>
              <a:rPr lang="zh-CN" altLang="en-US" sz="3200" dirty="0"/>
              <a:t>关系代数的等价变换规则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9155" name="Rectangle 2"/>
          <p:cNvSpPr>
            <a:spLocks noGrp="1"/>
          </p:cNvSpPr>
          <p:nvPr>
            <p:ph idx="1"/>
          </p:nvPr>
        </p:nvSpPr>
        <p:spPr>
          <a:xfrm>
            <a:off x="971550" y="1628775"/>
            <a:ext cx="7162800" cy="44196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9.3.1 </a:t>
            </a:r>
            <a:r>
              <a:rPr lang="zh-CN" altLang="en-US" dirty="0">
                <a:solidFill>
                  <a:schemeClr val="tx1"/>
                </a:solidFill>
              </a:rPr>
              <a:t>关系代数表达式等价变换规则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FF0000"/>
                </a:solidFill>
              </a:rPr>
              <a:t>9.3.2 </a:t>
            </a:r>
            <a:r>
              <a:rPr lang="zh-CN" altLang="en-US" dirty="0">
                <a:solidFill>
                  <a:srgbClr val="FF0000"/>
                </a:solidFill>
              </a:rPr>
              <a:t>查询树的启发式优化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9156" name="Rectangle 3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9.3  </a:t>
            </a:r>
            <a:r>
              <a:rPr lang="zh-CN" altLang="en-US" dirty="0"/>
              <a:t>代数优化</a:t>
            </a:r>
            <a:endParaRPr lang="zh-CN" alt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0179" name="Rectangle 2"/>
          <p:cNvSpPr>
            <a:spLocks noGrp="1"/>
          </p:cNvSpPr>
          <p:nvPr>
            <p:ph idx="1"/>
          </p:nvPr>
        </p:nvSpPr>
        <p:spPr>
          <a:xfrm>
            <a:off x="457200" y="914400"/>
            <a:ext cx="8153400" cy="5538788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</a:pPr>
            <a:r>
              <a:rPr lang="zh-CN" altLang="en-US" sz="2800" dirty="0"/>
              <a:t>选择运算应尽可能先做</a:t>
            </a:r>
            <a:r>
              <a:rPr lang="en-US" altLang="zh-CN" sz="2800" dirty="0"/>
              <a:t>(</a:t>
            </a:r>
            <a:r>
              <a:rPr lang="zh-CN" altLang="en-US" sz="2800" dirty="0"/>
              <a:t>最重要，最根本</a:t>
            </a:r>
            <a:r>
              <a:rPr lang="en-US" altLang="zh-CN" sz="2800" dirty="0"/>
              <a:t>)      </a:t>
            </a:r>
            <a:r>
              <a:rPr lang="en-US" altLang="zh-CN" sz="2800" dirty="0">
                <a:latin typeface="Courier New" panose="02070309020205020404" pitchFamily="49" charset="0"/>
              </a:rPr>
              <a:t> </a:t>
            </a:r>
            <a:endParaRPr lang="en-US" altLang="zh-CN" sz="2800" dirty="0"/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dirty="0"/>
              <a:t>目的：减小中间关系</a:t>
            </a:r>
            <a:endParaRPr lang="zh-CN" altLang="en-US" dirty="0"/>
          </a:p>
          <a:p>
            <a:pPr algn="just" eaLnBrk="1" hangingPunct="1">
              <a:lnSpc>
                <a:spcPct val="120000"/>
              </a:lnSpc>
            </a:pPr>
            <a:r>
              <a:rPr lang="zh-CN" altLang="en-US" sz="2800" dirty="0"/>
              <a:t>投影运算和选择运算同时做</a:t>
            </a:r>
            <a:endParaRPr lang="zh-CN" altLang="en-US" sz="2800" dirty="0"/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dirty="0"/>
              <a:t>目的：避免重复扫描关系</a:t>
            </a:r>
            <a:endParaRPr lang="zh-CN" altLang="en-US" dirty="0"/>
          </a:p>
          <a:p>
            <a:pPr algn="just" eaLnBrk="1" hangingPunct="1">
              <a:lnSpc>
                <a:spcPct val="120000"/>
              </a:lnSpc>
            </a:pPr>
            <a:r>
              <a:rPr lang="zh-CN" altLang="en-US" sz="2800" dirty="0"/>
              <a:t>将投影运算与其前面或后面的双目运算结合</a:t>
            </a:r>
            <a:endParaRPr lang="zh-CN" altLang="en-US" sz="2800" dirty="0"/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dirty="0"/>
              <a:t>目的：减少扫描关系的遍数</a:t>
            </a:r>
            <a:endParaRPr lang="zh-CN" altLang="en-US" dirty="0"/>
          </a:p>
          <a:p>
            <a:pPr algn="just" eaLnBrk="1" hangingPunct="1">
              <a:lnSpc>
                <a:spcPct val="120000"/>
              </a:lnSpc>
            </a:pPr>
            <a:r>
              <a:rPr lang="zh-CN" altLang="en-US" sz="2800" dirty="0"/>
              <a:t>在执行连接操作前对关系适当进行预处理</a:t>
            </a:r>
            <a:endParaRPr lang="zh-CN" altLang="en-US" sz="2800" dirty="0"/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dirty="0"/>
              <a:t>按连接属性排序</a:t>
            </a:r>
            <a:endParaRPr lang="zh-CN" altLang="en-US" dirty="0"/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dirty="0"/>
              <a:t>在连接属性上建立索引</a:t>
            </a:r>
            <a:r>
              <a:rPr lang="zh-CN" altLang="en-US" dirty="0">
                <a:latin typeface="Courier New" panose="02070309020205020404" pitchFamily="49" charset="0"/>
              </a:rPr>
              <a:t> </a:t>
            </a:r>
            <a:endParaRPr lang="zh-CN" altLang="en-US" dirty="0"/>
          </a:p>
        </p:txBody>
      </p:sp>
      <p:sp>
        <p:nvSpPr>
          <p:cNvPr id="50180" name="Rectangle 3"/>
          <p:cNvSpPr>
            <a:spLocks noGrp="1"/>
          </p:cNvSpPr>
          <p:nvPr>
            <p:ph type="title"/>
          </p:nvPr>
        </p:nvSpPr>
        <p:spPr>
          <a:xfrm>
            <a:off x="685800" y="381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9.3.2  </a:t>
            </a:r>
            <a:r>
              <a:rPr lang="zh-CN" altLang="en-US" sz="3200" dirty="0"/>
              <a:t>查询树的启发式优化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1203" name="Rectangle 2"/>
          <p:cNvSpPr>
            <a:spLocks noGrp="1"/>
          </p:cNvSpPr>
          <p:nvPr>
            <p:ph idx="1"/>
          </p:nvPr>
        </p:nvSpPr>
        <p:spPr>
          <a:xfrm>
            <a:off x="457200" y="914400"/>
            <a:ext cx="8153400" cy="51816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/>
            <a:r>
              <a:rPr lang="zh-CN" altLang="en-US" dirty="0">
                <a:solidFill>
                  <a:srgbClr val="FF0000"/>
                </a:solidFill>
              </a:rPr>
              <a:t>某些选择运算＋在其前面执行的笛卡尔积 </a:t>
            </a:r>
            <a:endParaRPr lang="zh-CN" altLang="en-US" dirty="0">
              <a:solidFill>
                <a:srgbClr val="FF0000"/>
              </a:solidFill>
            </a:endParaRPr>
          </a:p>
          <a:p>
            <a:pPr algn="just" eaLnBrk="1" hangingPunct="1">
              <a:buNone/>
            </a:pPr>
            <a:r>
              <a:rPr lang="zh-CN" altLang="en-US" dirty="0">
                <a:solidFill>
                  <a:srgbClr val="FF0000"/>
                </a:solidFill>
              </a:rPr>
              <a:t>            </a:t>
            </a:r>
            <a:r>
              <a:rPr lang="en-US" altLang="zh-CN" dirty="0">
                <a:solidFill>
                  <a:srgbClr val="FF0000"/>
                </a:solidFill>
              </a:rPr>
              <a:t>===&gt;   </a:t>
            </a:r>
            <a:r>
              <a:rPr lang="zh-CN" altLang="en-US" dirty="0">
                <a:solidFill>
                  <a:srgbClr val="FF0000"/>
                </a:solidFill>
              </a:rPr>
              <a:t>连接运算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buNone/>
            </a:pPr>
            <a:r>
              <a:rPr lang="zh-CN" altLang="en-US" sz="3600" dirty="0">
                <a:solidFill>
                  <a:schemeClr val="tx1"/>
                </a:solidFill>
              </a:rPr>
              <a:t>    例：</a:t>
            </a:r>
            <a:r>
              <a:rPr lang="en-US" altLang="zh-CN" sz="4000" dirty="0">
                <a:solidFill>
                  <a:schemeClr val="tx1"/>
                </a:solidFill>
              </a:rPr>
              <a:t>б</a:t>
            </a:r>
            <a:r>
              <a:rPr lang="en-US" altLang="zh-CN" sz="2800" dirty="0">
                <a:solidFill>
                  <a:schemeClr val="tx1"/>
                </a:solidFill>
              </a:rPr>
              <a:t>Student.Sno=SC.Sno</a:t>
            </a:r>
            <a:r>
              <a:rPr lang="en-US" altLang="zh-CN" sz="3600" dirty="0">
                <a:solidFill>
                  <a:schemeClr val="tx1"/>
                </a:solidFill>
              </a:rPr>
              <a:t>  (S</a:t>
            </a:r>
            <a:r>
              <a:rPr lang="en-US" altLang="zh-CN" sz="2800" dirty="0">
                <a:solidFill>
                  <a:schemeClr val="tx1"/>
                </a:solidFill>
              </a:rPr>
              <a:t>tudent</a:t>
            </a:r>
            <a:r>
              <a:rPr lang="en-US" altLang="zh-CN" sz="3600" dirty="0">
                <a:solidFill>
                  <a:schemeClr val="tx1"/>
                </a:solidFill>
              </a:rPr>
              <a:t>×SC)</a:t>
            </a:r>
            <a:endParaRPr lang="en-US" altLang="zh-CN" sz="3600" dirty="0">
              <a:solidFill>
                <a:schemeClr val="tx1"/>
              </a:solidFill>
            </a:endParaRPr>
          </a:p>
          <a:p>
            <a:pPr algn="just" eaLnBrk="1" hangingPunct="1">
              <a:buNone/>
            </a:pPr>
            <a:r>
              <a:rPr lang="en-US" altLang="zh-CN" sz="3600" dirty="0">
                <a:solidFill>
                  <a:schemeClr val="tx1"/>
                </a:solidFill>
                <a:latin typeface="Courier New" panose="02070309020205020404" pitchFamily="49" charset="0"/>
              </a:rPr>
              <a:t> </a:t>
            </a:r>
            <a:endParaRPr lang="en-US" altLang="zh-CN" sz="3600" dirty="0">
              <a:solidFill>
                <a:schemeClr val="tx1"/>
              </a:solidFill>
            </a:endParaRPr>
          </a:p>
          <a:p>
            <a:pPr algn="just" eaLnBrk="1" hangingPunct="1">
              <a:buNone/>
            </a:pPr>
            <a:r>
              <a:rPr lang="en-US" altLang="zh-CN" sz="3600" dirty="0">
                <a:solidFill>
                  <a:schemeClr val="tx1"/>
                </a:solidFill>
                <a:latin typeface="Courier New" panose="02070309020205020404" pitchFamily="49" charset="0"/>
              </a:rPr>
              <a:t> </a:t>
            </a:r>
            <a:r>
              <a:rPr lang="en-US" altLang="zh-CN" sz="3600" dirty="0">
                <a:solidFill>
                  <a:schemeClr val="tx1"/>
                </a:solidFill>
              </a:rPr>
              <a:t>			      S</a:t>
            </a:r>
            <a:r>
              <a:rPr lang="en-US" altLang="zh-CN" sz="2800" dirty="0">
                <a:solidFill>
                  <a:schemeClr val="tx1"/>
                </a:solidFill>
              </a:rPr>
              <a:t>tudent</a:t>
            </a:r>
            <a:r>
              <a:rPr lang="en-US" altLang="zh-CN" sz="3600" dirty="0">
                <a:solidFill>
                  <a:schemeClr val="tx1"/>
                </a:solidFill>
              </a:rPr>
              <a:t>     SC</a:t>
            </a:r>
            <a:endParaRPr lang="en-US" altLang="zh-CN" sz="3600" dirty="0">
              <a:solidFill>
                <a:schemeClr val="tx1"/>
              </a:solidFill>
            </a:endParaRPr>
          </a:p>
          <a:p>
            <a:pPr lvl="4" algn="just" eaLnBrk="1" hangingPunct="1"/>
            <a:endParaRPr lang="en-US" altLang="zh-CN" dirty="0"/>
          </a:p>
          <a:p>
            <a:pPr algn="just" eaLnBrk="1" hangingPunct="1"/>
            <a:r>
              <a:rPr lang="zh-CN" altLang="en-US" dirty="0">
                <a:solidFill>
                  <a:srgbClr val="FF0000"/>
                </a:solidFill>
              </a:rPr>
              <a:t>提取公共子表达式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1204" name="Rectangle 3"/>
          <p:cNvSpPr>
            <a:spLocks noGrp="1"/>
          </p:cNvSpPr>
          <p:nvPr>
            <p:ph type="title"/>
          </p:nvPr>
        </p:nvSpPr>
        <p:spPr>
          <a:xfrm>
            <a:off x="685800" y="381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9.3.2  </a:t>
            </a:r>
            <a:r>
              <a:rPr lang="zh-CN" altLang="en-US" sz="3200" dirty="0"/>
              <a:t>查询树的启发式优化</a:t>
            </a:r>
            <a:endParaRPr lang="zh-CN" altLang="en-US" sz="3200" dirty="0"/>
          </a:p>
        </p:txBody>
      </p:sp>
      <p:sp>
        <p:nvSpPr>
          <p:cNvPr id="51205" name="AutoShape 4"/>
          <p:cNvSpPr/>
          <p:nvPr/>
        </p:nvSpPr>
        <p:spPr>
          <a:xfrm rot="5400000">
            <a:off x="4495800" y="3581400"/>
            <a:ext cx="228600" cy="381000"/>
          </a:xfrm>
          <a:prstGeom prst="flowChartCollate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51206" name="AutoShape 5"/>
          <p:cNvSpPr/>
          <p:nvPr/>
        </p:nvSpPr>
        <p:spPr>
          <a:xfrm>
            <a:off x="4343400" y="2895600"/>
            <a:ext cx="381000" cy="533400"/>
          </a:xfrm>
          <a:prstGeom prst="downArrow">
            <a:avLst>
              <a:gd name="adj1" fmla="val 50000"/>
              <a:gd name="adj2" fmla="val 35000"/>
            </a:avLst>
          </a:prstGeom>
          <a:noFill/>
          <a:ln w="317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en-US" altLang="zh-CN" sz="14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2227" name="Rectangle 2"/>
          <p:cNvSpPr>
            <a:spLocks noGrp="1"/>
          </p:cNvSpPr>
          <p:nvPr>
            <p:ph idx="1"/>
          </p:nvPr>
        </p:nvSpPr>
        <p:spPr>
          <a:xfrm>
            <a:off x="304800" y="838200"/>
            <a:ext cx="8534400" cy="55626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buNone/>
            </a:pPr>
            <a:r>
              <a:rPr lang="zh-CN" altLang="en-US" sz="3600" dirty="0"/>
              <a:t>算法：</a:t>
            </a:r>
            <a:r>
              <a:rPr lang="zh-CN" altLang="en-US" sz="3600" dirty="0">
                <a:solidFill>
                  <a:schemeClr val="tx1"/>
                </a:solidFill>
              </a:rPr>
              <a:t>关系表达式的优化。</a:t>
            </a:r>
            <a:endParaRPr lang="zh-CN" altLang="en-US" sz="3600" dirty="0">
              <a:solidFill>
                <a:schemeClr val="tx1"/>
              </a:solidFill>
            </a:endParaRPr>
          </a:p>
          <a:p>
            <a:pPr algn="just" eaLnBrk="1" hangingPunct="1">
              <a:buNone/>
            </a:pPr>
            <a:r>
              <a:rPr lang="zh-CN" altLang="en-US" sz="3600" dirty="0"/>
              <a:t>输入：</a:t>
            </a:r>
            <a:r>
              <a:rPr lang="zh-CN" altLang="en-US" sz="3600" dirty="0">
                <a:solidFill>
                  <a:schemeClr val="tx1"/>
                </a:solidFill>
              </a:rPr>
              <a:t>一个关系表达式的查询树。</a:t>
            </a:r>
            <a:endParaRPr lang="zh-CN" altLang="en-US" sz="3600" dirty="0">
              <a:solidFill>
                <a:schemeClr val="tx1"/>
              </a:solidFill>
            </a:endParaRPr>
          </a:p>
          <a:p>
            <a:pPr algn="just" eaLnBrk="1" hangingPunct="1">
              <a:buNone/>
            </a:pPr>
            <a:r>
              <a:rPr lang="zh-CN" altLang="en-US" sz="3600" dirty="0"/>
              <a:t>输出：</a:t>
            </a:r>
            <a:r>
              <a:rPr lang="zh-CN" altLang="en-US" sz="3600" dirty="0">
                <a:solidFill>
                  <a:schemeClr val="tx1"/>
                </a:solidFill>
              </a:rPr>
              <a:t>优化的查询树。</a:t>
            </a:r>
            <a:endParaRPr lang="zh-CN" altLang="en-US" sz="3600" dirty="0">
              <a:solidFill>
                <a:schemeClr val="tx1"/>
              </a:solidFill>
            </a:endParaRPr>
          </a:p>
          <a:p>
            <a:pPr algn="just" eaLnBrk="1" hangingPunct="1">
              <a:buNone/>
            </a:pPr>
            <a:r>
              <a:rPr lang="zh-CN" altLang="en-US" sz="3600" dirty="0"/>
              <a:t>方法：</a:t>
            </a:r>
            <a:endParaRPr lang="zh-CN" altLang="en-US" sz="3600" dirty="0"/>
          </a:p>
          <a:p>
            <a:pPr algn="just" eaLnBrk="1" hangingPunct="1">
              <a:buNone/>
            </a:pPr>
            <a:r>
              <a:rPr lang="zh-CN" altLang="en-US" dirty="0">
                <a:solidFill>
                  <a:schemeClr val="accent2"/>
                </a:solidFill>
              </a:rPr>
              <a:t>（</a:t>
            </a:r>
            <a:r>
              <a:rPr lang="en-US" altLang="zh-CN" dirty="0">
                <a:solidFill>
                  <a:schemeClr val="accent2"/>
                </a:solidFill>
              </a:rPr>
              <a:t>1</a:t>
            </a:r>
            <a:r>
              <a:rPr lang="zh-CN" altLang="en-US" dirty="0">
                <a:solidFill>
                  <a:schemeClr val="accent2"/>
                </a:solidFill>
              </a:rPr>
              <a:t>）分解选择运算</a:t>
            </a:r>
            <a:endParaRPr lang="zh-CN" altLang="en-US" dirty="0">
              <a:solidFill>
                <a:schemeClr val="accent2"/>
              </a:solidFill>
            </a:endParaRPr>
          </a:p>
          <a:p>
            <a:pPr algn="just" eaLnBrk="1" hangingPunct="1">
              <a:buNone/>
            </a:pPr>
            <a:r>
              <a:rPr lang="zh-CN" altLang="en-US" dirty="0"/>
              <a:t>    </a:t>
            </a:r>
            <a:r>
              <a:rPr lang="zh-CN" altLang="en-US" dirty="0">
                <a:solidFill>
                  <a:schemeClr val="tx1"/>
                </a:solidFill>
              </a:rPr>
              <a:t>利用规则</a:t>
            </a:r>
            <a:r>
              <a:rPr lang="en-US" altLang="zh-CN" dirty="0">
                <a:solidFill>
                  <a:schemeClr val="tx1"/>
                </a:solidFill>
              </a:rPr>
              <a:t>4</a:t>
            </a:r>
            <a:r>
              <a:rPr lang="zh-CN" altLang="en-US" dirty="0">
                <a:solidFill>
                  <a:schemeClr val="tx1"/>
                </a:solidFill>
              </a:rPr>
              <a:t>把形如</a:t>
            </a:r>
            <a:r>
              <a:rPr lang="en-US" altLang="zh-CN" dirty="0">
                <a:solidFill>
                  <a:schemeClr val="tx1"/>
                </a:solidFill>
              </a:rPr>
              <a:t>б</a:t>
            </a:r>
            <a:r>
              <a:rPr lang="en-US" altLang="zh-CN" baseline="-25000" dirty="0">
                <a:solidFill>
                  <a:schemeClr val="tx1"/>
                </a:solidFill>
              </a:rPr>
              <a:t>F1 ∧F2 ∧ </a:t>
            </a:r>
            <a:r>
              <a:rPr lang="en-US" altLang="zh-CN" dirty="0">
                <a:solidFill>
                  <a:schemeClr val="tx1"/>
                </a:solidFill>
              </a:rPr>
              <a:t>…</a:t>
            </a:r>
            <a:r>
              <a:rPr lang="en-US" altLang="zh-CN" baseline="-25000" dirty="0">
                <a:solidFill>
                  <a:schemeClr val="tx1"/>
                </a:solidFill>
              </a:rPr>
              <a:t> ∧ Fn</a:t>
            </a:r>
            <a:r>
              <a:rPr lang="en-US" altLang="zh-CN" dirty="0">
                <a:solidFill>
                  <a:schemeClr val="tx1"/>
                </a:solidFill>
              </a:rPr>
              <a:t> (E)</a:t>
            </a:r>
            <a:r>
              <a:rPr lang="zh-CN" altLang="en-US" dirty="0">
                <a:solidFill>
                  <a:schemeClr val="tx1"/>
                </a:solidFill>
              </a:rPr>
              <a:t>变换为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buNone/>
            </a:pPr>
            <a:r>
              <a:rPr lang="zh-CN" altLang="en-US" dirty="0">
                <a:solidFill>
                  <a:schemeClr val="tx1"/>
                </a:solidFill>
              </a:rPr>
              <a:t>       </a:t>
            </a:r>
            <a:r>
              <a:rPr lang="en-US" altLang="zh-CN" dirty="0">
                <a:solidFill>
                  <a:schemeClr val="tx1"/>
                </a:solidFill>
              </a:rPr>
              <a:t>б</a:t>
            </a:r>
            <a:r>
              <a:rPr lang="en-US" altLang="zh-CN" baseline="-25000" dirty="0">
                <a:solidFill>
                  <a:schemeClr val="tx1"/>
                </a:solidFill>
              </a:rPr>
              <a:t>F1</a:t>
            </a:r>
            <a:r>
              <a:rPr lang="en-US" altLang="zh-CN" dirty="0">
                <a:solidFill>
                  <a:schemeClr val="tx1"/>
                </a:solidFill>
              </a:rPr>
              <a:t> (б</a:t>
            </a:r>
            <a:r>
              <a:rPr lang="en-US" altLang="zh-CN" baseline="-25000" dirty="0">
                <a:solidFill>
                  <a:schemeClr val="tx1"/>
                </a:solidFill>
              </a:rPr>
              <a:t>F2</a:t>
            </a:r>
            <a:r>
              <a:rPr lang="en-US" altLang="zh-CN" dirty="0">
                <a:solidFill>
                  <a:schemeClr val="tx1"/>
                </a:solidFill>
              </a:rPr>
              <a:t>(…  (б</a:t>
            </a:r>
            <a:r>
              <a:rPr lang="en-US" altLang="zh-CN" baseline="-25000" dirty="0">
                <a:solidFill>
                  <a:schemeClr val="tx1"/>
                </a:solidFill>
              </a:rPr>
              <a:t>Fn</a:t>
            </a:r>
            <a:r>
              <a:rPr lang="en-US" altLang="zh-CN" dirty="0">
                <a:solidFill>
                  <a:schemeClr val="tx1"/>
                </a:solidFill>
              </a:rPr>
              <a:t>(E))…  )) 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52228" name="Rectangle 3"/>
          <p:cNvSpPr>
            <a:spLocks noGrp="1"/>
          </p:cNvSpPr>
          <p:nvPr>
            <p:ph type="title"/>
          </p:nvPr>
        </p:nvSpPr>
        <p:spPr>
          <a:xfrm>
            <a:off x="901700" y="12700"/>
            <a:ext cx="7558088" cy="5334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9.3.2  </a:t>
            </a:r>
            <a:r>
              <a:rPr lang="zh-CN" altLang="en-US" sz="3200" dirty="0"/>
              <a:t>查询树的启发式优化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3251" name="Rectangle 2"/>
          <p:cNvSpPr>
            <a:spLocks noGrp="1"/>
          </p:cNvSpPr>
          <p:nvPr>
            <p:ph idx="1"/>
          </p:nvPr>
        </p:nvSpPr>
        <p:spPr>
          <a:xfrm>
            <a:off x="304800" y="838200"/>
            <a:ext cx="8534400" cy="55626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buNone/>
            </a:pPr>
            <a:r>
              <a:rPr lang="zh-CN" altLang="en-US" dirty="0">
                <a:solidFill>
                  <a:schemeClr val="accent2"/>
                </a:solidFill>
              </a:rPr>
              <a:t>（</a:t>
            </a:r>
            <a:r>
              <a:rPr lang="en-US" altLang="zh-CN" dirty="0">
                <a:solidFill>
                  <a:schemeClr val="accent2"/>
                </a:solidFill>
              </a:rPr>
              <a:t>2</a:t>
            </a:r>
            <a:r>
              <a:rPr lang="zh-CN" altLang="en-US" dirty="0">
                <a:solidFill>
                  <a:schemeClr val="accent2"/>
                </a:solidFill>
              </a:rPr>
              <a:t>）通过交换选择运算，将其尽可能移到叶端</a:t>
            </a:r>
            <a:endParaRPr lang="zh-CN" altLang="en-US" dirty="0">
              <a:solidFill>
                <a:schemeClr val="accent2"/>
              </a:solidFill>
            </a:endParaRPr>
          </a:p>
          <a:p>
            <a:pPr algn="just" eaLnBrk="1" hangingPunct="1">
              <a:buNone/>
            </a:pPr>
            <a:r>
              <a:rPr lang="zh-CN" altLang="en-US" dirty="0"/>
              <a:t>     </a:t>
            </a:r>
            <a:r>
              <a:rPr lang="zh-CN" altLang="en-US" dirty="0">
                <a:solidFill>
                  <a:schemeClr val="tx1"/>
                </a:solidFill>
              </a:rPr>
              <a:t>对每一个选择，利用规则</a:t>
            </a:r>
            <a:r>
              <a:rPr lang="en-US" altLang="zh-CN" dirty="0">
                <a:solidFill>
                  <a:schemeClr val="tx1"/>
                </a:solidFill>
              </a:rPr>
              <a:t>4</a:t>
            </a:r>
            <a:r>
              <a:rPr lang="zh-CN" altLang="en-US" dirty="0">
                <a:solidFill>
                  <a:schemeClr val="tx1"/>
                </a:solidFill>
              </a:rPr>
              <a:t>～</a:t>
            </a:r>
            <a:r>
              <a:rPr lang="en-US" altLang="zh-CN" dirty="0">
                <a:solidFill>
                  <a:schemeClr val="tx1"/>
                </a:solidFill>
              </a:rPr>
              <a:t>9</a:t>
            </a:r>
            <a:r>
              <a:rPr lang="zh-CN" altLang="en-US" dirty="0">
                <a:solidFill>
                  <a:schemeClr val="tx1"/>
                </a:solidFill>
              </a:rPr>
              <a:t>尽可能把它移到树的叶端。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buNone/>
            </a:pPr>
            <a:r>
              <a:rPr lang="zh-CN" altLang="en-US" dirty="0">
                <a:latin typeface="Courier New" panose="02070309020205020404" pitchFamily="49" charset="0"/>
              </a:rPr>
              <a:t> </a:t>
            </a:r>
            <a:endParaRPr lang="zh-CN" altLang="en-US" dirty="0"/>
          </a:p>
          <a:p>
            <a:pPr algn="just" eaLnBrk="1" hangingPunct="1">
              <a:buNone/>
            </a:pPr>
            <a:r>
              <a:rPr lang="zh-CN" altLang="en-US" dirty="0">
                <a:solidFill>
                  <a:schemeClr val="accent2"/>
                </a:solidFill>
              </a:rPr>
              <a:t>（</a:t>
            </a:r>
            <a:r>
              <a:rPr lang="en-US" altLang="zh-CN" dirty="0">
                <a:solidFill>
                  <a:schemeClr val="accent2"/>
                </a:solidFill>
              </a:rPr>
              <a:t>3</a:t>
            </a:r>
            <a:r>
              <a:rPr lang="zh-CN" altLang="en-US" dirty="0">
                <a:solidFill>
                  <a:schemeClr val="accent2"/>
                </a:solidFill>
              </a:rPr>
              <a:t>）通过交换投影运算，将其尽可能移到叶端</a:t>
            </a:r>
            <a:endParaRPr lang="zh-CN" altLang="en-US" dirty="0">
              <a:solidFill>
                <a:schemeClr val="accent2"/>
              </a:solidFill>
            </a:endParaRPr>
          </a:p>
          <a:p>
            <a:pPr algn="just" eaLnBrk="1" hangingPunct="1">
              <a:buNone/>
            </a:pPr>
            <a:r>
              <a:rPr lang="zh-CN" altLang="en-US" sz="3600" dirty="0"/>
              <a:t>	</a:t>
            </a:r>
            <a:r>
              <a:rPr lang="zh-CN" altLang="en-US" dirty="0">
                <a:solidFill>
                  <a:schemeClr val="tx1"/>
                </a:solidFill>
              </a:rPr>
              <a:t>对每一个投影利用规则</a:t>
            </a:r>
            <a:r>
              <a:rPr lang="en-US" altLang="zh-CN" dirty="0">
                <a:solidFill>
                  <a:schemeClr val="tx1"/>
                </a:solidFill>
              </a:rPr>
              <a:t>3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11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l0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5</a:t>
            </a:r>
            <a:r>
              <a:rPr lang="zh-CN" altLang="en-US" dirty="0">
                <a:solidFill>
                  <a:schemeClr val="tx1"/>
                </a:solidFill>
              </a:rPr>
              <a:t>中的一般形式尽可能把它移向树的叶端。</a:t>
            </a:r>
            <a:r>
              <a:rPr lang="zh-CN" altLang="en-US" sz="2800" dirty="0"/>
              <a:t> </a:t>
            </a:r>
            <a:endParaRPr lang="zh-CN" altLang="en-US" sz="2800" dirty="0"/>
          </a:p>
        </p:txBody>
      </p:sp>
      <p:sp>
        <p:nvSpPr>
          <p:cNvPr id="53252" name="Rectangle 3"/>
          <p:cNvSpPr>
            <a:spLocks noGrp="1"/>
          </p:cNvSpPr>
          <p:nvPr>
            <p:ph type="title"/>
          </p:nvPr>
        </p:nvSpPr>
        <p:spPr>
          <a:xfrm>
            <a:off x="901700" y="12700"/>
            <a:ext cx="7773988" cy="5334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9.3.2  </a:t>
            </a:r>
            <a:r>
              <a:rPr lang="zh-CN" altLang="en-US" sz="3200" dirty="0"/>
              <a:t>查询树的启发式优化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4275" name="Rectangle 2"/>
          <p:cNvSpPr>
            <a:spLocks noGrp="1"/>
          </p:cNvSpPr>
          <p:nvPr>
            <p:ph idx="1"/>
          </p:nvPr>
        </p:nvSpPr>
        <p:spPr>
          <a:xfrm>
            <a:off x="304800" y="838200"/>
            <a:ext cx="8534400" cy="55626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10000"/>
              </a:lnSpc>
              <a:buNone/>
            </a:pPr>
            <a:r>
              <a:rPr lang="zh-CN" altLang="en-US" sz="2800" dirty="0">
                <a:solidFill>
                  <a:schemeClr val="accent2"/>
                </a:solidFill>
              </a:rPr>
              <a:t>（</a:t>
            </a:r>
            <a:r>
              <a:rPr lang="en-US" altLang="zh-CN" sz="2800" dirty="0">
                <a:solidFill>
                  <a:schemeClr val="accent2"/>
                </a:solidFill>
              </a:rPr>
              <a:t>4</a:t>
            </a:r>
            <a:r>
              <a:rPr lang="zh-CN" altLang="en-US" sz="2800" dirty="0">
                <a:solidFill>
                  <a:schemeClr val="accent2"/>
                </a:solidFill>
              </a:rPr>
              <a:t>）合并串接的选择和投影，以便能同时执行或在一次扫描中完成</a:t>
            </a:r>
            <a:endParaRPr lang="zh-CN" altLang="en-US" sz="2800" dirty="0">
              <a:solidFill>
                <a:schemeClr val="accent2"/>
              </a:solidFill>
            </a:endParaRPr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dirty="0"/>
              <a:t>利用规则</a:t>
            </a:r>
            <a:r>
              <a:rPr lang="en-US" altLang="zh-CN" dirty="0"/>
              <a:t>3</a:t>
            </a:r>
            <a:r>
              <a:rPr lang="zh-CN" altLang="en-US" dirty="0"/>
              <a:t>～</a:t>
            </a:r>
            <a:r>
              <a:rPr lang="en-US" altLang="zh-CN" dirty="0"/>
              <a:t>5</a:t>
            </a:r>
            <a:r>
              <a:rPr lang="zh-CN" altLang="en-US" dirty="0"/>
              <a:t>把选择和投影的串接合并成单个选择、单个投影或一个选择后跟一个投影。</a:t>
            </a:r>
            <a:endParaRPr lang="zh-CN" altLang="en-US" dirty="0"/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dirty="0"/>
              <a:t>使多个选择或投影能同时执行，或在一次扫描中全部完成</a:t>
            </a:r>
            <a:endParaRPr lang="zh-CN" altLang="en-US" dirty="0"/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dirty="0"/>
              <a:t>尽管这种变换似乎违背“投影尽可能早做”的原则，但这样做效率更高。</a:t>
            </a:r>
            <a:r>
              <a:rPr lang="zh-CN" altLang="en-US" dirty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54276" name="Rectangle 6"/>
          <p:cNvSpPr>
            <a:spLocks noGrp="1"/>
          </p:cNvSpPr>
          <p:nvPr>
            <p:ph type="title"/>
          </p:nvPr>
        </p:nvSpPr>
        <p:spPr>
          <a:xfrm>
            <a:off x="1116013" y="152400"/>
            <a:ext cx="7342187" cy="468313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9.3.2  </a:t>
            </a:r>
            <a:r>
              <a:rPr lang="zh-CN" altLang="en-US" sz="3200" dirty="0"/>
              <a:t>查询树的启发式优化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5299" name="Rectangle 2"/>
          <p:cNvSpPr>
            <a:spLocks noGrp="1"/>
          </p:cNvSpPr>
          <p:nvPr>
            <p:ph idx="1"/>
          </p:nvPr>
        </p:nvSpPr>
        <p:spPr>
          <a:xfrm>
            <a:off x="304800" y="838200"/>
            <a:ext cx="8534400" cy="55626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10000"/>
              </a:lnSpc>
              <a:buNone/>
            </a:pPr>
            <a:r>
              <a:rPr lang="zh-CN" altLang="en-US" sz="2800" dirty="0">
                <a:solidFill>
                  <a:schemeClr val="accent2"/>
                </a:solidFill>
              </a:rPr>
              <a:t>（</a:t>
            </a:r>
            <a:r>
              <a:rPr lang="en-US" altLang="zh-CN" sz="2800" dirty="0">
                <a:solidFill>
                  <a:schemeClr val="accent2"/>
                </a:solidFill>
              </a:rPr>
              <a:t>5</a:t>
            </a:r>
            <a:r>
              <a:rPr lang="zh-CN" altLang="en-US" sz="2800" dirty="0">
                <a:solidFill>
                  <a:schemeClr val="accent2"/>
                </a:solidFill>
              </a:rPr>
              <a:t>）对内结点分组</a:t>
            </a:r>
            <a:endParaRPr lang="zh-CN" altLang="en-US" sz="2800" dirty="0">
              <a:solidFill>
                <a:schemeClr val="accent2"/>
              </a:solidFill>
            </a:endParaRPr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dirty="0"/>
              <a:t>把上述得到的语法树的内节点分组。</a:t>
            </a:r>
            <a:endParaRPr lang="zh-CN" altLang="en-US" dirty="0"/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dirty="0"/>
              <a:t>每一双目运算</a:t>
            </a:r>
            <a:r>
              <a:rPr lang="en-US" altLang="zh-CN" dirty="0"/>
              <a:t>(×</a:t>
            </a:r>
            <a:r>
              <a:rPr lang="zh-CN" altLang="en-US" dirty="0"/>
              <a:t>，  ，∪，</a:t>
            </a:r>
            <a:r>
              <a:rPr lang="en-US" altLang="zh-CN" dirty="0"/>
              <a:t>-)</a:t>
            </a:r>
            <a:r>
              <a:rPr lang="zh-CN" altLang="en-US" dirty="0"/>
              <a:t>和它所有的直接祖先</a:t>
            </a:r>
            <a:r>
              <a:rPr lang="en-US" altLang="zh-CN" dirty="0"/>
              <a:t>(</a:t>
            </a:r>
            <a:r>
              <a:rPr lang="zh-CN" altLang="en-US" dirty="0"/>
              <a:t>不越过别的二元运算结点</a:t>
            </a:r>
            <a:r>
              <a:rPr lang="en-US" altLang="zh-CN" dirty="0"/>
              <a:t>)</a:t>
            </a:r>
            <a:r>
              <a:rPr lang="zh-CN" altLang="en-US" dirty="0"/>
              <a:t>的一元运算结点 </a:t>
            </a:r>
            <a:r>
              <a:rPr lang="en-US" altLang="zh-CN" dirty="0"/>
              <a:t>(б</a:t>
            </a:r>
            <a:r>
              <a:rPr lang="zh-CN" altLang="en-US" dirty="0"/>
              <a:t>或</a:t>
            </a:r>
            <a:r>
              <a:rPr lang="en-US" altLang="zh-CN" dirty="0"/>
              <a:t>π)</a:t>
            </a:r>
            <a:r>
              <a:rPr lang="zh-CN" altLang="en-US" dirty="0"/>
              <a:t>分为一组。如果其后代直到叶子全是单目运算，则也将它们并入该组。</a:t>
            </a:r>
            <a:endParaRPr lang="zh-CN" altLang="en-US" dirty="0"/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dirty="0"/>
              <a:t>但当双目运算是笛卡尔积</a:t>
            </a:r>
            <a:r>
              <a:rPr lang="en-US" altLang="zh-CN" dirty="0"/>
              <a:t>(×)</a:t>
            </a:r>
            <a:r>
              <a:rPr lang="zh-CN" altLang="en-US" dirty="0"/>
              <a:t>，而且其后的选择不能与它结合为等值连接时，则不能将选择与这个</a:t>
            </a:r>
            <a:r>
              <a:rPr lang="en-US" altLang="zh-CN" dirty="0"/>
              <a:t>× </a:t>
            </a:r>
            <a:r>
              <a:rPr lang="zh-CN" altLang="en-US" dirty="0"/>
              <a:t>并成一组。</a:t>
            </a:r>
            <a:endParaRPr lang="zh-CN" altLang="en-US" sz="2400" dirty="0">
              <a:solidFill>
                <a:schemeClr val="accent2"/>
              </a:solidFill>
            </a:endParaRPr>
          </a:p>
        </p:txBody>
      </p:sp>
      <p:sp>
        <p:nvSpPr>
          <p:cNvPr id="55300" name="Rectangle 3"/>
          <p:cNvSpPr>
            <a:spLocks noGrp="1"/>
          </p:cNvSpPr>
          <p:nvPr>
            <p:ph type="title"/>
          </p:nvPr>
        </p:nvSpPr>
        <p:spPr>
          <a:xfrm>
            <a:off x="1403350" y="115888"/>
            <a:ext cx="6765925" cy="5334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9.3.2  </a:t>
            </a:r>
            <a:r>
              <a:rPr lang="zh-CN" altLang="en-US" sz="3200" dirty="0"/>
              <a:t>查询树的启发式优化</a:t>
            </a:r>
            <a:endParaRPr lang="zh-CN" altLang="en-US" sz="3200" dirty="0"/>
          </a:p>
        </p:txBody>
      </p:sp>
      <p:sp>
        <p:nvSpPr>
          <p:cNvPr id="55301" name="AutoShape 4"/>
          <p:cNvSpPr/>
          <p:nvPr/>
        </p:nvSpPr>
        <p:spPr>
          <a:xfrm rot="5400000">
            <a:off x="4114800" y="2133600"/>
            <a:ext cx="228600" cy="228600"/>
          </a:xfrm>
          <a:prstGeom prst="flowChartCollate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en-US" altLang="zh-CN" sz="14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6323" name="Rectangle 2"/>
          <p:cNvSpPr>
            <a:spLocks noGrp="1"/>
          </p:cNvSpPr>
          <p:nvPr>
            <p:ph idx="1"/>
          </p:nvPr>
        </p:nvSpPr>
        <p:spPr>
          <a:xfrm>
            <a:off x="304800" y="838200"/>
            <a:ext cx="8534400" cy="55626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  【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4】</a:t>
            </a:r>
            <a:r>
              <a:rPr lang="zh-CN" altLang="en-US" dirty="0">
                <a:solidFill>
                  <a:schemeClr val="tx1"/>
                </a:solidFill>
              </a:rPr>
              <a:t>下面给出［例</a:t>
            </a:r>
            <a:r>
              <a:rPr lang="en-US" altLang="zh-CN" dirty="0">
                <a:solidFill>
                  <a:schemeClr val="tx1"/>
                </a:solidFill>
              </a:rPr>
              <a:t>3</a:t>
            </a:r>
            <a:r>
              <a:rPr lang="zh-CN" altLang="en-US" dirty="0">
                <a:solidFill>
                  <a:schemeClr val="tx1"/>
                </a:solidFill>
              </a:rPr>
              <a:t>］中 </a:t>
            </a:r>
            <a:r>
              <a:rPr lang="en-US" altLang="zh-CN" dirty="0">
                <a:solidFill>
                  <a:schemeClr val="tx1"/>
                </a:solidFill>
              </a:rPr>
              <a:t>SQL</a:t>
            </a:r>
            <a:r>
              <a:rPr lang="zh-CN" altLang="en-US" dirty="0">
                <a:solidFill>
                  <a:schemeClr val="tx1"/>
                </a:solidFill>
              </a:rPr>
              <a:t>语句的代数优化示例。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    </a:t>
            </a:r>
            <a:r>
              <a:rPr lang="en-US" altLang="zh-CN" dirty="0">
                <a:solidFill>
                  <a:schemeClr val="tx1"/>
                </a:solidFill>
              </a:rPr>
              <a:t>(1) </a:t>
            </a:r>
            <a:r>
              <a:rPr lang="zh-CN" altLang="en-US" dirty="0">
                <a:solidFill>
                  <a:schemeClr val="tx1"/>
                </a:solidFill>
              </a:rPr>
              <a:t>把</a:t>
            </a:r>
            <a:r>
              <a:rPr lang="en-US" altLang="zh-CN" dirty="0">
                <a:solidFill>
                  <a:schemeClr val="tx1"/>
                </a:solidFill>
              </a:rPr>
              <a:t>SQL</a:t>
            </a:r>
            <a:r>
              <a:rPr lang="zh-CN" altLang="en-US" dirty="0">
                <a:solidFill>
                  <a:schemeClr val="tx1"/>
                </a:solidFill>
              </a:rPr>
              <a:t>语句转换成查询树，如下图所示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6324" name="Rectangle 3"/>
          <p:cNvSpPr>
            <a:spLocks noGrp="1"/>
          </p:cNvSpPr>
          <p:nvPr>
            <p:ph type="title"/>
          </p:nvPr>
        </p:nvSpPr>
        <p:spPr>
          <a:xfrm>
            <a:off x="901700" y="50800"/>
            <a:ext cx="7054850" cy="46355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9.3.2  </a:t>
            </a:r>
            <a:r>
              <a:rPr lang="zh-CN" altLang="en-US" sz="3200" dirty="0"/>
              <a:t>查询树的启发式优化</a:t>
            </a:r>
            <a:endParaRPr lang="zh-CN" altLang="en-US" sz="3200" dirty="0"/>
          </a:p>
        </p:txBody>
      </p:sp>
      <p:pic>
        <p:nvPicPr>
          <p:cNvPr id="56325" name="Picture 7" descr="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0338" y="2997200"/>
            <a:ext cx="2197100" cy="34559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7347" name="Rectangle 2"/>
          <p:cNvSpPr>
            <a:spLocks noGrp="1"/>
          </p:cNvSpPr>
          <p:nvPr>
            <p:ph idx="1"/>
          </p:nvPr>
        </p:nvSpPr>
        <p:spPr>
          <a:xfrm>
            <a:off x="304800" y="838200"/>
            <a:ext cx="8534400" cy="2735263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(2) </a:t>
            </a:r>
            <a:r>
              <a:rPr lang="zh-CN" altLang="en-US" dirty="0">
                <a:solidFill>
                  <a:schemeClr val="tx1"/>
                </a:solidFill>
              </a:rPr>
              <a:t>对查询树进行优化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	</a:t>
            </a:r>
            <a:r>
              <a:rPr lang="zh-CN" altLang="en-US" sz="2800" dirty="0">
                <a:solidFill>
                  <a:schemeClr val="tx1"/>
                </a:solidFill>
              </a:rPr>
              <a:t>利用规则</a:t>
            </a:r>
            <a:r>
              <a:rPr lang="en-US" altLang="zh-CN" sz="2800" dirty="0">
                <a:solidFill>
                  <a:schemeClr val="tx1"/>
                </a:solidFill>
              </a:rPr>
              <a:t>4</a:t>
            </a:r>
            <a:r>
              <a:rPr lang="zh-CN" altLang="en-US" sz="2800" dirty="0">
                <a:solidFill>
                  <a:schemeClr val="tx1"/>
                </a:solidFill>
              </a:rPr>
              <a:t>、</a:t>
            </a:r>
            <a:r>
              <a:rPr lang="en-US" altLang="zh-CN" sz="2800" dirty="0">
                <a:solidFill>
                  <a:schemeClr val="tx1"/>
                </a:solidFill>
              </a:rPr>
              <a:t>6</a:t>
            </a:r>
            <a:r>
              <a:rPr lang="zh-CN" altLang="en-US" sz="2800" dirty="0">
                <a:solidFill>
                  <a:schemeClr val="tx1"/>
                </a:solidFill>
              </a:rPr>
              <a:t>把选择</a:t>
            </a:r>
            <a:r>
              <a:rPr lang="en-US" altLang="zh-CN" sz="2800" dirty="0">
                <a:solidFill>
                  <a:schemeClr val="tx1"/>
                </a:solidFill>
              </a:rPr>
              <a:t>σ</a:t>
            </a:r>
            <a:r>
              <a:rPr lang="en-US" altLang="zh-CN" sz="2800" baseline="-25000" dirty="0">
                <a:solidFill>
                  <a:schemeClr val="tx1"/>
                </a:solidFill>
              </a:rPr>
              <a:t>SC.Cno</a:t>
            </a:r>
            <a:r>
              <a:rPr lang="en-US" altLang="zh-CN" sz="2800" dirty="0">
                <a:solidFill>
                  <a:schemeClr val="tx1"/>
                </a:solidFill>
              </a:rPr>
              <a:t>=‘2’</a:t>
            </a:r>
            <a:r>
              <a:rPr lang="zh-CN" altLang="en-US" sz="2800" dirty="0">
                <a:solidFill>
                  <a:schemeClr val="tx1"/>
                </a:solidFill>
              </a:rPr>
              <a:t>移到叶端，查询树便转换成下图所示的优化的查询树。这就是</a:t>
            </a:r>
            <a:r>
              <a:rPr lang="en-US" altLang="zh-CN" sz="2800" dirty="0">
                <a:solidFill>
                  <a:schemeClr val="tx1"/>
                </a:solidFill>
              </a:rPr>
              <a:t>9.2.2</a:t>
            </a:r>
            <a:r>
              <a:rPr lang="zh-CN" altLang="en-US" sz="2800" dirty="0">
                <a:solidFill>
                  <a:schemeClr val="tx1"/>
                </a:solidFill>
              </a:rPr>
              <a:t>节中</a:t>
            </a:r>
            <a:r>
              <a:rPr lang="en-US" altLang="zh-CN" sz="2800" dirty="0">
                <a:solidFill>
                  <a:schemeClr val="tx1"/>
                </a:solidFill>
              </a:rPr>
              <a:t>Q3</a:t>
            </a:r>
            <a:r>
              <a:rPr lang="zh-CN" altLang="en-US" sz="2800" dirty="0">
                <a:solidFill>
                  <a:schemeClr val="tx1"/>
                </a:solidFill>
              </a:rPr>
              <a:t>的查询树表示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7348" name="Rectangle 3"/>
          <p:cNvSpPr>
            <a:spLocks noGrp="1"/>
          </p:cNvSpPr>
          <p:nvPr>
            <p:ph type="title"/>
          </p:nvPr>
        </p:nvSpPr>
        <p:spPr>
          <a:xfrm>
            <a:off x="901700" y="50800"/>
            <a:ext cx="7054850" cy="46355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9.3.2  </a:t>
            </a:r>
            <a:r>
              <a:rPr lang="zh-CN" altLang="en-US" sz="3200" dirty="0"/>
              <a:t>查询树的启发式优化</a:t>
            </a:r>
            <a:endParaRPr lang="zh-CN" altLang="en-US" sz="3200" dirty="0"/>
          </a:p>
        </p:txBody>
      </p:sp>
      <p:pic>
        <p:nvPicPr>
          <p:cNvPr id="57349" name="Picture 6" descr="9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1638" y="2852738"/>
            <a:ext cx="2405062" cy="35290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8371" name="Rectangle 2"/>
          <p:cNvSpPr>
            <a:spLocks noGrp="1"/>
          </p:cNvSpPr>
          <p:nvPr>
            <p:ph idx="1"/>
          </p:nvPr>
        </p:nvSpPr>
        <p:spPr>
          <a:xfrm>
            <a:off x="304800" y="838200"/>
            <a:ext cx="8534400" cy="55626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【</a:t>
            </a:r>
            <a:r>
              <a:rPr lang="zh-CN" altLang="en-US" sz="2800" dirty="0">
                <a:solidFill>
                  <a:schemeClr val="tx1"/>
                </a:solidFill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</a:rPr>
              <a:t>5】 </a:t>
            </a:r>
            <a:r>
              <a:rPr lang="zh-CN" altLang="en-US" sz="2800" dirty="0">
                <a:solidFill>
                  <a:schemeClr val="tx1"/>
                </a:solidFill>
              </a:rPr>
              <a:t>检索选修了“数据库”课程的女生学号与姓名。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      </a:t>
            </a:r>
            <a:r>
              <a:rPr lang="en-US" altLang="zh-CN" sz="2800" dirty="0">
                <a:solidFill>
                  <a:schemeClr val="tx1"/>
                </a:solidFill>
              </a:rPr>
              <a:t>S(S#,Sname,Sbirth,Sex)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        C(C#,Cname)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        SC(S#,C#,Grade)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该查询的关系代数表达式如下</a:t>
            </a:r>
            <a:r>
              <a:rPr lang="en-US" altLang="zh-CN" sz="2800" dirty="0">
                <a:solidFill>
                  <a:schemeClr val="tx1"/>
                </a:solidFill>
              </a:rPr>
              <a:t>: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3600" dirty="0">
                <a:solidFill>
                  <a:schemeClr val="tx1"/>
                </a:solidFill>
                <a:sym typeface="Symbol" panose="05050102010706020507" pitchFamily="18" charset="2"/>
              </a:rPr>
              <a:t></a:t>
            </a:r>
            <a:r>
              <a:rPr lang="en-US" altLang="zh-CN" sz="3600" baseline="-18000" dirty="0">
                <a:solidFill>
                  <a:schemeClr val="tx1"/>
                </a:solidFill>
                <a:sym typeface="Symbol" panose="05050102010706020507" pitchFamily="18" charset="2"/>
              </a:rPr>
              <a:t>S#,Sname</a:t>
            </a:r>
            <a:r>
              <a:rPr lang="en-US" altLang="zh-CN" sz="3600" dirty="0">
                <a:solidFill>
                  <a:schemeClr val="tx1"/>
                </a:solidFill>
                <a:sym typeface="Symbol" panose="05050102010706020507" pitchFamily="18" charset="2"/>
              </a:rPr>
              <a:t>(</a:t>
            </a:r>
            <a:r>
              <a:rPr lang="en-US" altLang="zh-CN" sz="4000" dirty="0">
                <a:solidFill>
                  <a:schemeClr val="tx1"/>
                </a:solidFill>
                <a:sym typeface="Symbol" panose="05050102010706020507" pitchFamily="18" charset="2"/>
              </a:rPr>
              <a:t></a:t>
            </a:r>
            <a:r>
              <a:rPr lang="en-US" altLang="zh-CN" baseline="-20000" dirty="0">
                <a:solidFill>
                  <a:schemeClr val="tx1"/>
                </a:solidFill>
                <a:sym typeface="Symbol" panose="05050102010706020507" pitchFamily="18" charset="2"/>
              </a:rPr>
              <a:t>cname=‘</a:t>
            </a:r>
            <a:r>
              <a:rPr lang="zh-CN" altLang="en-US" baseline="-20000" dirty="0">
                <a:solidFill>
                  <a:schemeClr val="tx1"/>
                </a:solidFill>
                <a:sym typeface="Symbol" panose="05050102010706020507" pitchFamily="18" charset="2"/>
              </a:rPr>
              <a:t>数据库’  </a:t>
            </a:r>
            <a:r>
              <a:rPr lang="en-US" altLang="zh-CN" baseline="-20000" dirty="0">
                <a:solidFill>
                  <a:schemeClr val="tx1"/>
                </a:solidFill>
                <a:sym typeface="Symbol" panose="05050102010706020507" pitchFamily="18" charset="2"/>
              </a:rPr>
              <a:t>^ sex=‘</a:t>
            </a:r>
            <a:r>
              <a:rPr lang="zh-CN" altLang="en-US" baseline="-20000" dirty="0">
                <a:solidFill>
                  <a:schemeClr val="tx1"/>
                </a:solidFill>
                <a:sym typeface="Symbol" panose="05050102010706020507" pitchFamily="18" charset="2"/>
              </a:rPr>
              <a:t>女’  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(SC    C    S) </a:t>
            </a:r>
            <a:r>
              <a:rPr lang="en-US" altLang="zh-CN" sz="3600" dirty="0">
                <a:solidFill>
                  <a:schemeClr val="tx1"/>
                </a:solidFill>
                <a:sym typeface="Symbol" panose="05050102010706020507" pitchFamily="18" charset="2"/>
              </a:rPr>
              <a:t>)</a:t>
            </a:r>
            <a:endParaRPr lang="en-US" altLang="zh-CN" sz="36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algn="just" eaLnBrk="1" hangingPunct="1">
              <a:lnSpc>
                <a:spcPct val="120000"/>
              </a:lnSpc>
              <a:buNone/>
            </a:pPr>
            <a:endParaRPr lang="en-US" altLang="zh-CN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endParaRPr lang="en-US" altLang="zh-CN" sz="2800" dirty="0">
              <a:solidFill>
                <a:schemeClr val="tx1"/>
              </a:solidFill>
            </a:endParaRPr>
          </a:p>
        </p:txBody>
      </p:sp>
      <p:sp>
        <p:nvSpPr>
          <p:cNvPr id="58372" name="Rectangle 3"/>
          <p:cNvSpPr>
            <a:spLocks noGrp="1"/>
          </p:cNvSpPr>
          <p:nvPr>
            <p:ph type="title"/>
          </p:nvPr>
        </p:nvSpPr>
        <p:spPr>
          <a:xfrm>
            <a:off x="901700" y="50800"/>
            <a:ext cx="7054850" cy="46355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9.3.2  </a:t>
            </a:r>
            <a:r>
              <a:rPr lang="zh-CN" altLang="en-US" sz="3200" dirty="0"/>
              <a:t>查询树的启发式优化</a:t>
            </a:r>
            <a:endParaRPr lang="zh-CN" altLang="en-US" sz="3200" dirty="0"/>
          </a:p>
        </p:txBody>
      </p:sp>
      <p:sp>
        <p:nvSpPr>
          <p:cNvPr id="58373" name="AutoShape 4"/>
          <p:cNvSpPr/>
          <p:nvPr/>
        </p:nvSpPr>
        <p:spPr>
          <a:xfrm rot="5400000">
            <a:off x="6935788" y="4713288"/>
            <a:ext cx="228600" cy="228600"/>
          </a:xfrm>
          <a:prstGeom prst="flowChartCollate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58374" name="AutoShape 5"/>
          <p:cNvSpPr/>
          <p:nvPr/>
        </p:nvSpPr>
        <p:spPr>
          <a:xfrm rot="5400000">
            <a:off x="7656513" y="4713288"/>
            <a:ext cx="228600" cy="228600"/>
          </a:xfrm>
          <a:prstGeom prst="flowChartCollate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en-US" altLang="zh-CN" sz="14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9395" name="Rectangle 2"/>
          <p:cNvSpPr>
            <a:spLocks noGrp="1"/>
          </p:cNvSpPr>
          <p:nvPr>
            <p:ph idx="1"/>
          </p:nvPr>
        </p:nvSpPr>
        <p:spPr>
          <a:xfrm>
            <a:off x="304800" y="838200"/>
            <a:ext cx="6019800" cy="762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关系代数的语法树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: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59396" name="Rectangle 3"/>
          <p:cNvSpPr>
            <a:spLocks noGrp="1"/>
          </p:cNvSpPr>
          <p:nvPr>
            <p:ph type="title"/>
          </p:nvPr>
        </p:nvSpPr>
        <p:spPr>
          <a:xfrm>
            <a:off x="901700" y="60325"/>
            <a:ext cx="7558088" cy="5334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9.3.2  </a:t>
            </a:r>
            <a:r>
              <a:rPr lang="zh-CN" altLang="en-US" sz="3200" dirty="0"/>
              <a:t>查询树的启发式优化</a:t>
            </a:r>
            <a:endParaRPr lang="zh-CN" altLang="en-US" sz="3200" dirty="0"/>
          </a:p>
        </p:txBody>
      </p:sp>
      <p:sp>
        <p:nvSpPr>
          <p:cNvPr id="59397" name="AutoShape 4"/>
          <p:cNvSpPr/>
          <p:nvPr/>
        </p:nvSpPr>
        <p:spPr>
          <a:xfrm rot="5400000">
            <a:off x="3429000" y="4876800"/>
            <a:ext cx="228600" cy="228600"/>
          </a:xfrm>
          <a:prstGeom prst="flowChartCollate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59398" name="AutoShape 5"/>
          <p:cNvSpPr/>
          <p:nvPr/>
        </p:nvSpPr>
        <p:spPr>
          <a:xfrm rot="5400000">
            <a:off x="4419600" y="4114800"/>
            <a:ext cx="228600" cy="228600"/>
          </a:xfrm>
          <a:prstGeom prst="flowChartCollate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59399" name="Text Box 6"/>
          <p:cNvSpPr txBox="1"/>
          <p:nvPr/>
        </p:nvSpPr>
        <p:spPr>
          <a:xfrm>
            <a:off x="2590800" y="5562600"/>
            <a:ext cx="639763" cy="5191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800" b="0" dirty="0">
                <a:solidFill>
                  <a:schemeClr val="tx1"/>
                </a:solidFill>
                <a:ea typeface="经典综艺体简" pitchFamily="49" charset="-122"/>
              </a:rPr>
              <a:t>SC</a:t>
            </a:r>
            <a:endParaRPr lang="en-US" altLang="zh-CN" sz="2800" b="0" dirty="0">
              <a:solidFill>
                <a:schemeClr val="tx1"/>
              </a:solidFill>
              <a:ea typeface="经典综艺体简" pitchFamily="49" charset="-122"/>
            </a:endParaRPr>
          </a:p>
        </p:txBody>
      </p:sp>
      <p:sp>
        <p:nvSpPr>
          <p:cNvPr id="59400" name="Text Box 7"/>
          <p:cNvSpPr txBox="1"/>
          <p:nvPr/>
        </p:nvSpPr>
        <p:spPr>
          <a:xfrm>
            <a:off x="3908425" y="5562600"/>
            <a:ext cx="441325" cy="5191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800" b="0" dirty="0">
                <a:solidFill>
                  <a:schemeClr val="tx1"/>
                </a:solidFill>
                <a:ea typeface="经典综艺体简" pitchFamily="49" charset="-122"/>
              </a:rPr>
              <a:t>C</a:t>
            </a:r>
            <a:endParaRPr lang="en-US" altLang="zh-CN" sz="2800" b="0" dirty="0">
              <a:solidFill>
                <a:schemeClr val="tx1"/>
              </a:solidFill>
              <a:ea typeface="经典综艺体简" pitchFamily="49" charset="-122"/>
            </a:endParaRPr>
          </a:p>
        </p:txBody>
      </p:sp>
      <p:sp>
        <p:nvSpPr>
          <p:cNvPr id="59401" name="Text Box 8"/>
          <p:cNvSpPr txBox="1"/>
          <p:nvPr/>
        </p:nvSpPr>
        <p:spPr>
          <a:xfrm>
            <a:off x="5233988" y="4648200"/>
            <a:ext cx="382587" cy="5191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800" b="0" dirty="0">
                <a:solidFill>
                  <a:schemeClr val="tx1"/>
                </a:solidFill>
                <a:ea typeface="经典综艺体简" pitchFamily="49" charset="-122"/>
              </a:rPr>
              <a:t>S</a:t>
            </a:r>
            <a:endParaRPr lang="en-US" altLang="zh-CN" sz="2800" b="0" dirty="0">
              <a:solidFill>
                <a:schemeClr val="tx1"/>
              </a:solidFill>
              <a:ea typeface="经典综艺体简" pitchFamily="49" charset="-122"/>
            </a:endParaRPr>
          </a:p>
        </p:txBody>
      </p:sp>
      <p:sp>
        <p:nvSpPr>
          <p:cNvPr id="59402" name="Rectangle 9"/>
          <p:cNvSpPr/>
          <p:nvPr/>
        </p:nvSpPr>
        <p:spPr>
          <a:xfrm>
            <a:off x="4267200" y="2705100"/>
            <a:ext cx="3676650" cy="7016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4000" b="0" dirty="0">
                <a:solidFill>
                  <a:schemeClr val="tx1"/>
                </a:solidFill>
                <a:sym typeface="Symbol" panose="05050102010706020507" pitchFamily="18" charset="2"/>
              </a:rPr>
              <a:t></a:t>
            </a:r>
            <a:r>
              <a:rPr lang="en-US" altLang="zh-CN" b="0" baseline="-20000" dirty="0">
                <a:solidFill>
                  <a:schemeClr val="tx1"/>
                </a:solidFill>
                <a:sym typeface="Symbol" panose="05050102010706020507" pitchFamily="18" charset="2"/>
              </a:rPr>
              <a:t>cname=‘</a:t>
            </a:r>
            <a:r>
              <a:rPr lang="zh-CN" altLang="en-US" b="0" baseline="-20000" dirty="0">
                <a:solidFill>
                  <a:schemeClr val="tx1"/>
                </a:solidFill>
                <a:sym typeface="Symbol" panose="05050102010706020507" pitchFamily="18" charset="2"/>
              </a:rPr>
              <a:t>数据库’  </a:t>
            </a:r>
            <a:r>
              <a:rPr lang="en-US" altLang="zh-CN" b="0" baseline="-20000" dirty="0">
                <a:solidFill>
                  <a:schemeClr val="tx1"/>
                </a:solidFill>
                <a:sym typeface="Symbol" panose="05050102010706020507" pitchFamily="18" charset="2"/>
              </a:rPr>
              <a:t>^ sex=‘</a:t>
            </a:r>
            <a:r>
              <a:rPr lang="zh-CN" altLang="en-US" b="0" baseline="-20000" dirty="0">
                <a:solidFill>
                  <a:schemeClr val="tx1"/>
                </a:solidFill>
                <a:sym typeface="Symbol" panose="05050102010706020507" pitchFamily="18" charset="2"/>
              </a:rPr>
              <a:t>女’</a:t>
            </a:r>
            <a:endParaRPr lang="zh-CN" altLang="en-US" b="0" baseline="-200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59403" name="Rectangle 10"/>
          <p:cNvSpPr/>
          <p:nvPr/>
        </p:nvSpPr>
        <p:spPr>
          <a:xfrm>
            <a:off x="4191000" y="1828800"/>
            <a:ext cx="1814513" cy="64135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600" b="0" dirty="0">
                <a:solidFill>
                  <a:schemeClr val="tx1"/>
                </a:solidFill>
                <a:sym typeface="Symbol" panose="05050102010706020507" pitchFamily="18" charset="2"/>
              </a:rPr>
              <a:t></a:t>
            </a:r>
            <a:r>
              <a:rPr lang="en-US" altLang="zh-CN" sz="3600" b="0" baseline="-18000" dirty="0">
                <a:solidFill>
                  <a:schemeClr val="tx1"/>
                </a:solidFill>
                <a:sym typeface="Symbol" panose="05050102010706020507" pitchFamily="18" charset="2"/>
              </a:rPr>
              <a:t>S#,Sname</a:t>
            </a:r>
            <a:endParaRPr lang="en-US" altLang="zh-CN" sz="3600" b="0" baseline="-180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59404" name="Line 11"/>
          <p:cNvSpPr/>
          <p:nvPr/>
        </p:nvSpPr>
        <p:spPr>
          <a:xfrm flipV="1">
            <a:off x="2971800" y="5181600"/>
            <a:ext cx="381000" cy="38100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405" name="Line 12"/>
          <p:cNvSpPr/>
          <p:nvPr/>
        </p:nvSpPr>
        <p:spPr>
          <a:xfrm>
            <a:off x="3581400" y="5181600"/>
            <a:ext cx="381000" cy="45720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406" name="Line 13"/>
          <p:cNvSpPr/>
          <p:nvPr/>
        </p:nvSpPr>
        <p:spPr>
          <a:xfrm flipV="1">
            <a:off x="3733800" y="4343400"/>
            <a:ext cx="533400" cy="45720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407" name="Line 14"/>
          <p:cNvSpPr/>
          <p:nvPr/>
        </p:nvSpPr>
        <p:spPr>
          <a:xfrm>
            <a:off x="4724400" y="4343400"/>
            <a:ext cx="533400" cy="45720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408" name="Line 15"/>
          <p:cNvSpPr/>
          <p:nvPr/>
        </p:nvSpPr>
        <p:spPr>
          <a:xfrm>
            <a:off x="4495800" y="3429000"/>
            <a:ext cx="0" cy="53340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409" name="Line 16"/>
          <p:cNvSpPr/>
          <p:nvPr/>
        </p:nvSpPr>
        <p:spPr>
          <a:xfrm>
            <a:off x="4495800" y="2438400"/>
            <a:ext cx="0" cy="45720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0419" name="Rectangle 2"/>
          <p:cNvSpPr>
            <a:spLocks noGrp="1"/>
          </p:cNvSpPr>
          <p:nvPr>
            <p:ph idx="1"/>
          </p:nvPr>
        </p:nvSpPr>
        <p:spPr>
          <a:xfrm>
            <a:off x="304800" y="838200"/>
            <a:ext cx="6019800" cy="762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选择操作尽量下移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: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60420" name="Rectangle 3"/>
          <p:cNvSpPr>
            <a:spLocks noGrp="1"/>
          </p:cNvSpPr>
          <p:nvPr>
            <p:ph type="title"/>
          </p:nvPr>
        </p:nvSpPr>
        <p:spPr>
          <a:xfrm>
            <a:off x="901700" y="12700"/>
            <a:ext cx="7415213" cy="5334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9.3.2  </a:t>
            </a:r>
            <a:r>
              <a:rPr lang="zh-CN" altLang="en-US" sz="3200" dirty="0"/>
              <a:t>查询树的启发式优化</a:t>
            </a:r>
            <a:endParaRPr lang="zh-CN" altLang="en-US" sz="3200" dirty="0"/>
          </a:p>
        </p:txBody>
      </p:sp>
      <p:sp>
        <p:nvSpPr>
          <p:cNvPr id="60421" name="AutoShape 4"/>
          <p:cNvSpPr/>
          <p:nvPr/>
        </p:nvSpPr>
        <p:spPr>
          <a:xfrm rot="5400000">
            <a:off x="3429000" y="3771900"/>
            <a:ext cx="228600" cy="228600"/>
          </a:xfrm>
          <a:prstGeom prst="flowChartCollate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60422" name="AutoShape 5"/>
          <p:cNvSpPr/>
          <p:nvPr/>
        </p:nvSpPr>
        <p:spPr>
          <a:xfrm rot="5400000">
            <a:off x="4419600" y="3009900"/>
            <a:ext cx="228600" cy="228600"/>
          </a:xfrm>
          <a:prstGeom prst="flowChartCollate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60423" name="Text Box 6"/>
          <p:cNvSpPr txBox="1"/>
          <p:nvPr/>
        </p:nvSpPr>
        <p:spPr>
          <a:xfrm>
            <a:off x="2590800" y="4457700"/>
            <a:ext cx="639763" cy="5191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800" b="0" dirty="0">
                <a:solidFill>
                  <a:schemeClr val="tx1"/>
                </a:solidFill>
                <a:ea typeface="经典综艺体简" pitchFamily="49" charset="-122"/>
              </a:rPr>
              <a:t>SC</a:t>
            </a:r>
            <a:endParaRPr lang="en-US" altLang="zh-CN" sz="2800" b="0" dirty="0">
              <a:solidFill>
                <a:schemeClr val="tx1"/>
              </a:solidFill>
              <a:ea typeface="经典综艺体简" pitchFamily="49" charset="-122"/>
            </a:endParaRPr>
          </a:p>
        </p:txBody>
      </p:sp>
      <p:sp>
        <p:nvSpPr>
          <p:cNvPr id="60424" name="Text Box 7"/>
          <p:cNvSpPr txBox="1"/>
          <p:nvPr/>
        </p:nvSpPr>
        <p:spPr>
          <a:xfrm>
            <a:off x="3797300" y="5626100"/>
            <a:ext cx="441325" cy="5191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800" b="0" dirty="0">
                <a:solidFill>
                  <a:schemeClr val="tx1"/>
                </a:solidFill>
                <a:ea typeface="经典综艺体简" pitchFamily="49" charset="-122"/>
              </a:rPr>
              <a:t>C</a:t>
            </a:r>
            <a:endParaRPr lang="en-US" altLang="zh-CN" sz="2800" b="0" dirty="0">
              <a:solidFill>
                <a:schemeClr val="tx1"/>
              </a:solidFill>
              <a:ea typeface="经典综艺体简" pitchFamily="49" charset="-122"/>
            </a:endParaRPr>
          </a:p>
        </p:txBody>
      </p:sp>
      <p:sp>
        <p:nvSpPr>
          <p:cNvPr id="60425" name="Text Box 8"/>
          <p:cNvSpPr txBox="1"/>
          <p:nvPr/>
        </p:nvSpPr>
        <p:spPr>
          <a:xfrm>
            <a:off x="6553200" y="4876800"/>
            <a:ext cx="382588" cy="5191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800" b="0" dirty="0">
                <a:solidFill>
                  <a:schemeClr val="tx1"/>
                </a:solidFill>
                <a:ea typeface="经典综艺体简" pitchFamily="49" charset="-122"/>
              </a:rPr>
              <a:t>S</a:t>
            </a:r>
            <a:endParaRPr lang="en-US" altLang="zh-CN" sz="2800" b="0" dirty="0">
              <a:solidFill>
                <a:schemeClr val="tx1"/>
              </a:solidFill>
              <a:ea typeface="经典综艺体简" pitchFamily="49" charset="-122"/>
            </a:endParaRPr>
          </a:p>
        </p:txBody>
      </p:sp>
      <p:sp>
        <p:nvSpPr>
          <p:cNvPr id="60426" name="Rectangle 9"/>
          <p:cNvSpPr/>
          <p:nvPr/>
        </p:nvSpPr>
        <p:spPr>
          <a:xfrm>
            <a:off x="4191000" y="1828800"/>
            <a:ext cx="1814513" cy="64135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600" b="0" dirty="0">
                <a:solidFill>
                  <a:schemeClr val="tx1"/>
                </a:solidFill>
                <a:sym typeface="Symbol" panose="05050102010706020507" pitchFamily="18" charset="2"/>
              </a:rPr>
              <a:t></a:t>
            </a:r>
            <a:r>
              <a:rPr lang="en-US" altLang="zh-CN" sz="3600" b="0" baseline="-18000" dirty="0">
                <a:solidFill>
                  <a:schemeClr val="tx1"/>
                </a:solidFill>
                <a:sym typeface="Symbol" panose="05050102010706020507" pitchFamily="18" charset="2"/>
              </a:rPr>
              <a:t>S#,Sname</a:t>
            </a:r>
            <a:endParaRPr lang="en-US" altLang="zh-CN" sz="3600" b="0" baseline="-180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60427" name="Line 10"/>
          <p:cNvSpPr/>
          <p:nvPr/>
        </p:nvSpPr>
        <p:spPr>
          <a:xfrm flipV="1">
            <a:off x="2971800" y="4076700"/>
            <a:ext cx="381000" cy="38100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0428" name="Line 11"/>
          <p:cNvSpPr/>
          <p:nvPr/>
        </p:nvSpPr>
        <p:spPr>
          <a:xfrm>
            <a:off x="3581400" y="4076700"/>
            <a:ext cx="381000" cy="45720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0429" name="Line 12"/>
          <p:cNvSpPr/>
          <p:nvPr/>
        </p:nvSpPr>
        <p:spPr>
          <a:xfrm flipV="1">
            <a:off x="3733800" y="3238500"/>
            <a:ext cx="533400" cy="45720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0430" name="Line 13"/>
          <p:cNvSpPr/>
          <p:nvPr/>
        </p:nvSpPr>
        <p:spPr>
          <a:xfrm>
            <a:off x="4724400" y="3238500"/>
            <a:ext cx="1828800" cy="80010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0431" name="Line 14"/>
          <p:cNvSpPr/>
          <p:nvPr/>
        </p:nvSpPr>
        <p:spPr>
          <a:xfrm>
            <a:off x="4495800" y="2438400"/>
            <a:ext cx="0" cy="45720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0432" name="Rectangle 15"/>
          <p:cNvSpPr/>
          <p:nvPr/>
        </p:nvSpPr>
        <p:spPr>
          <a:xfrm>
            <a:off x="6477000" y="3733800"/>
            <a:ext cx="1444625" cy="7016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4000" b="0" dirty="0">
                <a:solidFill>
                  <a:schemeClr val="tx1"/>
                </a:solidFill>
                <a:sym typeface="Symbol" panose="05050102010706020507" pitchFamily="18" charset="2"/>
              </a:rPr>
              <a:t></a:t>
            </a:r>
            <a:r>
              <a:rPr lang="en-US" altLang="zh-CN" b="0" baseline="-20000" dirty="0">
                <a:solidFill>
                  <a:schemeClr val="tx1"/>
                </a:solidFill>
                <a:sym typeface="Symbol" panose="05050102010706020507" pitchFamily="18" charset="2"/>
              </a:rPr>
              <a:t>sex=‘</a:t>
            </a:r>
            <a:r>
              <a:rPr lang="zh-CN" altLang="en-US" b="0" baseline="-20000" dirty="0">
                <a:solidFill>
                  <a:schemeClr val="tx1"/>
                </a:solidFill>
                <a:sym typeface="Symbol" panose="05050102010706020507" pitchFamily="18" charset="2"/>
              </a:rPr>
              <a:t>女’</a:t>
            </a:r>
            <a:endParaRPr lang="zh-CN" altLang="en-US" b="0" baseline="-200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60433" name="Rectangle 16"/>
          <p:cNvSpPr/>
          <p:nvPr/>
        </p:nvSpPr>
        <p:spPr>
          <a:xfrm>
            <a:off x="3771900" y="4381500"/>
            <a:ext cx="2366963" cy="7016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4000" b="0" dirty="0">
                <a:solidFill>
                  <a:schemeClr val="tx1"/>
                </a:solidFill>
                <a:sym typeface="Symbol" panose="05050102010706020507" pitchFamily="18" charset="2"/>
              </a:rPr>
              <a:t></a:t>
            </a:r>
            <a:r>
              <a:rPr lang="en-US" altLang="zh-CN" b="0" baseline="-20000" dirty="0">
                <a:solidFill>
                  <a:schemeClr val="tx1"/>
                </a:solidFill>
                <a:sym typeface="Symbol" panose="05050102010706020507" pitchFamily="18" charset="2"/>
              </a:rPr>
              <a:t>cname=‘</a:t>
            </a:r>
            <a:r>
              <a:rPr lang="zh-CN" altLang="en-US" b="0" baseline="-20000" dirty="0">
                <a:solidFill>
                  <a:schemeClr val="tx1"/>
                </a:solidFill>
                <a:sym typeface="Symbol" panose="05050102010706020507" pitchFamily="18" charset="2"/>
              </a:rPr>
              <a:t>数据库’</a:t>
            </a:r>
            <a:endParaRPr lang="zh-CN" altLang="en-US" b="0" baseline="-200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60434" name="Line 17"/>
          <p:cNvSpPr/>
          <p:nvPr/>
        </p:nvSpPr>
        <p:spPr>
          <a:xfrm>
            <a:off x="6705600" y="4419600"/>
            <a:ext cx="0" cy="38100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0435" name="Line 18"/>
          <p:cNvSpPr/>
          <p:nvPr/>
        </p:nvSpPr>
        <p:spPr>
          <a:xfrm flipV="1">
            <a:off x="4013200" y="5003800"/>
            <a:ext cx="0" cy="68580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1443" name="Rectangle 2"/>
          <p:cNvSpPr>
            <a:spLocks noGrp="1"/>
          </p:cNvSpPr>
          <p:nvPr>
            <p:ph idx="1"/>
          </p:nvPr>
        </p:nvSpPr>
        <p:spPr>
          <a:xfrm>
            <a:off x="304800" y="838200"/>
            <a:ext cx="6019800" cy="762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投影尽量下移：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1444" name="Rectangle 3"/>
          <p:cNvSpPr>
            <a:spLocks noGrp="1"/>
          </p:cNvSpPr>
          <p:nvPr>
            <p:ph type="title"/>
          </p:nvPr>
        </p:nvSpPr>
        <p:spPr>
          <a:xfrm>
            <a:off x="901700" y="41275"/>
            <a:ext cx="7199313" cy="5334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9.3.2  </a:t>
            </a:r>
            <a:r>
              <a:rPr lang="zh-CN" altLang="en-US" sz="3200" dirty="0"/>
              <a:t>查询树的启发式优化</a:t>
            </a:r>
            <a:endParaRPr lang="zh-CN" altLang="en-US" sz="3200" dirty="0"/>
          </a:p>
        </p:txBody>
      </p:sp>
      <p:sp>
        <p:nvSpPr>
          <p:cNvPr id="61445" name="AutoShape 4"/>
          <p:cNvSpPr/>
          <p:nvPr/>
        </p:nvSpPr>
        <p:spPr>
          <a:xfrm rot="5400000">
            <a:off x="3429000" y="3352800"/>
            <a:ext cx="228600" cy="228600"/>
          </a:xfrm>
          <a:prstGeom prst="flowChartCollate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61446" name="AutoShape 5"/>
          <p:cNvSpPr/>
          <p:nvPr/>
        </p:nvSpPr>
        <p:spPr>
          <a:xfrm rot="5400000">
            <a:off x="4406900" y="1765300"/>
            <a:ext cx="228600" cy="228600"/>
          </a:xfrm>
          <a:prstGeom prst="flowChartCollate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61447" name="Text Box 6"/>
          <p:cNvSpPr txBox="1"/>
          <p:nvPr/>
        </p:nvSpPr>
        <p:spPr>
          <a:xfrm>
            <a:off x="2209800" y="5181600"/>
            <a:ext cx="639763" cy="5191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800" b="0" dirty="0">
                <a:solidFill>
                  <a:schemeClr val="tx1"/>
                </a:solidFill>
                <a:ea typeface="经典综艺体简" pitchFamily="49" charset="-122"/>
              </a:rPr>
              <a:t>SC</a:t>
            </a:r>
            <a:endParaRPr lang="en-US" altLang="zh-CN" sz="2800" b="0" dirty="0">
              <a:solidFill>
                <a:schemeClr val="tx1"/>
              </a:solidFill>
              <a:ea typeface="经典综艺体简" pitchFamily="49" charset="-122"/>
            </a:endParaRPr>
          </a:p>
        </p:txBody>
      </p:sp>
      <p:sp>
        <p:nvSpPr>
          <p:cNvPr id="61448" name="Text Box 7"/>
          <p:cNvSpPr txBox="1"/>
          <p:nvPr/>
        </p:nvSpPr>
        <p:spPr>
          <a:xfrm>
            <a:off x="3860800" y="5842000"/>
            <a:ext cx="441325" cy="5191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800" b="0" dirty="0">
                <a:solidFill>
                  <a:schemeClr val="tx1"/>
                </a:solidFill>
                <a:ea typeface="经典综艺体简" pitchFamily="49" charset="-122"/>
              </a:rPr>
              <a:t>C</a:t>
            </a:r>
            <a:endParaRPr lang="en-US" altLang="zh-CN" sz="2800" b="0" dirty="0">
              <a:solidFill>
                <a:schemeClr val="tx1"/>
              </a:solidFill>
              <a:ea typeface="经典综艺体简" pitchFamily="49" charset="-122"/>
            </a:endParaRPr>
          </a:p>
        </p:txBody>
      </p:sp>
      <p:sp>
        <p:nvSpPr>
          <p:cNvPr id="61449" name="Text Box 8"/>
          <p:cNvSpPr txBox="1"/>
          <p:nvPr/>
        </p:nvSpPr>
        <p:spPr>
          <a:xfrm>
            <a:off x="6546850" y="4406900"/>
            <a:ext cx="382588" cy="5191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800" b="0" dirty="0">
                <a:solidFill>
                  <a:schemeClr val="tx1"/>
                </a:solidFill>
                <a:ea typeface="经典综艺体简" pitchFamily="49" charset="-122"/>
              </a:rPr>
              <a:t>S</a:t>
            </a:r>
            <a:endParaRPr lang="en-US" altLang="zh-CN" sz="2800" b="0" dirty="0">
              <a:solidFill>
                <a:schemeClr val="tx1"/>
              </a:solidFill>
              <a:ea typeface="经典综艺体简" pitchFamily="49" charset="-122"/>
            </a:endParaRPr>
          </a:p>
        </p:txBody>
      </p:sp>
      <p:sp>
        <p:nvSpPr>
          <p:cNvPr id="61450" name="Rectangle 9"/>
          <p:cNvSpPr/>
          <p:nvPr/>
        </p:nvSpPr>
        <p:spPr>
          <a:xfrm>
            <a:off x="4191000" y="800100"/>
            <a:ext cx="1814513" cy="64135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600" b="0" dirty="0">
                <a:solidFill>
                  <a:schemeClr val="tx1"/>
                </a:solidFill>
                <a:sym typeface="Symbol" panose="05050102010706020507" pitchFamily="18" charset="2"/>
              </a:rPr>
              <a:t></a:t>
            </a:r>
            <a:r>
              <a:rPr lang="en-US" altLang="zh-CN" sz="3600" b="0" baseline="-18000" dirty="0">
                <a:solidFill>
                  <a:schemeClr val="tx1"/>
                </a:solidFill>
                <a:sym typeface="Symbol" panose="05050102010706020507" pitchFamily="18" charset="2"/>
              </a:rPr>
              <a:t>S#,Sname</a:t>
            </a:r>
            <a:endParaRPr lang="en-US" altLang="zh-CN" sz="3600" b="0" baseline="-180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61451" name="Line 10"/>
          <p:cNvSpPr/>
          <p:nvPr/>
        </p:nvSpPr>
        <p:spPr>
          <a:xfrm flipV="1">
            <a:off x="2743200" y="3657600"/>
            <a:ext cx="609600" cy="45720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52" name="Line 11"/>
          <p:cNvSpPr/>
          <p:nvPr/>
        </p:nvSpPr>
        <p:spPr>
          <a:xfrm>
            <a:off x="3581400" y="3657600"/>
            <a:ext cx="381000" cy="45720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53" name="Line 12"/>
          <p:cNvSpPr/>
          <p:nvPr/>
        </p:nvSpPr>
        <p:spPr>
          <a:xfrm flipV="1">
            <a:off x="3860800" y="2082800"/>
            <a:ext cx="381000" cy="38100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54" name="Line 13"/>
          <p:cNvSpPr/>
          <p:nvPr/>
        </p:nvSpPr>
        <p:spPr>
          <a:xfrm>
            <a:off x="4724400" y="2044700"/>
            <a:ext cx="1524000" cy="46990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55" name="Line 14"/>
          <p:cNvSpPr/>
          <p:nvPr/>
        </p:nvSpPr>
        <p:spPr>
          <a:xfrm>
            <a:off x="4495800" y="1409700"/>
            <a:ext cx="0" cy="26670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56" name="Rectangle 15"/>
          <p:cNvSpPr/>
          <p:nvPr/>
        </p:nvSpPr>
        <p:spPr>
          <a:xfrm>
            <a:off x="6470650" y="3263900"/>
            <a:ext cx="1444625" cy="7016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4000" b="0" dirty="0">
                <a:solidFill>
                  <a:schemeClr val="tx1"/>
                </a:solidFill>
                <a:sym typeface="Symbol" panose="05050102010706020507" pitchFamily="18" charset="2"/>
              </a:rPr>
              <a:t></a:t>
            </a:r>
            <a:r>
              <a:rPr lang="en-US" altLang="zh-CN" b="0" baseline="-20000" dirty="0">
                <a:solidFill>
                  <a:schemeClr val="tx1"/>
                </a:solidFill>
                <a:sym typeface="Symbol" panose="05050102010706020507" pitchFamily="18" charset="2"/>
              </a:rPr>
              <a:t>sex=‘</a:t>
            </a:r>
            <a:r>
              <a:rPr lang="zh-CN" altLang="en-US" b="0" baseline="-20000" dirty="0">
                <a:solidFill>
                  <a:schemeClr val="tx1"/>
                </a:solidFill>
                <a:sym typeface="Symbol" panose="05050102010706020507" pitchFamily="18" charset="2"/>
              </a:rPr>
              <a:t>女’</a:t>
            </a:r>
            <a:endParaRPr lang="zh-CN" altLang="en-US" b="0" baseline="-200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61457" name="Rectangle 16"/>
          <p:cNvSpPr/>
          <p:nvPr/>
        </p:nvSpPr>
        <p:spPr>
          <a:xfrm>
            <a:off x="3848100" y="4940300"/>
            <a:ext cx="2366963" cy="7016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4000" b="0" dirty="0">
                <a:solidFill>
                  <a:schemeClr val="tx1"/>
                </a:solidFill>
                <a:sym typeface="Symbol" panose="05050102010706020507" pitchFamily="18" charset="2"/>
              </a:rPr>
              <a:t></a:t>
            </a:r>
            <a:r>
              <a:rPr lang="en-US" altLang="zh-CN" b="0" baseline="-20000" dirty="0">
                <a:solidFill>
                  <a:schemeClr val="tx1"/>
                </a:solidFill>
                <a:sym typeface="Symbol" panose="05050102010706020507" pitchFamily="18" charset="2"/>
              </a:rPr>
              <a:t>cname=‘</a:t>
            </a:r>
            <a:r>
              <a:rPr lang="zh-CN" altLang="en-US" b="0" baseline="-20000" dirty="0">
                <a:solidFill>
                  <a:schemeClr val="tx1"/>
                </a:solidFill>
                <a:sym typeface="Symbol" panose="05050102010706020507" pitchFamily="18" charset="2"/>
              </a:rPr>
              <a:t>数据库’</a:t>
            </a:r>
            <a:endParaRPr lang="zh-CN" altLang="en-US" b="0" baseline="-200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61458" name="Line 17"/>
          <p:cNvSpPr/>
          <p:nvPr/>
        </p:nvSpPr>
        <p:spPr>
          <a:xfrm>
            <a:off x="6699250" y="3949700"/>
            <a:ext cx="0" cy="38100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59" name="Line 18"/>
          <p:cNvSpPr/>
          <p:nvPr/>
        </p:nvSpPr>
        <p:spPr>
          <a:xfrm flipV="1">
            <a:off x="4089400" y="5562600"/>
            <a:ext cx="0" cy="30480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60" name="Rectangle 19"/>
          <p:cNvSpPr/>
          <p:nvPr/>
        </p:nvSpPr>
        <p:spPr>
          <a:xfrm>
            <a:off x="2209800" y="4076700"/>
            <a:ext cx="1306513" cy="64135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600" b="0" dirty="0">
                <a:solidFill>
                  <a:schemeClr val="tx1"/>
                </a:solidFill>
                <a:sym typeface="Symbol" panose="05050102010706020507" pitchFamily="18" charset="2"/>
              </a:rPr>
              <a:t></a:t>
            </a:r>
            <a:r>
              <a:rPr lang="en-US" altLang="zh-CN" sz="3600" b="0" baseline="-18000" dirty="0">
                <a:solidFill>
                  <a:schemeClr val="tx1"/>
                </a:solidFill>
                <a:sym typeface="Symbol" panose="05050102010706020507" pitchFamily="18" charset="2"/>
              </a:rPr>
              <a:t>S#,C#</a:t>
            </a:r>
            <a:endParaRPr lang="en-US" altLang="zh-CN" sz="3600" b="0" baseline="-180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61461" name="Line 20"/>
          <p:cNvSpPr/>
          <p:nvPr/>
        </p:nvSpPr>
        <p:spPr>
          <a:xfrm>
            <a:off x="2501900" y="4711700"/>
            <a:ext cx="0" cy="45720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62" name="Rectangle 21"/>
          <p:cNvSpPr/>
          <p:nvPr/>
        </p:nvSpPr>
        <p:spPr>
          <a:xfrm>
            <a:off x="3779838" y="4051300"/>
            <a:ext cx="908050" cy="64135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600" b="0" dirty="0">
                <a:solidFill>
                  <a:schemeClr val="tx1"/>
                </a:solidFill>
                <a:sym typeface="Symbol" panose="05050102010706020507" pitchFamily="18" charset="2"/>
              </a:rPr>
              <a:t></a:t>
            </a:r>
            <a:r>
              <a:rPr lang="en-US" altLang="zh-CN" sz="3600" b="0" baseline="-18000" dirty="0">
                <a:solidFill>
                  <a:schemeClr val="tx1"/>
                </a:solidFill>
                <a:sym typeface="Symbol" panose="05050102010706020507" pitchFamily="18" charset="2"/>
              </a:rPr>
              <a:t>C#</a:t>
            </a:r>
            <a:endParaRPr lang="en-US" altLang="zh-CN" sz="3600" b="0" baseline="-180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61463" name="Line 22"/>
          <p:cNvSpPr/>
          <p:nvPr/>
        </p:nvSpPr>
        <p:spPr>
          <a:xfrm>
            <a:off x="4076700" y="4622800"/>
            <a:ext cx="0" cy="52070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64" name="Rectangle 23"/>
          <p:cNvSpPr/>
          <p:nvPr/>
        </p:nvSpPr>
        <p:spPr>
          <a:xfrm>
            <a:off x="6400800" y="2336800"/>
            <a:ext cx="1712913" cy="64135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600" b="0" dirty="0">
                <a:solidFill>
                  <a:schemeClr val="tx1"/>
                </a:solidFill>
                <a:sym typeface="Symbol" panose="05050102010706020507" pitchFamily="18" charset="2"/>
              </a:rPr>
              <a:t></a:t>
            </a:r>
            <a:r>
              <a:rPr lang="en-US" altLang="zh-CN" sz="3600" b="0" baseline="-18000" dirty="0">
                <a:solidFill>
                  <a:schemeClr val="tx1"/>
                </a:solidFill>
                <a:sym typeface="Symbol" panose="05050102010706020507" pitchFamily="18" charset="2"/>
              </a:rPr>
              <a:t>s#,sname</a:t>
            </a:r>
            <a:endParaRPr lang="en-US" altLang="zh-CN" sz="3600" b="0" baseline="-180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61465" name="Line 24"/>
          <p:cNvSpPr/>
          <p:nvPr/>
        </p:nvSpPr>
        <p:spPr>
          <a:xfrm>
            <a:off x="6699250" y="2959100"/>
            <a:ext cx="0" cy="45720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66" name="Rectangle 25"/>
          <p:cNvSpPr/>
          <p:nvPr/>
        </p:nvSpPr>
        <p:spPr>
          <a:xfrm>
            <a:off x="3284538" y="2324100"/>
            <a:ext cx="857250" cy="64135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600" b="0" dirty="0">
                <a:solidFill>
                  <a:schemeClr val="tx1"/>
                </a:solidFill>
                <a:sym typeface="Symbol" panose="05050102010706020507" pitchFamily="18" charset="2"/>
              </a:rPr>
              <a:t></a:t>
            </a:r>
            <a:r>
              <a:rPr lang="en-US" altLang="zh-CN" sz="3600" b="0" baseline="-18000" dirty="0">
                <a:solidFill>
                  <a:schemeClr val="tx1"/>
                </a:solidFill>
                <a:sym typeface="Symbol" panose="05050102010706020507" pitchFamily="18" charset="2"/>
              </a:rPr>
              <a:t>S#</a:t>
            </a:r>
            <a:endParaRPr lang="en-US" altLang="zh-CN" sz="3600" b="0" baseline="-180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61467" name="Line 26"/>
          <p:cNvSpPr/>
          <p:nvPr/>
        </p:nvSpPr>
        <p:spPr>
          <a:xfrm>
            <a:off x="3556000" y="2857500"/>
            <a:ext cx="0" cy="45720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68" name="Freeform 27"/>
          <p:cNvSpPr/>
          <p:nvPr/>
        </p:nvSpPr>
        <p:spPr>
          <a:xfrm>
            <a:off x="1662113" y="2243138"/>
            <a:ext cx="4878387" cy="4271962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3073" h="2691">
                <a:moveTo>
                  <a:pt x="190" y="2367"/>
                </a:moveTo>
                <a:cubicBezTo>
                  <a:pt x="172" y="2361"/>
                  <a:pt x="157" y="2358"/>
                  <a:pt x="143" y="2344"/>
                </a:cubicBezTo>
                <a:cubicBezTo>
                  <a:pt x="124" y="2325"/>
                  <a:pt x="119" y="2296"/>
                  <a:pt x="111" y="2273"/>
                </a:cubicBezTo>
                <a:cubicBezTo>
                  <a:pt x="86" y="2198"/>
                  <a:pt x="66" y="2122"/>
                  <a:pt x="56" y="2044"/>
                </a:cubicBezTo>
                <a:cubicBezTo>
                  <a:pt x="52" y="1948"/>
                  <a:pt x="56" y="1839"/>
                  <a:pt x="32" y="1744"/>
                </a:cubicBezTo>
                <a:cubicBezTo>
                  <a:pt x="0" y="1461"/>
                  <a:pt x="2" y="1174"/>
                  <a:pt x="40" y="892"/>
                </a:cubicBezTo>
                <a:cubicBezTo>
                  <a:pt x="50" y="821"/>
                  <a:pt x="47" y="741"/>
                  <a:pt x="88" y="679"/>
                </a:cubicBezTo>
                <a:cubicBezTo>
                  <a:pt x="96" y="636"/>
                  <a:pt x="110" y="606"/>
                  <a:pt x="127" y="568"/>
                </a:cubicBezTo>
                <a:cubicBezTo>
                  <a:pt x="165" y="483"/>
                  <a:pt x="123" y="551"/>
                  <a:pt x="159" y="497"/>
                </a:cubicBezTo>
                <a:cubicBezTo>
                  <a:pt x="169" y="465"/>
                  <a:pt x="187" y="431"/>
                  <a:pt x="206" y="403"/>
                </a:cubicBezTo>
                <a:cubicBezTo>
                  <a:pt x="226" y="342"/>
                  <a:pt x="270" y="258"/>
                  <a:pt x="324" y="221"/>
                </a:cubicBezTo>
                <a:cubicBezTo>
                  <a:pt x="346" y="189"/>
                  <a:pt x="385" y="178"/>
                  <a:pt x="419" y="158"/>
                </a:cubicBezTo>
                <a:cubicBezTo>
                  <a:pt x="530" y="94"/>
                  <a:pt x="663" y="74"/>
                  <a:pt x="790" y="63"/>
                </a:cubicBezTo>
                <a:cubicBezTo>
                  <a:pt x="911" y="38"/>
                  <a:pt x="1019" y="9"/>
                  <a:pt x="1145" y="0"/>
                </a:cubicBezTo>
                <a:cubicBezTo>
                  <a:pt x="1192" y="3"/>
                  <a:pt x="1240" y="2"/>
                  <a:pt x="1287" y="8"/>
                </a:cubicBezTo>
                <a:cubicBezTo>
                  <a:pt x="1345" y="15"/>
                  <a:pt x="1390" y="57"/>
                  <a:pt x="1445" y="71"/>
                </a:cubicBezTo>
                <a:cubicBezTo>
                  <a:pt x="1497" y="106"/>
                  <a:pt x="1544" y="146"/>
                  <a:pt x="1595" y="182"/>
                </a:cubicBezTo>
                <a:cubicBezTo>
                  <a:pt x="1605" y="189"/>
                  <a:pt x="1615" y="198"/>
                  <a:pt x="1626" y="205"/>
                </a:cubicBezTo>
                <a:cubicBezTo>
                  <a:pt x="1642" y="216"/>
                  <a:pt x="1674" y="237"/>
                  <a:pt x="1674" y="237"/>
                </a:cubicBezTo>
                <a:cubicBezTo>
                  <a:pt x="1694" y="268"/>
                  <a:pt x="1715" y="286"/>
                  <a:pt x="1745" y="308"/>
                </a:cubicBezTo>
                <a:cubicBezTo>
                  <a:pt x="1777" y="358"/>
                  <a:pt x="1740" y="312"/>
                  <a:pt x="1784" y="340"/>
                </a:cubicBezTo>
                <a:cubicBezTo>
                  <a:pt x="1826" y="367"/>
                  <a:pt x="1812" y="391"/>
                  <a:pt x="1871" y="411"/>
                </a:cubicBezTo>
                <a:cubicBezTo>
                  <a:pt x="1888" y="460"/>
                  <a:pt x="1865" y="407"/>
                  <a:pt x="1910" y="458"/>
                </a:cubicBezTo>
                <a:cubicBezTo>
                  <a:pt x="1950" y="503"/>
                  <a:pt x="1983" y="557"/>
                  <a:pt x="2013" y="608"/>
                </a:cubicBezTo>
                <a:cubicBezTo>
                  <a:pt x="2027" y="633"/>
                  <a:pt x="2044" y="655"/>
                  <a:pt x="2060" y="679"/>
                </a:cubicBezTo>
                <a:cubicBezTo>
                  <a:pt x="2070" y="695"/>
                  <a:pt x="2092" y="726"/>
                  <a:pt x="2092" y="726"/>
                </a:cubicBezTo>
                <a:cubicBezTo>
                  <a:pt x="2114" y="792"/>
                  <a:pt x="2078" y="700"/>
                  <a:pt x="2131" y="774"/>
                </a:cubicBezTo>
                <a:cubicBezTo>
                  <a:pt x="2137" y="783"/>
                  <a:pt x="2134" y="796"/>
                  <a:pt x="2139" y="805"/>
                </a:cubicBezTo>
                <a:cubicBezTo>
                  <a:pt x="2149" y="823"/>
                  <a:pt x="2167" y="835"/>
                  <a:pt x="2179" y="852"/>
                </a:cubicBezTo>
                <a:cubicBezTo>
                  <a:pt x="2181" y="863"/>
                  <a:pt x="2181" y="874"/>
                  <a:pt x="2186" y="884"/>
                </a:cubicBezTo>
                <a:cubicBezTo>
                  <a:pt x="2194" y="901"/>
                  <a:pt x="2218" y="931"/>
                  <a:pt x="2218" y="931"/>
                </a:cubicBezTo>
                <a:cubicBezTo>
                  <a:pt x="2235" y="983"/>
                  <a:pt x="2266" y="1019"/>
                  <a:pt x="2305" y="1058"/>
                </a:cubicBezTo>
                <a:cubicBezTo>
                  <a:pt x="2331" y="1084"/>
                  <a:pt x="2340" y="1132"/>
                  <a:pt x="2368" y="1160"/>
                </a:cubicBezTo>
                <a:cubicBezTo>
                  <a:pt x="2406" y="1198"/>
                  <a:pt x="2428" y="1246"/>
                  <a:pt x="2463" y="1286"/>
                </a:cubicBezTo>
                <a:cubicBezTo>
                  <a:pt x="2485" y="1311"/>
                  <a:pt x="2513" y="1324"/>
                  <a:pt x="2534" y="1350"/>
                </a:cubicBezTo>
                <a:cubicBezTo>
                  <a:pt x="2599" y="1429"/>
                  <a:pt x="2650" y="1522"/>
                  <a:pt x="2699" y="1610"/>
                </a:cubicBezTo>
                <a:cubicBezTo>
                  <a:pt x="2723" y="1653"/>
                  <a:pt x="2758" y="1691"/>
                  <a:pt x="2778" y="1736"/>
                </a:cubicBezTo>
                <a:cubicBezTo>
                  <a:pt x="2804" y="1794"/>
                  <a:pt x="2814" y="1866"/>
                  <a:pt x="2849" y="1918"/>
                </a:cubicBezTo>
                <a:cubicBezTo>
                  <a:pt x="2863" y="1973"/>
                  <a:pt x="2905" y="2022"/>
                  <a:pt x="2928" y="2075"/>
                </a:cubicBezTo>
                <a:cubicBezTo>
                  <a:pt x="2941" y="2104"/>
                  <a:pt x="2968" y="2162"/>
                  <a:pt x="2968" y="2162"/>
                </a:cubicBezTo>
                <a:cubicBezTo>
                  <a:pt x="2976" y="2199"/>
                  <a:pt x="2994" y="2234"/>
                  <a:pt x="3015" y="2265"/>
                </a:cubicBezTo>
                <a:cubicBezTo>
                  <a:pt x="3038" y="2356"/>
                  <a:pt x="3073" y="2485"/>
                  <a:pt x="3015" y="2565"/>
                </a:cubicBezTo>
                <a:cubicBezTo>
                  <a:pt x="2975" y="2620"/>
                  <a:pt x="2883" y="2678"/>
                  <a:pt x="2818" y="2691"/>
                </a:cubicBezTo>
                <a:cubicBezTo>
                  <a:pt x="2281" y="2687"/>
                  <a:pt x="1776" y="2675"/>
                  <a:pt x="1247" y="2659"/>
                </a:cubicBezTo>
                <a:cubicBezTo>
                  <a:pt x="1121" y="2638"/>
                  <a:pt x="988" y="2642"/>
                  <a:pt x="861" y="2636"/>
                </a:cubicBezTo>
                <a:cubicBezTo>
                  <a:pt x="747" y="2623"/>
                  <a:pt x="637" y="2588"/>
                  <a:pt x="522" y="2573"/>
                </a:cubicBezTo>
                <a:cubicBezTo>
                  <a:pt x="496" y="2564"/>
                  <a:pt x="467" y="2561"/>
                  <a:pt x="443" y="2549"/>
                </a:cubicBezTo>
                <a:cubicBezTo>
                  <a:pt x="385" y="2519"/>
                  <a:pt x="452" y="2544"/>
                  <a:pt x="395" y="2525"/>
                </a:cubicBezTo>
                <a:cubicBezTo>
                  <a:pt x="381" y="2515"/>
                  <a:pt x="362" y="2513"/>
                  <a:pt x="348" y="2502"/>
                </a:cubicBezTo>
                <a:cubicBezTo>
                  <a:pt x="340" y="2496"/>
                  <a:pt x="339" y="2484"/>
                  <a:pt x="332" y="2478"/>
                </a:cubicBezTo>
                <a:cubicBezTo>
                  <a:pt x="298" y="2448"/>
                  <a:pt x="294" y="2449"/>
                  <a:pt x="261" y="2438"/>
                </a:cubicBezTo>
                <a:cubicBezTo>
                  <a:pt x="231" y="2395"/>
                  <a:pt x="262" y="2429"/>
                  <a:pt x="222" y="2407"/>
                </a:cubicBezTo>
                <a:cubicBezTo>
                  <a:pt x="205" y="2398"/>
                  <a:pt x="174" y="2375"/>
                  <a:pt x="174" y="2375"/>
                </a:cubicBezTo>
                <a:cubicBezTo>
                  <a:pt x="163" y="2343"/>
                  <a:pt x="159" y="2348"/>
                  <a:pt x="190" y="2367"/>
                </a:cubicBezTo>
                <a:close/>
              </a:path>
            </a:pathLst>
          </a:custGeom>
          <a:noFill/>
          <a:ln w="28575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en-US"/>
          </a:p>
        </p:txBody>
      </p:sp>
      <p:sp>
        <p:nvSpPr>
          <p:cNvPr id="61469" name="Freeform 28"/>
          <p:cNvSpPr/>
          <p:nvPr/>
        </p:nvSpPr>
        <p:spPr>
          <a:xfrm>
            <a:off x="3741738" y="615950"/>
            <a:ext cx="5038725" cy="5208588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3174" h="3281">
                <a:moveTo>
                  <a:pt x="231" y="54"/>
                </a:moveTo>
                <a:cubicBezTo>
                  <a:pt x="216" y="64"/>
                  <a:pt x="196" y="66"/>
                  <a:pt x="184" y="78"/>
                </a:cubicBezTo>
                <a:cubicBezTo>
                  <a:pt x="163" y="99"/>
                  <a:pt x="149" y="128"/>
                  <a:pt x="128" y="149"/>
                </a:cubicBezTo>
                <a:cubicBezTo>
                  <a:pt x="116" y="190"/>
                  <a:pt x="125" y="167"/>
                  <a:pt x="89" y="220"/>
                </a:cubicBezTo>
                <a:cubicBezTo>
                  <a:pt x="84" y="228"/>
                  <a:pt x="73" y="243"/>
                  <a:pt x="73" y="243"/>
                </a:cubicBezTo>
                <a:cubicBezTo>
                  <a:pt x="61" y="280"/>
                  <a:pt x="39" y="314"/>
                  <a:pt x="18" y="346"/>
                </a:cubicBezTo>
                <a:cubicBezTo>
                  <a:pt x="0" y="432"/>
                  <a:pt x="2" y="539"/>
                  <a:pt x="42" y="622"/>
                </a:cubicBezTo>
                <a:cubicBezTo>
                  <a:pt x="56" y="651"/>
                  <a:pt x="87" y="689"/>
                  <a:pt x="97" y="717"/>
                </a:cubicBezTo>
                <a:cubicBezTo>
                  <a:pt x="109" y="752"/>
                  <a:pt x="137" y="784"/>
                  <a:pt x="168" y="803"/>
                </a:cubicBezTo>
                <a:cubicBezTo>
                  <a:pt x="201" y="852"/>
                  <a:pt x="236" y="903"/>
                  <a:pt x="278" y="945"/>
                </a:cubicBezTo>
                <a:cubicBezTo>
                  <a:pt x="296" y="1000"/>
                  <a:pt x="271" y="936"/>
                  <a:pt x="310" y="993"/>
                </a:cubicBezTo>
                <a:cubicBezTo>
                  <a:pt x="315" y="1000"/>
                  <a:pt x="314" y="1009"/>
                  <a:pt x="318" y="1016"/>
                </a:cubicBezTo>
                <a:cubicBezTo>
                  <a:pt x="335" y="1050"/>
                  <a:pt x="370" y="1085"/>
                  <a:pt x="397" y="1111"/>
                </a:cubicBezTo>
                <a:cubicBezTo>
                  <a:pt x="400" y="1119"/>
                  <a:pt x="399" y="1129"/>
                  <a:pt x="405" y="1135"/>
                </a:cubicBezTo>
                <a:cubicBezTo>
                  <a:pt x="411" y="1141"/>
                  <a:pt x="421" y="1139"/>
                  <a:pt x="428" y="1143"/>
                </a:cubicBezTo>
                <a:cubicBezTo>
                  <a:pt x="445" y="1154"/>
                  <a:pt x="459" y="1171"/>
                  <a:pt x="476" y="1182"/>
                </a:cubicBezTo>
                <a:cubicBezTo>
                  <a:pt x="485" y="1210"/>
                  <a:pt x="503" y="1225"/>
                  <a:pt x="531" y="1237"/>
                </a:cubicBezTo>
                <a:cubicBezTo>
                  <a:pt x="546" y="1244"/>
                  <a:pt x="578" y="1253"/>
                  <a:pt x="578" y="1253"/>
                </a:cubicBezTo>
                <a:cubicBezTo>
                  <a:pt x="604" y="1293"/>
                  <a:pt x="586" y="1272"/>
                  <a:pt x="641" y="1308"/>
                </a:cubicBezTo>
                <a:cubicBezTo>
                  <a:pt x="660" y="1320"/>
                  <a:pt x="670" y="1343"/>
                  <a:pt x="689" y="1356"/>
                </a:cubicBezTo>
                <a:cubicBezTo>
                  <a:pt x="704" y="1367"/>
                  <a:pt x="721" y="1375"/>
                  <a:pt x="736" y="1387"/>
                </a:cubicBezTo>
                <a:cubicBezTo>
                  <a:pt x="770" y="1414"/>
                  <a:pt x="786" y="1449"/>
                  <a:pt x="823" y="1474"/>
                </a:cubicBezTo>
                <a:cubicBezTo>
                  <a:pt x="856" y="1524"/>
                  <a:pt x="902" y="1566"/>
                  <a:pt x="933" y="1616"/>
                </a:cubicBezTo>
                <a:cubicBezTo>
                  <a:pt x="945" y="1663"/>
                  <a:pt x="984" y="1701"/>
                  <a:pt x="1012" y="1742"/>
                </a:cubicBezTo>
                <a:cubicBezTo>
                  <a:pt x="1030" y="1797"/>
                  <a:pt x="1005" y="1733"/>
                  <a:pt x="1044" y="1790"/>
                </a:cubicBezTo>
                <a:cubicBezTo>
                  <a:pt x="1049" y="1797"/>
                  <a:pt x="1048" y="1806"/>
                  <a:pt x="1052" y="1813"/>
                </a:cubicBezTo>
                <a:cubicBezTo>
                  <a:pt x="1064" y="1833"/>
                  <a:pt x="1078" y="1850"/>
                  <a:pt x="1091" y="1869"/>
                </a:cubicBezTo>
                <a:cubicBezTo>
                  <a:pt x="1096" y="1876"/>
                  <a:pt x="1095" y="1885"/>
                  <a:pt x="1099" y="1892"/>
                </a:cubicBezTo>
                <a:cubicBezTo>
                  <a:pt x="1108" y="1909"/>
                  <a:pt x="1131" y="1940"/>
                  <a:pt x="1131" y="1940"/>
                </a:cubicBezTo>
                <a:cubicBezTo>
                  <a:pt x="1140" y="1978"/>
                  <a:pt x="1158" y="1982"/>
                  <a:pt x="1146" y="2019"/>
                </a:cubicBezTo>
                <a:cubicBezTo>
                  <a:pt x="1186" y="2044"/>
                  <a:pt x="1166" y="2058"/>
                  <a:pt x="1194" y="2090"/>
                </a:cubicBezTo>
                <a:cubicBezTo>
                  <a:pt x="1229" y="2130"/>
                  <a:pt x="1278" y="2160"/>
                  <a:pt x="1312" y="2200"/>
                </a:cubicBezTo>
                <a:cubicBezTo>
                  <a:pt x="1339" y="2232"/>
                  <a:pt x="1362" y="2266"/>
                  <a:pt x="1391" y="2295"/>
                </a:cubicBezTo>
                <a:cubicBezTo>
                  <a:pt x="1403" y="2343"/>
                  <a:pt x="1433" y="2384"/>
                  <a:pt x="1462" y="2421"/>
                </a:cubicBezTo>
                <a:cubicBezTo>
                  <a:pt x="1489" y="2455"/>
                  <a:pt x="1498" y="2484"/>
                  <a:pt x="1533" y="2508"/>
                </a:cubicBezTo>
                <a:cubicBezTo>
                  <a:pt x="1538" y="2516"/>
                  <a:pt x="1542" y="2525"/>
                  <a:pt x="1549" y="2531"/>
                </a:cubicBezTo>
                <a:cubicBezTo>
                  <a:pt x="1563" y="2543"/>
                  <a:pt x="1596" y="2563"/>
                  <a:pt x="1596" y="2563"/>
                </a:cubicBezTo>
                <a:cubicBezTo>
                  <a:pt x="1606" y="2594"/>
                  <a:pt x="1620" y="2610"/>
                  <a:pt x="1643" y="2634"/>
                </a:cubicBezTo>
                <a:cubicBezTo>
                  <a:pt x="1649" y="2710"/>
                  <a:pt x="1655" y="2798"/>
                  <a:pt x="1683" y="2871"/>
                </a:cubicBezTo>
                <a:cubicBezTo>
                  <a:pt x="1690" y="2890"/>
                  <a:pt x="1729" y="2925"/>
                  <a:pt x="1746" y="2934"/>
                </a:cubicBezTo>
                <a:cubicBezTo>
                  <a:pt x="1789" y="2958"/>
                  <a:pt x="1844" y="2967"/>
                  <a:pt x="1888" y="2989"/>
                </a:cubicBezTo>
                <a:cubicBezTo>
                  <a:pt x="1926" y="3008"/>
                  <a:pt x="1965" y="3027"/>
                  <a:pt x="2006" y="3036"/>
                </a:cubicBezTo>
                <a:cubicBezTo>
                  <a:pt x="2022" y="3047"/>
                  <a:pt x="2038" y="3057"/>
                  <a:pt x="2054" y="3068"/>
                </a:cubicBezTo>
                <a:cubicBezTo>
                  <a:pt x="2068" y="3078"/>
                  <a:pt x="2138" y="3079"/>
                  <a:pt x="2164" y="3092"/>
                </a:cubicBezTo>
                <a:cubicBezTo>
                  <a:pt x="2215" y="3117"/>
                  <a:pt x="2267" y="3139"/>
                  <a:pt x="2322" y="3155"/>
                </a:cubicBezTo>
                <a:cubicBezTo>
                  <a:pt x="2351" y="3163"/>
                  <a:pt x="2380" y="3170"/>
                  <a:pt x="2409" y="3178"/>
                </a:cubicBezTo>
                <a:cubicBezTo>
                  <a:pt x="2430" y="3184"/>
                  <a:pt x="2472" y="3194"/>
                  <a:pt x="2472" y="3194"/>
                </a:cubicBezTo>
                <a:cubicBezTo>
                  <a:pt x="2523" y="3228"/>
                  <a:pt x="2615" y="3241"/>
                  <a:pt x="2677" y="3257"/>
                </a:cubicBezTo>
                <a:cubicBezTo>
                  <a:pt x="2706" y="3264"/>
                  <a:pt x="2764" y="3281"/>
                  <a:pt x="2764" y="3281"/>
                </a:cubicBezTo>
                <a:cubicBezTo>
                  <a:pt x="2824" y="3278"/>
                  <a:pt x="2885" y="3279"/>
                  <a:pt x="2945" y="3273"/>
                </a:cubicBezTo>
                <a:cubicBezTo>
                  <a:pt x="3007" y="3266"/>
                  <a:pt x="2976" y="3259"/>
                  <a:pt x="3016" y="3242"/>
                </a:cubicBezTo>
                <a:cubicBezTo>
                  <a:pt x="3031" y="3235"/>
                  <a:pt x="3064" y="3226"/>
                  <a:pt x="3064" y="3226"/>
                </a:cubicBezTo>
                <a:cubicBezTo>
                  <a:pt x="3080" y="3201"/>
                  <a:pt x="3094" y="3179"/>
                  <a:pt x="3111" y="3155"/>
                </a:cubicBezTo>
                <a:cubicBezTo>
                  <a:pt x="3119" y="3144"/>
                  <a:pt x="3127" y="3134"/>
                  <a:pt x="3135" y="3123"/>
                </a:cubicBezTo>
                <a:cubicBezTo>
                  <a:pt x="3140" y="3115"/>
                  <a:pt x="3151" y="3100"/>
                  <a:pt x="3151" y="3100"/>
                </a:cubicBezTo>
                <a:cubicBezTo>
                  <a:pt x="3160" y="3058"/>
                  <a:pt x="3168" y="3025"/>
                  <a:pt x="3174" y="2981"/>
                </a:cubicBezTo>
                <a:cubicBezTo>
                  <a:pt x="3171" y="2926"/>
                  <a:pt x="3168" y="2871"/>
                  <a:pt x="3166" y="2816"/>
                </a:cubicBezTo>
                <a:cubicBezTo>
                  <a:pt x="3162" y="2682"/>
                  <a:pt x="3162" y="2547"/>
                  <a:pt x="3158" y="2413"/>
                </a:cubicBezTo>
                <a:cubicBezTo>
                  <a:pt x="3155" y="2315"/>
                  <a:pt x="3133" y="2210"/>
                  <a:pt x="3079" y="2129"/>
                </a:cubicBezTo>
                <a:cubicBezTo>
                  <a:pt x="3060" y="2043"/>
                  <a:pt x="3050" y="1956"/>
                  <a:pt x="3032" y="1869"/>
                </a:cubicBezTo>
                <a:cubicBezTo>
                  <a:pt x="3020" y="1672"/>
                  <a:pt x="2999" y="1510"/>
                  <a:pt x="2937" y="1324"/>
                </a:cubicBezTo>
                <a:cubicBezTo>
                  <a:pt x="2920" y="1273"/>
                  <a:pt x="2912" y="1219"/>
                  <a:pt x="2882" y="1174"/>
                </a:cubicBezTo>
                <a:cubicBezTo>
                  <a:pt x="2875" y="1115"/>
                  <a:pt x="2855" y="1073"/>
                  <a:pt x="2843" y="1016"/>
                </a:cubicBezTo>
                <a:cubicBezTo>
                  <a:pt x="2821" y="906"/>
                  <a:pt x="2770" y="721"/>
                  <a:pt x="2677" y="654"/>
                </a:cubicBezTo>
                <a:cubicBezTo>
                  <a:pt x="2651" y="615"/>
                  <a:pt x="2612" y="580"/>
                  <a:pt x="2575" y="551"/>
                </a:cubicBezTo>
                <a:cubicBezTo>
                  <a:pt x="2560" y="539"/>
                  <a:pt x="2527" y="519"/>
                  <a:pt x="2527" y="519"/>
                </a:cubicBezTo>
                <a:cubicBezTo>
                  <a:pt x="2516" y="504"/>
                  <a:pt x="2510" y="484"/>
                  <a:pt x="2496" y="472"/>
                </a:cubicBezTo>
                <a:cubicBezTo>
                  <a:pt x="2482" y="459"/>
                  <a:pt x="2462" y="454"/>
                  <a:pt x="2448" y="440"/>
                </a:cubicBezTo>
                <a:cubicBezTo>
                  <a:pt x="2405" y="397"/>
                  <a:pt x="2349" y="350"/>
                  <a:pt x="2290" y="330"/>
                </a:cubicBezTo>
                <a:cubicBezTo>
                  <a:pt x="2251" y="303"/>
                  <a:pt x="2205" y="292"/>
                  <a:pt x="2164" y="267"/>
                </a:cubicBezTo>
                <a:cubicBezTo>
                  <a:pt x="2116" y="238"/>
                  <a:pt x="2075" y="206"/>
                  <a:pt x="2022" y="188"/>
                </a:cubicBezTo>
                <a:cubicBezTo>
                  <a:pt x="1926" y="122"/>
                  <a:pt x="1778" y="115"/>
                  <a:pt x="1667" y="101"/>
                </a:cubicBezTo>
                <a:cubicBezTo>
                  <a:pt x="1625" y="87"/>
                  <a:pt x="1585" y="83"/>
                  <a:pt x="1541" y="78"/>
                </a:cubicBezTo>
                <a:cubicBezTo>
                  <a:pt x="1209" y="89"/>
                  <a:pt x="1268" y="91"/>
                  <a:pt x="799" y="78"/>
                </a:cubicBezTo>
                <a:cubicBezTo>
                  <a:pt x="736" y="76"/>
                  <a:pt x="658" y="51"/>
                  <a:pt x="594" y="46"/>
                </a:cubicBezTo>
                <a:cubicBezTo>
                  <a:pt x="541" y="33"/>
                  <a:pt x="490" y="16"/>
                  <a:pt x="436" y="7"/>
                </a:cubicBezTo>
                <a:cubicBezTo>
                  <a:pt x="293" y="15"/>
                  <a:pt x="350" y="0"/>
                  <a:pt x="263" y="30"/>
                </a:cubicBezTo>
                <a:cubicBezTo>
                  <a:pt x="252" y="34"/>
                  <a:pt x="242" y="41"/>
                  <a:pt x="231" y="46"/>
                </a:cubicBezTo>
                <a:cubicBezTo>
                  <a:pt x="206" y="57"/>
                  <a:pt x="192" y="54"/>
                  <a:pt x="231" y="54"/>
                </a:cubicBezTo>
                <a:close/>
              </a:path>
            </a:pathLst>
          </a:custGeom>
          <a:noFill/>
          <a:ln w="28575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2467" name="Rectangle 2"/>
          <p:cNvSpPr/>
          <p:nvPr/>
        </p:nvSpPr>
        <p:spPr>
          <a:xfrm>
            <a:off x="523875" y="3844925"/>
            <a:ext cx="7747000" cy="609600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62468" name="Rectangle 3"/>
          <p:cNvSpPr>
            <a:spLocks noGrp="1"/>
          </p:cNvSpPr>
          <p:nvPr>
            <p:ph idx="1"/>
          </p:nvPr>
        </p:nvSpPr>
        <p:spPr>
          <a:xfrm>
            <a:off x="900113" y="1773238"/>
            <a:ext cx="7327900" cy="3455987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9.1 </a:t>
            </a:r>
            <a:r>
              <a:rPr lang="zh-CN" altLang="en-US" dirty="0">
                <a:solidFill>
                  <a:schemeClr val="tx1"/>
                </a:solidFill>
              </a:rPr>
              <a:t>关系数据库系统的查询处理 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9.2 </a:t>
            </a:r>
            <a:r>
              <a:rPr lang="zh-CN" altLang="en-US" dirty="0">
                <a:solidFill>
                  <a:schemeClr val="tx1"/>
                </a:solidFill>
              </a:rPr>
              <a:t>关系数据库系统的查询优化 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9.3 </a:t>
            </a:r>
            <a:r>
              <a:rPr lang="zh-CN" altLang="en-US" dirty="0">
                <a:solidFill>
                  <a:schemeClr val="tx1"/>
                </a:solidFill>
              </a:rPr>
              <a:t>代数优化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bg1"/>
                </a:solidFill>
              </a:rPr>
              <a:t>9.4 </a:t>
            </a:r>
            <a:r>
              <a:rPr lang="zh-CN" altLang="en-US" dirty="0">
                <a:solidFill>
                  <a:schemeClr val="bg1"/>
                </a:solidFill>
              </a:rPr>
              <a:t>物理优化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9.5 </a:t>
            </a:r>
            <a:r>
              <a:rPr lang="zh-CN" altLang="en-US" dirty="0">
                <a:solidFill>
                  <a:schemeClr val="tx1"/>
                </a:solidFill>
              </a:rPr>
              <a:t>小 结 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2469" name="Rectangle 4"/>
          <p:cNvSpPr>
            <a:spLocks noGrp="1"/>
          </p:cNvSpPr>
          <p:nvPr>
            <p:ph type="title"/>
          </p:nvPr>
        </p:nvSpPr>
        <p:spPr>
          <a:xfrm>
            <a:off x="914400" y="546100"/>
            <a:ext cx="7978775" cy="11430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第</a:t>
            </a:r>
            <a:r>
              <a:rPr lang="en-US" altLang="zh-CN" dirty="0"/>
              <a:t>9</a:t>
            </a:r>
            <a:r>
              <a:rPr lang="zh-CN" altLang="en-US" dirty="0"/>
              <a:t>章 关系查询处理和查询优化</a:t>
            </a:r>
            <a:endParaRPr lang="zh-CN" altLang="en-US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3491" name="Rectangle 2"/>
          <p:cNvSpPr>
            <a:spLocks noGrp="1"/>
          </p:cNvSpPr>
          <p:nvPr>
            <p:ph idx="1"/>
          </p:nvPr>
        </p:nvSpPr>
        <p:spPr>
          <a:xfrm>
            <a:off x="539750" y="1295400"/>
            <a:ext cx="8064500" cy="44196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</a:rPr>
              <a:t>代数优化改变查询语句中操作的次序和组合，不涉及底层的存取路径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</a:rPr>
              <a:t>对于一个查询语句有许多存取方案，它们的执行效率不同， 仅仅进行代数优化是不够的 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</a:rPr>
              <a:t>物理优化就是要选择高效合理的操作算法或存取路径，求得优化的查询计划 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3492" name="Rectangle 3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9.4  </a:t>
            </a:r>
            <a:r>
              <a:rPr lang="zh-CN" altLang="en-US" dirty="0"/>
              <a:t>物理优化</a:t>
            </a:r>
            <a:endParaRPr lang="zh-CN" altLang="en-US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4515" name="Rectangle 2"/>
          <p:cNvSpPr>
            <a:spLocks noGrp="1"/>
          </p:cNvSpPr>
          <p:nvPr>
            <p:ph idx="1"/>
          </p:nvPr>
        </p:nvSpPr>
        <p:spPr>
          <a:xfrm>
            <a:off x="611188" y="1484313"/>
            <a:ext cx="7345362" cy="4419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zh-CN" altLang="en-US" sz="3600" dirty="0"/>
              <a:t>选择的方法： </a:t>
            </a:r>
            <a:endParaRPr lang="zh-CN" altLang="en-US" sz="3600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sz="3600" dirty="0"/>
              <a:t>基于规则的启发式优化</a:t>
            </a:r>
            <a:endParaRPr lang="zh-CN" altLang="en-US" sz="3600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sz="3600" dirty="0"/>
              <a:t>基于代价估算的优化</a:t>
            </a:r>
            <a:endParaRPr lang="zh-CN" altLang="en-US" sz="3600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sz="3600" dirty="0"/>
              <a:t>两者结合的优化方法</a:t>
            </a:r>
            <a:endParaRPr lang="zh-CN" altLang="en-US" sz="3600" dirty="0"/>
          </a:p>
          <a:p>
            <a:pPr lvl="1" eaLnBrk="1" hangingPunct="1">
              <a:lnSpc>
                <a:spcPct val="120000"/>
              </a:lnSpc>
            </a:pPr>
            <a:endParaRPr lang="zh-CN" altLang="en-US" sz="3600" dirty="0"/>
          </a:p>
        </p:txBody>
      </p:sp>
      <p:sp>
        <p:nvSpPr>
          <p:cNvPr id="64516" name="Rectangle 3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9.4  </a:t>
            </a:r>
            <a:r>
              <a:rPr lang="zh-CN" altLang="en-US" dirty="0"/>
              <a:t>物理优化</a:t>
            </a:r>
            <a:endParaRPr lang="zh-CN" altLang="en-US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5539" name="Rectangle 2"/>
          <p:cNvSpPr>
            <a:spLocks noGrp="1"/>
          </p:cNvSpPr>
          <p:nvPr>
            <p:ph idx="1"/>
          </p:nvPr>
        </p:nvSpPr>
        <p:spPr>
          <a:xfrm>
            <a:off x="611188" y="1989138"/>
            <a:ext cx="8353425" cy="3024187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dirty="0">
                <a:solidFill>
                  <a:srgbClr val="FF0000"/>
                </a:solidFill>
              </a:rPr>
              <a:t>9.4.1  </a:t>
            </a:r>
            <a:r>
              <a:rPr lang="zh-CN" altLang="en-US" dirty="0">
                <a:solidFill>
                  <a:srgbClr val="FF0000"/>
                </a:solidFill>
              </a:rPr>
              <a:t>基于启发式规则的存取路径选择优化</a:t>
            </a:r>
            <a:endParaRPr lang="zh-CN" altLang="en-US" dirty="0">
              <a:solidFill>
                <a:srgbClr val="FF0000"/>
              </a:solidFill>
            </a:endParaRPr>
          </a:p>
          <a:p>
            <a:pPr eaLnBrk="1" hangingPunct="1">
              <a:buNone/>
            </a:pP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buNone/>
            </a:pPr>
            <a:r>
              <a:rPr lang="en-US" altLang="zh-CN" dirty="0">
                <a:solidFill>
                  <a:schemeClr val="tx1"/>
                </a:solidFill>
              </a:rPr>
              <a:t>9.4.2  </a:t>
            </a:r>
            <a:r>
              <a:rPr lang="zh-CN" altLang="en-US" dirty="0">
                <a:solidFill>
                  <a:schemeClr val="tx1"/>
                </a:solidFill>
              </a:rPr>
              <a:t>基于代价的优化 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5540" name="Rectangle 3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9.4  </a:t>
            </a:r>
            <a:r>
              <a:rPr lang="zh-CN" altLang="en-US" dirty="0"/>
              <a:t>物理优化</a:t>
            </a:r>
            <a:endParaRPr lang="zh-CN" altLang="en-US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6563" name="Rectangle 2"/>
          <p:cNvSpPr>
            <a:spLocks noGrp="1"/>
          </p:cNvSpPr>
          <p:nvPr>
            <p:ph idx="1"/>
          </p:nvPr>
        </p:nvSpPr>
        <p:spPr>
          <a:xfrm>
            <a:off x="395288" y="981075"/>
            <a:ext cx="8424862" cy="554355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</a:rPr>
              <a:t>一、 选择操作的启发式规则</a:t>
            </a:r>
            <a:r>
              <a:rPr lang="en-US" altLang="zh-CN" dirty="0">
                <a:solidFill>
                  <a:schemeClr val="tx1"/>
                </a:solidFill>
              </a:rPr>
              <a:t>:</a:t>
            </a:r>
            <a:endParaRPr lang="en-US" altLang="zh-CN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dirty="0"/>
              <a:t>1. </a:t>
            </a:r>
            <a:r>
              <a:rPr lang="zh-CN" altLang="en-US" dirty="0"/>
              <a:t>对于小关系，使用全表顺序扫描，即使选择列上有索引；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zh-CN" altLang="en-US" dirty="0"/>
              <a:t>	对于大关系，启发式规则有：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</a:pPr>
            <a:r>
              <a:rPr lang="en-US" altLang="zh-CN" dirty="0"/>
              <a:t>2. </a:t>
            </a:r>
            <a:r>
              <a:rPr lang="zh-CN" altLang="en-US" dirty="0"/>
              <a:t>选择条件：主码 ＝ 值 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zh-CN" altLang="en-US" dirty="0"/>
              <a:t>	选择主码索引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</a:pPr>
            <a:r>
              <a:rPr lang="en-US" altLang="zh-CN" dirty="0"/>
              <a:t>3. </a:t>
            </a:r>
            <a:r>
              <a:rPr lang="zh-CN" altLang="en-US" dirty="0"/>
              <a:t>选择条件：非主属性 </a:t>
            </a:r>
            <a:r>
              <a:rPr lang="en-US" altLang="zh-CN" dirty="0"/>
              <a:t>= </a:t>
            </a:r>
            <a:r>
              <a:rPr lang="zh-CN" altLang="en-US" dirty="0"/>
              <a:t>值，且列上有索引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zh-CN" altLang="en-US" dirty="0"/>
              <a:t>	估算结果行数</a:t>
            </a:r>
            <a:r>
              <a:rPr lang="en-US" altLang="zh-CN" dirty="0"/>
              <a:t>,</a:t>
            </a:r>
            <a:r>
              <a:rPr lang="zh-CN" altLang="en-US" dirty="0"/>
              <a:t>少</a:t>
            </a:r>
            <a:r>
              <a:rPr lang="en-US" altLang="zh-CN" dirty="0"/>
              <a:t>(&lt;10%)</a:t>
            </a:r>
            <a:r>
              <a:rPr lang="zh-CN" altLang="en-US" dirty="0"/>
              <a:t>则用索引，否则，扫描全表</a:t>
            </a:r>
            <a:endParaRPr lang="zh-CN" altLang="en-US" dirty="0"/>
          </a:p>
        </p:txBody>
      </p:sp>
      <p:sp>
        <p:nvSpPr>
          <p:cNvPr id="66564" name="Rectangle 3"/>
          <p:cNvSpPr>
            <a:spLocks noGrp="1"/>
          </p:cNvSpPr>
          <p:nvPr>
            <p:ph type="title"/>
          </p:nvPr>
        </p:nvSpPr>
        <p:spPr>
          <a:xfrm>
            <a:off x="1187450" y="115888"/>
            <a:ext cx="6694488" cy="612775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9.4.1  </a:t>
            </a:r>
            <a:r>
              <a:rPr lang="zh-CN" altLang="en-US" sz="3200" dirty="0"/>
              <a:t>基于启发式规则的优化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7587" name="Rectangle 2"/>
          <p:cNvSpPr>
            <a:spLocks noGrp="1"/>
          </p:cNvSpPr>
          <p:nvPr>
            <p:ph idx="1"/>
          </p:nvPr>
        </p:nvSpPr>
        <p:spPr>
          <a:xfrm>
            <a:off x="395288" y="981075"/>
            <a:ext cx="8424862" cy="5543550"/>
          </a:xfrm>
          <a:ln/>
        </p:spPr>
        <p:txBody>
          <a:bodyPr vert="horz" wrap="square" lIns="91440" tIns="45720" rIns="91440" bIns="45720" anchor="t" anchorCtr="0"/>
          <a:p>
            <a:pPr lvl="1" eaLnBrk="1" hangingPunct="1">
              <a:lnSpc>
                <a:spcPct val="120000"/>
              </a:lnSpc>
            </a:pPr>
            <a:r>
              <a:rPr lang="en-US" altLang="zh-CN" dirty="0"/>
              <a:t>4. </a:t>
            </a:r>
            <a:r>
              <a:rPr lang="zh-CN" altLang="en-US" dirty="0"/>
              <a:t>选择条件：非等值或范围查询，有索引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zh-CN" altLang="en-US" dirty="0"/>
              <a:t>	估算结果行数，少则用索引，否则扫描全表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</a:pPr>
            <a:r>
              <a:rPr lang="en-US" altLang="zh-CN" dirty="0"/>
              <a:t>5. AND</a:t>
            </a:r>
            <a:r>
              <a:rPr lang="zh-CN" altLang="en-US" dirty="0"/>
              <a:t>条件：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zh-CN" altLang="en-US" dirty="0"/>
              <a:t>	有组合索引？优先考虑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zh-CN" altLang="en-US" dirty="0"/>
              <a:t>	只有部分索引？索引 </a:t>
            </a:r>
            <a:r>
              <a:rPr lang="en-US" altLang="zh-CN" dirty="0"/>
              <a:t>+ </a:t>
            </a:r>
            <a:r>
              <a:rPr lang="zh-CN" altLang="en-US" dirty="0"/>
              <a:t>扫描筛选后的结果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</a:pPr>
            <a:r>
              <a:rPr lang="en-US" altLang="zh-CN" dirty="0"/>
              <a:t>6. OR</a:t>
            </a:r>
            <a:r>
              <a:rPr lang="zh-CN" altLang="en-US" dirty="0"/>
              <a:t>条件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zh-CN" altLang="en-US" dirty="0"/>
              <a:t>	全表顺序扫描</a:t>
            </a:r>
            <a:endParaRPr lang="zh-CN" altLang="en-US" dirty="0"/>
          </a:p>
        </p:txBody>
      </p:sp>
      <p:sp>
        <p:nvSpPr>
          <p:cNvPr id="67588" name="Rectangle 3"/>
          <p:cNvSpPr>
            <a:spLocks noGrp="1"/>
          </p:cNvSpPr>
          <p:nvPr>
            <p:ph type="title"/>
          </p:nvPr>
        </p:nvSpPr>
        <p:spPr>
          <a:xfrm>
            <a:off x="1187450" y="115888"/>
            <a:ext cx="6694488" cy="612775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9.4.1  </a:t>
            </a:r>
            <a:r>
              <a:rPr lang="zh-CN" altLang="en-US" sz="3200" dirty="0"/>
              <a:t>基于启发式规则的优化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8611" name="Rectangle 2"/>
          <p:cNvSpPr>
            <a:spLocks noGrp="1"/>
          </p:cNvSpPr>
          <p:nvPr>
            <p:ph idx="1"/>
          </p:nvPr>
        </p:nvSpPr>
        <p:spPr>
          <a:xfrm>
            <a:off x="323850" y="981075"/>
            <a:ext cx="8569325" cy="554355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二、 连接操作的启发式规则：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	</a:t>
            </a:r>
            <a:r>
              <a:rPr lang="en-US" altLang="zh-CN" sz="2800" dirty="0">
                <a:solidFill>
                  <a:schemeClr val="tx1"/>
                </a:solidFill>
              </a:rPr>
              <a:t>1. </a:t>
            </a:r>
            <a:r>
              <a:rPr lang="zh-CN" altLang="en-US" sz="2800" dirty="0">
                <a:solidFill>
                  <a:schemeClr val="tx1"/>
                </a:solidFill>
              </a:rPr>
              <a:t>如果</a:t>
            </a:r>
            <a:r>
              <a:rPr lang="en-US" altLang="zh-CN" sz="2800" dirty="0">
                <a:solidFill>
                  <a:schemeClr val="tx1"/>
                </a:solidFill>
              </a:rPr>
              <a:t>2</a:t>
            </a:r>
            <a:r>
              <a:rPr lang="zh-CN" altLang="en-US" sz="2800" dirty="0">
                <a:solidFill>
                  <a:schemeClr val="tx1"/>
                </a:solidFill>
              </a:rPr>
              <a:t>个表都已经按照连接属性排序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lvl="2" eaLnBrk="1" hangingPunct="1">
              <a:lnSpc>
                <a:spcPct val="130000"/>
              </a:lnSpc>
              <a:buSzPct val="75000"/>
              <a:buFont typeface="Wingdings" panose="05000000000000000000" pitchFamily="2" charset="2"/>
              <a:buChar char="n"/>
            </a:pPr>
            <a:r>
              <a:rPr lang="zh-CN" altLang="en-US" sz="2600" dirty="0">
                <a:ea typeface="宋体" panose="02010600030101010101" pitchFamily="2" charset="-122"/>
              </a:rPr>
              <a:t> 选用排序</a:t>
            </a:r>
            <a:r>
              <a:rPr lang="en-US" altLang="zh-CN" sz="2600" dirty="0">
                <a:ea typeface="宋体" panose="02010600030101010101" pitchFamily="2" charset="-122"/>
              </a:rPr>
              <a:t>-</a:t>
            </a:r>
            <a:r>
              <a:rPr lang="zh-CN" altLang="en-US" sz="2600" dirty="0">
                <a:ea typeface="宋体" panose="02010600030101010101" pitchFamily="2" charset="-122"/>
              </a:rPr>
              <a:t>合并方法</a:t>
            </a:r>
            <a:endParaRPr lang="zh-CN" altLang="en-US" sz="26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	</a:t>
            </a:r>
            <a:r>
              <a:rPr lang="en-US" altLang="zh-CN" sz="2800" dirty="0">
                <a:solidFill>
                  <a:schemeClr val="tx1"/>
                </a:solidFill>
              </a:rPr>
              <a:t>2. </a:t>
            </a:r>
            <a:r>
              <a:rPr lang="zh-CN" altLang="en-US" sz="2800" dirty="0">
                <a:solidFill>
                  <a:schemeClr val="tx1"/>
                </a:solidFill>
              </a:rPr>
              <a:t>如果一个表在连接属性上有索引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lvl="2" eaLnBrk="1" hangingPunct="1">
              <a:lnSpc>
                <a:spcPct val="130000"/>
              </a:lnSpc>
              <a:buSzPct val="75000"/>
              <a:buFont typeface="Wingdings" panose="05000000000000000000" pitchFamily="2" charset="2"/>
              <a:buChar char="n"/>
            </a:pPr>
            <a:r>
              <a:rPr lang="zh-CN" altLang="en-US" sz="2600" dirty="0">
                <a:ea typeface="宋体" panose="02010600030101010101" pitchFamily="2" charset="-122"/>
              </a:rPr>
              <a:t> 选用索引连接方法</a:t>
            </a:r>
            <a:endParaRPr lang="zh-CN" altLang="en-US" sz="26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	</a:t>
            </a:r>
            <a:r>
              <a:rPr lang="en-US" altLang="zh-CN" sz="2800" dirty="0">
                <a:solidFill>
                  <a:schemeClr val="tx1"/>
                </a:solidFill>
              </a:rPr>
              <a:t>3. </a:t>
            </a:r>
            <a:r>
              <a:rPr lang="zh-CN" altLang="en-US" sz="2800" dirty="0">
                <a:solidFill>
                  <a:schemeClr val="tx1"/>
                </a:solidFill>
              </a:rPr>
              <a:t>如果上面</a:t>
            </a:r>
            <a:r>
              <a:rPr lang="en-US" altLang="zh-CN" sz="2800" dirty="0">
                <a:solidFill>
                  <a:schemeClr val="tx1"/>
                </a:solidFill>
              </a:rPr>
              <a:t>2</a:t>
            </a:r>
            <a:r>
              <a:rPr lang="zh-CN" altLang="en-US" sz="2800" dirty="0">
                <a:solidFill>
                  <a:schemeClr val="tx1"/>
                </a:solidFill>
              </a:rPr>
              <a:t>个规则都不适用，其中一个表较小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lvl="2" eaLnBrk="1" hangingPunct="1">
              <a:lnSpc>
                <a:spcPct val="130000"/>
              </a:lnSpc>
              <a:buSzPct val="75000"/>
              <a:buFont typeface="Wingdings" panose="05000000000000000000" pitchFamily="2" charset="2"/>
              <a:buChar char="n"/>
            </a:pPr>
            <a:r>
              <a:rPr lang="zh-CN" altLang="en-US" sz="2600" dirty="0">
                <a:ea typeface="宋体" panose="02010600030101010101" pitchFamily="2" charset="-122"/>
              </a:rPr>
              <a:t> 选用</a:t>
            </a:r>
            <a:r>
              <a:rPr lang="en-US" altLang="zh-CN" sz="2600" dirty="0">
                <a:ea typeface="宋体" panose="02010600030101010101" pitchFamily="2" charset="-122"/>
              </a:rPr>
              <a:t>Hash join</a:t>
            </a:r>
            <a:r>
              <a:rPr lang="zh-CN" altLang="en-US" sz="2600" dirty="0">
                <a:ea typeface="宋体" panose="02010600030101010101" pitchFamily="2" charset="-122"/>
              </a:rPr>
              <a:t>方法</a:t>
            </a:r>
            <a:endParaRPr lang="zh-CN" altLang="en-US" sz="2600" dirty="0">
              <a:ea typeface="宋体" panose="02010600030101010101" pitchFamily="2" charset="-122"/>
            </a:endParaRPr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	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68612" name="Rectangle 3"/>
          <p:cNvSpPr>
            <a:spLocks noGrp="1"/>
          </p:cNvSpPr>
          <p:nvPr>
            <p:ph type="title"/>
          </p:nvPr>
        </p:nvSpPr>
        <p:spPr>
          <a:xfrm>
            <a:off x="1187450" y="115888"/>
            <a:ext cx="6694488" cy="612775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9.4.1  </a:t>
            </a:r>
            <a:r>
              <a:rPr lang="zh-CN" altLang="en-US" sz="3200" dirty="0"/>
              <a:t>基于启发式规则的优化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9635" name="Rectangle 2"/>
          <p:cNvSpPr>
            <a:spLocks noGrp="1"/>
          </p:cNvSpPr>
          <p:nvPr>
            <p:ph idx="1"/>
          </p:nvPr>
        </p:nvSpPr>
        <p:spPr>
          <a:xfrm>
            <a:off x="323850" y="981075"/>
            <a:ext cx="8569325" cy="554355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4. </a:t>
            </a:r>
            <a:r>
              <a:rPr lang="zh-CN" altLang="en-US" sz="2400" dirty="0">
                <a:solidFill>
                  <a:schemeClr val="tx1"/>
                </a:solidFill>
              </a:rPr>
              <a:t>可以选用嵌套循环方法，并选择其中较小的表，确切地讲是占用的块数</a:t>
            </a:r>
            <a:r>
              <a:rPr lang="en-US" altLang="zh-CN" sz="2400" dirty="0">
                <a:solidFill>
                  <a:schemeClr val="tx1"/>
                </a:solidFill>
              </a:rPr>
              <a:t>(b)</a:t>
            </a:r>
            <a:r>
              <a:rPr lang="zh-CN" altLang="en-US" sz="2400" dirty="0">
                <a:solidFill>
                  <a:schemeClr val="tx1"/>
                </a:solidFill>
              </a:rPr>
              <a:t>较少的表，作为外表</a:t>
            </a:r>
            <a:r>
              <a:rPr lang="en-US" altLang="zh-CN" sz="2400" dirty="0">
                <a:solidFill>
                  <a:schemeClr val="tx1"/>
                </a:solidFill>
              </a:rPr>
              <a:t>(</a:t>
            </a:r>
            <a:r>
              <a:rPr lang="zh-CN" altLang="en-US" sz="2400" dirty="0">
                <a:solidFill>
                  <a:schemeClr val="tx1"/>
                </a:solidFill>
              </a:rPr>
              <a:t>外循环的表</a:t>
            </a:r>
            <a:r>
              <a:rPr lang="en-US" altLang="zh-CN" sz="2400" dirty="0">
                <a:solidFill>
                  <a:schemeClr val="tx1"/>
                </a:solidFill>
              </a:rPr>
              <a:t>) </a:t>
            </a:r>
            <a:r>
              <a:rPr lang="zh-CN" altLang="en-US" sz="2400" dirty="0">
                <a:solidFill>
                  <a:schemeClr val="tx1"/>
                </a:solidFill>
              </a:rPr>
              <a:t>。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    理由：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Char char="n"/>
            </a:pPr>
            <a:r>
              <a:rPr lang="zh-CN" altLang="en-US" sz="2200" dirty="0"/>
              <a:t>设连接表</a:t>
            </a:r>
            <a:r>
              <a:rPr lang="en-US" altLang="zh-CN" sz="2200" dirty="0"/>
              <a:t>R</a:t>
            </a:r>
            <a:r>
              <a:rPr lang="zh-CN" altLang="en-US" sz="2200" dirty="0"/>
              <a:t>与</a:t>
            </a:r>
            <a:r>
              <a:rPr lang="en-US" altLang="zh-CN" sz="2200" dirty="0"/>
              <a:t>S</a:t>
            </a:r>
            <a:r>
              <a:rPr lang="zh-CN" altLang="en-US" sz="2200" dirty="0"/>
              <a:t>分别占用的块数为</a:t>
            </a:r>
            <a:r>
              <a:rPr lang="en-US" altLang="zh-CN" sz="2200" dirty="0"/>
              <a:t>Br</a:t>
            </a:r>
            <a:r>
              <a:rPr lang="zh-CN" altLang="en-US" sz="2200" dirty="0"/>
              <a:t>与</a:t>
            </a:r>
            <a:r>
              <a:rPr lang="en-US" altLang="zh-CN" sz="2200" dirty="0"/>
              <a:t>Bs</a:t>
            </a:r>
            <a:endParaRPr lang="en-US" altLang="zh-CN" sz="2200" dirty="0"/>
          </a:p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Char char="n"/>
            </a:pPr>
            <a:r>
              <a:rPr lang="zh-CN" altLang="en-US" sz="2200" dirty="0"/>
              <a:t>连接操作使用的内存缓冲区块数为</a:t>
            </a:r>
            <a:r>
              <a:rPr lang="en-US" altLang="zh-CN" sz="2200" dirty="0"/>
              <a:t>K</a:t>
            </a:r>
            <a:endParaRPr lang="en-US" altLang="zh-CN" sz="2200" dirty="0"/>
          </a:p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Char char="n"/>
            </a:pPr>
            <a:r>
              <a:rPr lang="zh-CN" altLang="en-US" sz="2200" dirty="0"/>
              <a:t>分配</a:t>
            </a:r>
            <a:r>
              <a:rPr lang="en-US" altLang="zh-CN" sz="2200" dirty="0"/>
              <a:t>K-1</a:t>
            </a:r>
            <a:r>
              <a:rPr lang="zh-CN" altLang="en-US" sz="2200" dirty="0"/>
              <a:t>块给</a:t>
            </a:r>
            <a:r>
              <a:rPr lang="zh-CN" altLang="en-US" sz="2200" dirty="0">
                <a:sym typeface="Arial" panose="020B0604020202020204" pitchFamily="34" charset="0"/>
              </a:rPr>
              <a:t>内</a:t>
            </a:r>
            <a:r>
              <a:rPr lang="zh-CN" altLang="en-US" sz="2200" dirty="0"/>
              <a:t>表</a:t>
            </a:r>
            <a:endParaRPr lang="zh-CN" altLang="en-US" sz="2200" dirty="0"/>
          </a:p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Char char="n"/>
            </a:pPr>
            <a:r>
              <a:rPr lang="zh-CN" altLang="en-US" sz="2200" dirty="0"/>
              <a:t>如果</a:t>
            </a:r>
            <a:r>
              <a:rPr lang="en-US" altLang="zh-CN" sz="2200" dirty="0"/>
              <a:t>R</a:t>
            </a:r>
            <a:r>
              <a:rPr lang="zh-CN" altLang="en-US" sz="2200" dirty="0"/>
              <a:t>为外表，则嵌套循环法存取的块数为</a:t>
            </a:r>
            <a:r>
              <a:rPr lang="en-US" altLang="zh-CN" sz="2200" dirty="0"/>
              <a:t>Br+( Br/K-1)Bs</a:t>
            </a:r>
            <a:endParaRPr lang="en-US" altLang="zh-CN" sz="2200" dirty="0"/>
          </a:p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Char char="n"/>
            </a:pPr>
            <a:r>
              <a:rPr lang="zh-CN" altLang="en-US" sz="2200" dirty="0"/>
              <a:t>显然应该选块数小的表作为外表</a:t>
            </a:r>
            <a:r>
              <a:rPr lang="zh-CN" altLang="en-US" sz="2400" dirty="0"/>
              <a:t> </a:t>
            </a:r>
            <a:r>
              <a:rPr lang="zh-CN" altLang="en-US" sz="2000" dirty="0"/>
              <a:t>	</a:t>
            </a:r>
            <a:endParaRPr lang="zh-CN" altLang="en-US" sz="2000" dirty="0"/>
          </a:p>
        </p:txBody>
      </p:sp>
      <p:sp>
        <p:nvSpPr>
          <p:cNvPr id="69636" name="Rectangle 3"/>
          <p:cNvSpPr>
            <a:spLocks noGrp="1"/>
          </p:cNvSpPr>
          <p:nvPr>
            <p:ph type="title"/>
          </p:nvPr>
        </p:nvSpPr>
        <p:spPr>
          <a:xfrm>
            <a:off x="1187450" y="115888"/>
            <a:ext cx="6694488" cy="612775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9.4.1  </a:t>
            </a:r>
            <a:r>
              <a:rPr lang="zh-CN" altLang="en-US" sz="3200" dirty="0"/>
              <a:t>基于启发式规则的优化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70659" name="Rectangle 2"/>
          <p:cNvSpPr>
            <a:spLocks noGrp="1"/>
          </p:cNvSpPr>
          <p:nvPr>
            <p:ph idx="1"/>
          </p:nvPr>
        </p:nvSpPr>
        <p:spPr>
          <a:xfrm>
            <a:off x="611188" y="1989138"/>
            <a:ext cx="7921625" cy="3024187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dirty="0">
                <a:solidFill>
                  <a:schemeClr val="tx1"/>
                </a:solidFill>
              </a:rPr>
              <a:t>9.4.1  </a:t>
            </a:r>
            <a:r>
              <a:rPr lang="zh-CN" altLang="en-US" dirty="0">
                <a:solidFill>
                  <a:schemeClr val="tx1"/>
                </a:solidFill>
              </a:rPr>
              <a:t>基于启发式规则的存取路径选择优化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buNone/>
            </a:pPr>
            <a:endParaRPr lang="zh-CN" altLang="en-US" dirty="0">
              <a:solidFill>
                <a:srgbClr val="FF0000"/>
              </a:solidFill>
            </a:endParaRPr>
          </a:p>
          <a:p>
            <a:pPr eaLnBrk="1" hangingPunct="1">
              <a:buNone/>
            </a:pPr>
            <a:r>
              <a:rPr lang="en-US" altLang="zh-CN" dirty="0">
                <a:solidFill>
                  <a:srgbClr val="FF0000"/>
                </a:solidFill>
              </a:rPr>
              <a:t>9.4.2  </a:t>
            </a:r>
            <a:r>
              <a:rPr lang="zh-CN" altLang="en-US" dirty="0">
                <a:solidFill>
                  <a:srgbClr val="FF0000"/>
                </a:solidFill>
              </a:rPr>
              <a:t>基于代价的优化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0660" name="Rectangle 3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9.4  </a:t>
            </a:r>
            <a:r>
              <a:rPr lang="zh-CN" altLang="en-US" dirty="0"/>
              <a:t>物理优化</a:t>
            </a:r>
            <a:endParaRPr lang="zh-CN" altLang="en-US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71683" name="Rectangle 2"/>
          <p:cNvSpPr>
            <a:spLocks noGrp="1"/>
          </p:cNvSpPr>
          <p:nvPr>
            <p:ph idx="1"/>
          </p:nvPr>
        </p:nvSpPr>
        <p:spPr>
          <a:xfrm>
            <a:off x="755650" y="1412875"/>
            <a:ext cx="7651750" cy="489585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3600" dirty="0">
                <a:solidFill>
                  <a:schemeClr val="tx1"/>
                </a:solidFill>
              </a:rPr>
              <a:t>一、 统计信息 </a:t>
            </a:r>
            <a:endParaRPr lang="zh-CN" altLang="en-US" sz="3600" dirty="0">
              <a:solidFill>
                <a:schemeClr val="tx1"/>
              </a:solidFill>
            </a:endParaRPr>
          </a:p>
          <a:p>
            <a:pPr eaLnBrk="1" hangingPunct="1"/>
            <a:endParaRPr lang="zh-CN" altLang="en-US" sz="3600" dirty="0">
              <a:solidFill>
                <a:schemeClr val="tx1"/>
              </a:solidFill>
            </a:endParaRPr>
          </a:p>
          <a:p>
            <a:pPr eaLnBrk="1" hangingPunct="1"/>
            <a:r>
              <a:rPr lang="zh-CN" altLang="en-US" sz="3600" dirty="0">
                <a:solidFill>
                  <a:schemeClr val="tx1"/>
                </a:solidFill>
              </a:rPr>
              <a:t>二、 代价估算示例 </a:t>
            </a:r>
            <a:endParaRPr lang="zh-CN" altLang="en-US" sz="3600" dirty="0">
              <a:solidFill>
                <a:schemeClr val="tx1"/>
              </a:solidFill>
            </a:endParaRPr>
          </a:p>
          <a:p>
            <a:pPr eaLnBrk="1" hangingPunct="1"/>
            <a:endParaRPr lang="zh-CN" altLang="en-US" sz="3600" dirty="0">
              <a:solidFill>
                <a:schemeClr val="tx1"/>
              </a:solidFill>
            </a:endParaRPr>
          </a:p>
        </p:txBody>
      </p:sp>
      <p:sp>
        <p:nvSpPr>
          <p:cNvPr id="71684" name="Rectangle 3"/>
          <p:cNvSpPr>
            <a:spLocks noGrp="1"/>
          </p:cNvSpPr>
          <p:nvPr>
            <p:ph type="title"/>
          </p:nvPr>
        </p:nvSpPr>
        <p:spPr>
          <a:xfrm>
            <a:off x="1228725" y="85725"/>
            <a:ext cx="6262688" cy="5334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9.4.2  </a:t>
            </a:r>
            <a:r>
              <a:rPr lang="zh-CN" altLang="en-US" sz="3200" dirty="0"/>
              <a:t>基于代价的优化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72707" name="Rectangle 2"/>
          <p:cNvSpPr>
            <a:spLocks noGrp="1"/>
          </p:cNvSpPr>
          <p:nvPr>
            <p:ph idx="1"/>
          </p:nvPr>
        </p:nvSpPr>
        <p:spPr>
          <a:xfrm>
            <a:off x="323850" y="981075"/>
            <a:ext cx="8496300" cy="5616575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1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一、 统计信息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dirty="0">
                <a:solidFill>
                  <a:schemeClr val="tx1"/>
                </a:solidFill>
              </a:rPr>
              <a:t>基于代价的优化方法要计算各种操作算法的执行代价，与数据库的状态密切相关 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dirty="0">
                <a:solidFill>
                  <a:schemeClr val="tx1"/>
                </a:solidFill>
              </a:rPr>
              <a:t>数据字典中存储了优化器需要的统计信息： </a:t>
            </a:r>
            <a:endParaRPr lang="zh-CN" altLang="en-US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10000"/>
              </a:lnSpc>
              <a:buNone/>
            </a:pPr>
            <a:r>
              <a:rPr lang="en-US" altLang="zh-CN" sz="3200" dirty="0"/>
              <a:t>1. </a:t>
            </a:r>
            <a:r>
              <a:rPr lang="zh-CN" altLang="en-US" sz="3200" dirty="0"/>
              <a:t>对每个基本表</a:t>
            </a:r>
            <a:endParaRPr lang="zh-CN" altLang="en-US" sz="3200" dirty="0"/>
          </a:p>
          <a:p>
            <a:pPr lvl="2" eaLnBrk="1" hangingPunct="1">
              <a:lnSpc>
                <a:spcPct val="110000"/>
              </a:lnSpc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</a:pPr>
            <a:r>
              <a:rPr lang="zh-CN" altLang="en-US" sz="3200" dirty="0">
                <a:ea typeface="宋体" panose="02010600030101010101" pitchFamily="2" charset="-122"/>
              </a:rPr>
              <a:t>该表的元组总数</a:t>
            </a:r>
            <a:r>
              <a:rPr lang="en-US" altLang="zh-CN" sz="3200" dirty="0">
                <a:ea typeface="宋体" panose="02010600030101010101" pitchFamily="2" charset="-122"/>
              </a:rPr>
              <a:t>(N)</a:t>
            </a:r>
            <a:endParaRPr lang="en-US" altLang="zh-CN" sz="3200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110000"/>
              </a:lnSpc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</a:pPr>
            <a:r>
              <a:rPr lang="zh-CN" altLang="en-US" sz="3200" dirty="0">
                <a:ea typeface="宋体" panose="02010600030101010101" pitchFamily="2" charset="-122"/>
              </a:rPr>
              <a:t>元组长度</a:t>
            </a:r>
            <a:r>
              <a:rPr lang="en-US" altLang="zh-CN" sz="3200" dirty="0">
                <a:ea typeface="宋体" panose="02010600030101010101" pitchFamily="2" charset="-122"/>
              </a:rPr>
              <a:t>(l)</a:t>
            </a:r>
            <a:endParaRPr lang="en-US" altLang="zh-CN" sz="3200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110000"/>
              </a:lnSpc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</a:pPr>
            <a:r>
              <a:rPr lang="zh-CN" altLang="en-US" sz="3200" dirty="0">
                <a:ea typeface="宋体" panose="02010600030101010101" pitchFamily="2" charset="-122"/>
              </a:rPr>
              <a:t>占用的块数</a:t>
            </a:r>
            <a:r>
              <a:rPr lang="en-US" altLang="zh-CN" sz="3200" dirty="0">
                <a:ea typeface="宋体" panose="02010600030101010101" pitchFamily="2" charset="-122"/>
              </a:rPr>
              <a:t>(B)</a:t>
            </a:r>
            <a:endParaRPr lang="en-US" altLang="zh-CN" sz="3200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110000"/>
              </a:lnSpc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</a:pPr>
            <a:r>
              <a:rPr lang="zh-CN" altLang="en-US" sz="3200" dirty="0">
                <a:ea typeface="宋体" panose="02010600030101010101" pitchFamily="2" charset="-122"/>
              </a:rPr>
              <a:t>占用的溢出块数</a:t>
            </a:r>
            <a:r>
              <a:rPr lang="en-US" altLang="zh-CN" sz="3200" dirty="0">
                <a:ea typeface="宋体" panose="02010600030101010101" pitchFamily="2" charset="-122"/>
              </a:rPr>
              <a:t>(BO)</a:t>
            </a:r>
            <a:endParaRPr lang="en-US" altLang="zh-CN" sz="3200" dirty="0">
              <a:ea typeface="宋体" panose="02010600030101010101" pitchFamily="2" charset="-122"/>
            </a:endParaRPr>
          </a:p>
        </p:txBody>
      </p:sp>
      <p:sp>
        <p:nvSpPr>
          <p:cNvPr id="72708" name="Rectangle 3"/>
          <p:cNvSpPr>
            <a:spLocks noGrp="1"/>
          </p:cNvSpPr>
          <p:nvPr>
            <p:ph type="title"/>
          </p:nvPr>
        </p:nvSpPr>
        <p:spPr>
          <a:xfrm>
            <a:off x="1228725" y="85725"/>
            <a:ext cx="6262688" cy="5334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9.4.2  </a:t>
            </a:r>
            <a:r>
              <a:rPr lang="zh-CN" altLang="en-US" sz="3200" dirty="0"/>
              <a:t>基于代价的优化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3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73731" name="Rectangle 2"/>
          <p:cNvSpPr>
            <a:spLocks noGrp="1"/>
          </p:cNvSpPr>
          <p:nvPr>
            <p:ph idx="1"/>
          </p:nvPr>
        </p:nvSpPr>
        <p:spPr>
          <a:xfrm>
            <a:off x="323850" y="981075"/>
            <a:ext cx="8496300" cy="5616575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dirty="0">
                <a:solidFill>
                  <a:schemeClr val="tx1"/>
                </a:solidFill>
              </a:rPr>
              <a:t>2. </a:t>
            </a:r>
            <a:r>
              <a:rPr lang="zh-CN" altLang="en-US" dirty="0">
                <a:solidFill>
                  <a:schemeClr val="tx1"/>
                </a:solidFill>
              </a:rPr>
              <a:t>对基表的每个列</a:t>
            </a:r>
            <a:endParaRPr lang="zh-CN" altLang="en-US" dirty="0">
              <a:solidFill>
                <a:schemeClr val="tx1"/>
              </a:solidFill>
            </a:endParaRPr>
          </a:p>
          <a:p>
            <a:pPr lvl="2" eaLnBrk="1" hangingPunct="1">
              <a:buSzPct val="75000"/>
              <a:buFont typeface="Wingdings" panose="05000000000000000000" pitchFamily="2" charset="2"/>
              <a:buChar char="§"/>
            </a:pPr>
            <a:r>
              <a:rPr lang="zh-CN" altLang="en-US" sz="3200" dirty="0">
                <a:ea typeface="宋体" panose="02010600030101010101" pitchFamily="2" charset="-122"/>
              </a:rPr>
              <a:t>该列不同值的个数</a:t>
            </a:r>
            <a:r>
              <a:rPr lang="en-US" altLang="zh-CN" sz="3200" dirty="0">
                <a:ea typeface="宋体" panose="02010600030101010101" pitchFamily="2" charset="-122"/>
              </a:rPr>
              <a:t>(m)</a:t>
            </a:r>
            <a:endParaRPr lang="en-US" altLang="zh-CN" sz="3200" dirty="0">
              <a:ea typeface="宋体" panose="02010600030101010101" pitchFamily="2" charset="-122"/>
            </a:endParaRPr>
          </a:p>
          <a:p>
            <a:pPr lvl="2" eaLnBrk="1" hangingPunct="1">
              <a:buSzPct val="75000"/>
              <a:buFont typeface="Wingdings" panose="05000000000000000000" pitchFamily="2" charset="2"/>
              <a:buChar char="§"/>
            </a:pPr>
            <a:r>
              <a:rPr lang="zh-CN" altLang="en-US" sz="3200" dirty="0">
                <a:ea typeface="宋体" panose="02010600030101010101" pitchFamily="2" charset="-122"/>
              </a:rPr>
              <a:t>选择率</a:t>
            </a:r>
            <a:r>
              <a:rPr lang="en-US" altLang="zh-CN" sz="3200" dirty="0">
                <a:ea typeface="宋体" panose="02010600030101010101" pitchFamily="2" charset="-122"/>
              </a:rPr>
              <a:t>(f)</a:t>
            </a:r>
            <a:endParaRPr lang="en-US" altLang="zh-CN" sz="3200" dirty="0">
              <a:ea typeface="宋体" panose="02010600030101010101" pitchFamily="2" charset="-122"/>
            </a:endParaRPr>
          </a:p>
          <a:p>
            <a:pPr lvl="2" eaLnBrk="1" hangingPunct="1">
              <a:buSzPct val="75000"/>
              <a:buFont typeface="Wingdings" panose="05000000000000000000" pitchFamily="2" charset="2"/>
              <a:buChar char="§"/>
            </a:pPr>
            <a:r>
              <a:rPr lang="zh-CN" altLang="en-US" sz="3200" dirty="0">
                <a:ea typeface="宋体" panose="02010600030101010101" pitchFamily="2" charset="-122"/>
              </a:rPr>
              <a:t>该列最大值</a:t>
            </a:r>
            <a:endParaRPr lang="zh-CN" altLang="en-US" sz="3200" dirty="0">
              <a:ea typeface="宋体" panose="02010600030101010101" pitchFamily="2" charset="-122"/>
            </a:endParaRPr>
          </a:p>
          <a:p>
            <a:pPr lvl="2" eaLnBrk="1" hangingPunct="1">
              <a:buSzPct val="75000"/>
              <a:buFont typeface="Wingdings" panose="05000000000000000000" pitchFamily="2" charset="2"/>
              <a:buChar char="§"/>
            </a:pPr>
            <a:r>
              <a:rPr lang="zh-CN" altLang="en-US" sz="3200" dirty="0">
                <a:ea typeface="宋体" panose="02010600030101010101" pitchFamily="2" charset="-122"/>
              </a:rPr>
              <a:t>该列最小值</a:t>
            </a:r>
            <a:endParaRPr lang="zh-CN" altLang="en-US" sz="3200" dirty="0">
              <a:ea typeface="宋体" panose="02010600030101010101" pitchFamily="2" charset="-122"/>
            </a:endParaRPr>
          </a:p>
          <a:p>
            <a:pPr lvl="2" eaLnBrk="1" hangingPunct="1">
              <a:buSzPct val="75000"/>
              <a:buFont typeface="Wingdings" panose="05000000000000000000" pitchFamily="2" charset="2"/>
              <a:buChar char="§"/>
            </a:pPr>
            <a:r>
              <a:rPr lang="zh-CN" altLang="en-US" sz="3200" dirty="0">
                <a:ea typeface="宋体" panose="02010600030101010101" pitchFamily="2" charset="-122"/>
              </a:rPr>
              <a:t>该列上是否已经建立了索引</a:t>
            </a:r>
            <a:endParaRPr lang="zh-CN" altLang="en-US" sz="3200" dirty="0">
              <a:ea typeface="宋体" panose="02010600030101010101" pitchFamily="2" charset="-122"/>
            </a:endParaRPr>
          </a:p>
          <a:p>
            <a:pPr lvl="2" eaLnBrk="1" hangingPunct="1">
              <a:buSzPct val="75000"/>
              <a:buFont typeface="Wingdings" panose="05000000000000000000" pitchFamily="2" charset="2"/>
              <a:buChar char="§"/>
            </a:pPr>
            <a:r>
              <a:rPr lang="zh-CN" altLang="en-US" sz="3200" dirty="0">
                <a:ea typeface="宋体" panose="02010600030101010101" pitchFamily="2" charset="-122"/>
              </a:rPr>
              <a:t>索引类型</a:t>
            </a:r>
            <a:r>
              <a:rPr lang="en-US" altLang="zh-CN" sz="3200" dirty="0">
                <a:ea typeface="宋体" panose="02010600030101010101" pitchFamily="2" charset="-122"/>
              </a:rPr>
              <a:t>(B+</a:t>
            </a:r>
            <a:r>
              <a:rPr lang="zh-CN" altLang="en-US" sz="3200" dirty="0">
                <a:ea typeface="宋体" panose="02010600030101010101" pitchFamily="2" charset="-122"/>
              </a:rPr>
              <a:t>树索引、</a:t>
            </a:r>
            <a:r>
              <a:rPr lang="en-US" altLang="zh-CN" sz="3200" dirty="0">
                <a:ea typeface="宋体" panose="02010600030101010101" pitchFamily="2" charset="-122"/>
              </a:rPr>
              <a:t>Hash</a:t>
            </a:r>
            <a:r>
              <a:rPr lang="zh-CN" altLang="en-US" sz="3200" dirty="0">
                <a:ea typeface="宋体" panose="02010600030101010101" pitchFamily="2" charset="-122"/>
              </a:rPr>
              <a:t>索引、聚集索引</a:t>
            </a:r>
            <a:r>
              <a:rPr lang="en-US" altLang="zh-CN" sz="3200" dirty="0">
                <a:ea typeface="宋体" panose="02010600030101010101" pitchFamily="2" charset="-122"/>
              </a:rPr>
              <a:t>)</a:t>
            </a:r>
            <a:endParaRPr lang="en-US" altLang="zh-CN" sz="3200" dirty="0">
              <a:ea typeface="宋体" panose="02010600030101010101" pitchFamily="2" charset="-122"/>
            </a:endParaRPr>
          </a:p>
          <a:p>
            <a:pPr eaLnBrk="1" hangingPunct="1">
              <a:buNone/>
            </a:pPr>
            <a:r>
              <a:rPr lang="en-US" altLang="zh-CN" dirty="0">
                <a:solidFill>
                  <a:schemeClr val="tx1"/>
                </a:solidFill>
              </a:rPr>
              <a:t>	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73732" name="Rectangle 3"/>
          <p:cNvSpPr>
            <a:spLocks noGrp="1"/>
          </p:cNvSpPr>
          <p:nvPr>
            <p:ph type="title"/>
          </p:nvPr>
        </p:nvSpPr>
        <p:spPr>
          <a:xfrm>
            <a:off x="1228725" y="85725"/>
            <a:ext cx="6262688" cy="5334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9.4.2  </a:t>
            </a:r>
            <a:r>
              <a:rPr lang="zh-CN" altLang="en-US" sz="3200" dirty="0"/>
              <a:t>基于代价的优化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74755" name="Rectangle 2"/>
          <p:cNvSpPr>
            <a:spLocks noGrp="1"/>
          </p:cNvSpPr>
          <p:nvPr>
            <p:ph idx="1"/>
          </p:nvPr>
        </p:nvSpPr>
        <p:spPr>
          <a:xfrm>
            <a:off x="323850" y="981075"/>
            <a:ext cx="8496300" cy="5040313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4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3. </a:t>
            </a:r>
            <a:r>
              <a:rPr lang="zh-CN" altLang="en-US" dirty="0">
                <a:solidFill>
                  <a:schemeClr val="tx1"/>
                </a:solidFill>
              </a:rPr>
              <a:t>对索引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zh-CN" altLang="en-US" dirty="0">
                <a:solidFill>
                  <a:schemeClr val="tx1"/>
                </a:solidFill>
              </a:rPr>
              <a:t>如</a:t>
            </a:r>
            <a:r>
              <a:rPr lang="en-US" altLang="zh-CN" dirty="0">
                <a:solidFill>
                  <a:schemeClr val="tx1"/>
                </a:solidFill>
              </a:rPr>
              <a:t>B+</a:t>
            </a:r>
            <a:r>
              <a:rPr lang="zh-CN" altLang="en-US" dirty="0">
                <a:solidFill>
                  <a:schemeClr val="tx1"/>
                </a:solidFill>
              </a:rPr>
              <a:t>树索引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  <a:endParaRPr lang="en-US" altLang="zh-CN" dirty="0">
              <a:solidFill>
                <a:schemeClr val="tx1"/>
              </a:solidFill>
            </a:endParaRPr>
          </a:p>
          <a:p>
            <a:pPr lvl="2" eaLnBrk="1" hangingPunct="1">
              <a:lnSpc>
                <a:spcPct val="140000"/>
              </a:lnSpc>
              <a:buSzPct val="75000"/>
              <a:buFont typeface="Wingdings" panose="05000000000000000000" pitchFamily="2" charset="2"/>
              <a:buChar char="§"/>
            </a:pPr>
            <a:r>
              <a:rPr lang="zh-CN" altLang="en-US" sz="3200" dirty="0">
                <a:ea typeface="宋体" panose="02010600030101010101" pitchFamily="2" charset="-122"/>
              </a:rPr>
              <a:t>索引的层数</a:t>
            </a:r>
            <a:r>
              <a:rPr lang="en-US" altLang="zh-CN" sz="3200" dirty="0">
                <a:ea typeface="宋体" panose="02010600030101010101" pitchFamily="2" charset="-122"/>
              </a:rPr>
              <a:t>(L)</a:t>
            </a:r>
            <a:endParaRPr lang="en-US" altLang="zh-CN" sz="3200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140000"/>
              </a:lnSpc>
              <a:buSzPct val="75000"/>
              <a:buFont typeface="Wingdings" panose="05000000000000000000" pitchFamily="2" charset="2"/>
              <a:buChar char="§"/>
            </a:pPr>
            <a:r>
              <a:rPr lang="zh-CN" altLang="en-US" sz="3200" dirty="0">
                <a:ea typeface="宋体" panose="02010600030101010101" pitchFamily="2" charset="-122"/>
              </a:rPr>
              <a:t>不同索引值的个数</a:t>
            </a:r>
            <a:endParaRPr lang="zh-CN" altLang="en-US" sz="3200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140000"/>
              </a:lnSpc>
              <a:buSzPct val="75000"/>
              <a:buFont typeface="Wingdings" panose="05000000000000000000" pitchFamily="2" charset="2"/>
              <a:buChar char="§"/>
            </a:pPr>
            <a:r>
              <a:rPr lang="zh-CN" altLang="en-US" sz="3200" dirty="0">
                <a:ea typeface="宋体" panose="02010600030101010101" pitchFamily="2" charset="-122"/>
              </a:rPr>
              <a:t>索引的选择基数</a:t>
            </a:r>
            <a:r>
              <a:rPr lang="en-US" altLang="zh-CN" sz="3200" dirty="0">
                <a:ea typeface="宋体" panose="02010600030101010101" pitchFamily="2" charset="-122"/>
              </a:rPr>
              <a:t>S(</a:t>
            </a:r>
            <a:r>
              <a:rPr lang="zh-CN" altLang="en-US" sz="3200" dirty="0">
                <a:ea typeface="宋体" panose="02010600030101010101" pitchFamily="2" charset="-122"/>
              </a:rPr>
              <a:t>有</a:t>
            </a:r>
            <a:r>
              <a:rPr lang="en-US" altLang="zh-CN" sz="3200" dirty="0">
                <a:ea typeface="宋体" panose="02010600030101010101" pitchFamily="2" charset="-122"/>
              </a:rPr>
              <a:t>S</a:t>
            </a:r>
            <a:r>
              <a:rPr lang="zh-CN" altLang="en-US" sz="3200" dirty="0">
                <a:ea typeface="宋体" panose="02010600030101010101" pitchFamily="2" charset="-122"/>
              </a:rPr>
              <a:t>个元组具有某个索引值</a:t>
            </a:r>
            <a:r>
              <a:rPr lang="en-US" altLang="zh-CN" sz="3200" dirty="0">
                <a:ea typeface="宋体" panose="02010600030101010101" pitchFamily="2" charset="-122"/>
              </a:rPr>
              <a:t>)</a:t>
            </a:r>
            <a:endParaRPr lang="en-US" altLang="zh-CN" sz="3200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140000"/>
              </a:lnSpc>
              <a:buSzPct val="75000"/>
              <a:buFont typeface="Wingdings" panose="05000000000000000000" pitchFamily="2" charset="2"/>
              <a:buChar char="§"/>
            </a:pPr>
            <a:r>
              <a:rPr lang="zh-CN" altLang="en-US" sz="3200" dirty="0">
                <a:ea typeface="宋体" panose="02010600030101010101" pitchFamily="2" charset="-122"/>
              </a:rPr>
              <a:t>索引的叶结点数</a:t>
            </a:r>
            <a:r>
              <a:rPr lang="en-US" altLang="zh-CN" sz="3200" dirty="0">
                <a:ea typeface="宋体" panose="02010600030101010101" pitchFamily="2" charset="-122"/>
              </a:rPr>
              <a:t>(Y) </a:t>
            </a:r>
            <a:endParaRPr lang="en-US" altLang="zh-CN" sz="3200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74756" name="Rectangle 3"/>
          <p:cNvSpPr>
            <a:spLocks noGrp="1"/>
          </p:cNvSpPr>
          <p:nvPr>
            <p:ph type="title"/>
          </p:nvPr>
        </p:nvSpPr>
        <p:spPr>
          <a:xfrm>
            <a:off x="1228725" y="85725"/>
            <a:ext cx="6262688" cy="5334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9.4.2  </a:t>
            </a:r>
            <a:r>
              <a:rPr lang="zh-CN" altLang="en-US" sz="3200" dirty="0"/>
              <a:t>基于代价的优化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75779" name="Rectangle 2"/>
          <p:cNvSpPr>
            <a:spLocks noGrp="1"/>
          </p:cNvSpPr>
          <p:nvPr>
            <p:ph idx="1"/>
          </p:nvPr>
        </p:nvSpPr>
        <p:spPr>
          <a:xfrm>
            <a:off x="323850" y="908050"/>
            <a:ext cx="8496300" cy="5545138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4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二、 代价估算示例 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4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1. </a:t>
            </a:r>
            <a:r>
              <a:rPr lang="zh-CN" altLang="en-US" dirty="0">
                <a:solidFill>
                  <a:schemeClr val="tx1"/>
                </a:solidFill>
              </a:rPr>
              <a:t>全表扫描算法的代价估算公式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4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	如果基本表大小为</a:t>
            </a:r>
            <a:r>
              <a:rPr lang="en-US" altLang="zh-CN" sz="2800" dirty="0">
                <a:solidFill>
                  <a:schemeClr val="tx1"/>
                </a:solidFill>
              </a:rPr>
              <a:t>B</a:t>
            </a:r>
            <a:r>
              <a:rPr lang="zh-CN" altLang="en-US" sz="2800" dirty="0">
                <a:solidFill>
                  <a:schemeClr val="tx1"/>
                </a:solidFill>
              </a:rPr>
              <a:t>块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4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	全表扫描算法的代价 </a:t>
            </a:r>
            <a:r>
              <a:rPr lang="en-US" altLang="zh-CN" sz="2800" dirty="0">
                <a:solidFill>
                  <a:schemeClr val="tx1"/>
                </a:solidFill>
              </a:rPr>
              <a:t>cost</a:t>
            </a:r>
            <a:r>
              <a:rPr lang="zh-CN" altLang="en-US" sz="2800" dirty="0">
                <a:solidFill>
                  <a:schemeClr val="tx1"/>
                </a:solidFill>
              </a:rPr>
              <a:t>＝</a:t>
            </a:r>
            <a:r>
              <a:rPr lang="en-US" altLang="zh-CN" sz="2800" dirty="0">
                <a:solidFill>
                  <a:schemeClr val="tx1"/>
                </a:solidFill>
              </a:rPr>
              <a:t>B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4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	</a:t>
            </a:r>
            <a:r>
              <a:rPr lang="zh-CN" altLang="en-US" sz="2800" dirty="0">
                <a:solidFill>
                  <a:schemeClr val="tx1"/>
                </a:solidFill>
              </a:rPr>
              <a:t>如果选择条件是码＝值，则平均代价 </a:t>
            </a:r>
            <a:r>
              <a:rPr lang="en-US" altLang="zh-CN" sz="2800" dirty="0">
                <a:solidFill>
                  <a:schemeClr val="tx1"/>
                </a:solidFill>
              </a:rPr>
              <a:t>cost</a:t>
            </a:r>
            <a:r>
              <a:rPr lang="zh-CN" altLang="en-US" sz="2800" dirty="0">
                <a:solidFill>
                  <a:schemeClr val="tx1"/>
                </a:solidFill>
              </a:rPr>
              <a:t>＝</a:t>
            </a:r>
            <a:r>
              <a:rPr lang="en-US" altLang="zh-CN" sz="2800" dirty="0">
                <a:solidFill>
                  <a:schemeClr val="tx1"/>
                </a:solidFill>
              </a:rPr>
              <a:t>B/2</a:t>
            </a:r>
            <a:endParaRPr lang="en-US" altLang="zh-CN" sz="2800" dirty="0">
              <a:solidFill>
                <a:schemeClr val="tx1"/>
              </a:solidFill>
            </a:endParaRPr>
          </a:p>
        </p:txBody>
      </p:sp>
      <p:sp>
        <p:nvSpPr>
          <p:cNvPr id="75780" name="Rectangle 3"/>
          <p:cNvSpPr>
            <a:spLocks noGrp="1"/>
          </p:cNvSpPr>
          <p:nvPr>
            <p:ph type="title"/>
          </p:nvPr>
        </p:nvSpPr>
        <p:spPr>
          <a:xfrm>
            <a:off x="1228725" y="85725"/>
            <a:ext cx="6262688" cy="5334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9.4.2  </a:t>
            </a:r>
            <a:r>
              <a:rPr lang="zh-CN" altLang="en-US" sz="3200" dirty="0"/>
              <a:t>基于代价的优化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76803" name="Rectangle 2"/>
          <p:cNvSpPr>
            <a:spLocks noGrp="1"/>
          </p:cNvSpPr>
          <p:nvPr>
            <p:ph idx="1"/>
          </p:nvPr>
        </p:nvSpPr>
        <p:spPr>
          <a:xfrm>
            <a:off x="323850" y="908050"/>
            <a:ext cx="8496300" cy="5545138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1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2. </a:t>
            </a:r>
            <a:r>
              <a:rPr lang="zh-CN" altLang="en-US" sz="2800" dirty="0">
                <a:solidFill>
                  <a:schemeClr val="tx1"/>
                </a:solidFill>
              </a:rPr>
              <a:t>索引扫描算法的代价估算公式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10000"/>
              </a:lnSpc>
            </a:pPr>
            <a:r>
              <a:rPr lang="zh-CN" altLang="en-US" dirty="0"/>
              <a:t>如果选择条件是码＝值</a:t>
            </a:r>
            <a:endParaRPr lang="zh-CN" altLang="en-US" dirty="0"/>
          </a:p>
          <a:p>
            <a:pPr lvl="2" eaLnBrk="1" hangingPunct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ea typeface="宋体" panose="02010600030101010101" pitchFamily="2" charset="-122"/>
              </a:rPr>
              <a:t>用该表的主索引</a:t>
            </a:r>
            <a:endParaRPr lang="zh-CN" altLang="en-US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ea typeface="宋体" panose="02010600030101010101" pitchFamily="2" charset="-122"/>
              </a:rPr>
              <a:t>若为</a:t>
            </a:r>
            <a:r>
              <a:rPr lang="en-US" altLang="zh-CN" dirty="0">
                <a:ea typeface="宋体" panose="02010600030101010101" pitchFamily="2" charset="-122"/>
              </a:rPr>
              <a:t>B+</a:t>
            </a:r>
            <a:r>
              <a:rPr lang="zh-CN" altLang="en-US" dirty="0">
                <a:ea typeface="宋体" panose="02010600030101010101" pitchFamily="2" charset="-122"/>
              </a:rPr>
              <a:t>树，层数为</a:t>
            </a:r>
            <a:r>
              <a:rPr lang="en-US" altLang="zh-CN" dirty="0">
                <a:ea typeface="宋体" panose="02010600030101010101" pitchFamily="2" charset="-122"/>
              </a:rPr>
              <a:t>L</a:t>
            </a:r>
            <a:r>
              <a:rPr lang="zh-CN" altLang="en-US" dirty="0">
                <a:ea typeface="宋体" panose="02010600030101010101" pitchFamily="2" charset="-122"/>
              </a:rPr>
              <a:t>，需要存取</a:t>
            </a:r>
            <a:r>
              <a:rPr lang="en-US" altLang="zh-CN" dirty="0">
                <a:ea typeface="宋体" panose="02010600030101010101" pitchFamily="2" charset="-122"/>
              </a:rPr>
              <a:t>B+</a:t>
            </a:r>
            <a:r>
              <a:rPr lang="zh-CN" altLang="en-US" dirty="0">
                <a:ea typeface="宋体" panose="02010600030101010101" pitchFamily="2" charset="-122"/>
              </a:rPr>
              <a:t>树中从根结点到叶结点</a:t>
            </a:r>
            <a:r>
              <a:rPr lang="en-US" altLang="zh-CN" dirty="0">
                <a:ea typeface="宋体" panose="02010600030101010101" pitchFamily="2" charset="-122"/>
              </a:rPr>
              <a:t>L</a:t>
            </a:r>
            <a:r>
              <a:rPr lang="zh-CN" altLang="en-US" dirty="0">
                <a:ea typeface="宋体" panose="02010600030101010101" pitchFamily="2" charset="-122"/>
              </a:rPr>
              <a:t>块，再加上基本表中该元组所在的那一块，所以</a:t>
            </a:r>
            <a:r>
              <a:rPr lang="en-US" altLang="zh-CN" dirty="0">
                <a:ea typeface="宋体" panose="02010600030101010101" pitchFamily="2" charset="-122"/>
              </a:rPr>
              <a:t>cost=L+1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110000"/>
              </a:lnSpc>
            </a:pPr>
            <a:r>
              <a:rPr lang="zh-CN" altLang="en-US" dirty="0"/>
              <a:t>如果选择条件涉及非码属性</a:t>
            </a:r>
            <a:endParaRPr lang="zh-CN" altLang="en-US" dirty="0"/>
          </a:p>
          <a:p>
            <a:pPr lvl="2" eaLnBrk="1" hangingPunct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ea typeface="宋体" panose="02010600030101010101" pitchFamily="2" charset="-122"/>
              </a:rPr>
              <a:t>若为</a:t>
            </a:r>
            <a:r>
              <a:rPr lang="en-US" altLang="zh-CN" dirty="0">
                <a:ea typeface="宋体" panose="02010600030101010101" pitchFamily="2" charset="-122"/>
              </a:rPr>
              <a:t>B+</a:t>
            </a:r>
            <a:r>
              <a:rPr lang="zh-CN" altLang="en-US" dirty="0">
                <a:ea typeface="宋体" panose="02010600030101010101" pitchFamily="2" charset="-122"/>
              </a:rPr>
              <a:t>树索引，选择条件是相等比较，</a:t>
            </a:r>
            <a:r>
              <a:rPr lang="en-US" altLang="zh-CN" dirty="0">
                <a:ea typeface="宋体" panose="02010600030101010101" pitchFamily="2" charset="-122"/>
              </a:rPr>
              <a:t>S</a:t>
            </a:r>
            <a:r>
              <a:rPr lang="zh-CN" altLang="en-US" dirty="0">
                <a:ea typeface="宋体" panose="02010600030101010101" pitchFamily="2" charset="-122"/>
              </a:rPr>
              <a:t>是索引的选择基数</a:t>
            </a:r>
            <a:r>
              <a:rPr lang="en-US" altLang="zh-CN" dirty="0">
                <a:ea typeface="宋体" panose="02010600030101010101" pitchFamily="2" charset="-122"/>
              </a:rPr>
              <a:t>(</a:t>
            </a:r>
            <a:r>
              <a:rPr lang="zh-CN" altLang="en-US" dirty="0">
                <a:ea typeface="宋体" panose="02010600030101010101" pitchFamily="2" charset="-122"/>
              </a:rPr>
              <a:t>有</a:t>
            </a:r>
            <a:r>
              <a:rPr lang="en-US" altLang="zh-CN" dirty="0">
                <a:ea typeface="宋体" panose="02010600030101010101" pitchFamily="2" charset="-122"/>
              </a:rPr>
              <a:t>S</a:t>
            </a:r>
            <a:r>
              <a:rPr lang="zh-CN" altLang="en-US" dirty="0">
                <a:ea typeface="宋体" panose="02010600030101010101" pitchFamily="2" charset="-122"/>
              </a:rPr>
              <a:t>个元组满足条件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ea typeface="宋体" panose="02010600030101010101" pitchFamily="2" charset="-122"/>
              </a:rPr>
              <a:t>最坏的情况下，满足条件的元组可能会保存在不同的块上，此时，</a:t>
            </a:r>
            <a:r>
              <a:rPr lang="en-US" altLang="zh-CN" dirty="0">
                <a:ea typeface="宋体" panose="02010600030101010101" pitchFamily="2" charset="-122"/>
              </a:rPr>
              <a:t>cost=L+S 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6804" name="Rectangle 3"/>
          <p:cNvSpPr>
            <a:spLocks noGrp="1"/>
          </p:cNvSpPr>
          <p:nvPr>
            <p:ph type="title"/>
          </p:nvPr>
        </p:nvSpPr>
        <p:spPr>
          <a:xfrm>
            <a:off x="1228725" y="85725"/>
            <a:ext cx="6262688" cy="5334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9.4.2  </a:t>
            </a:r>
            <a:r>
              <a:rPr lang="zh-CN" altLang="en-US" sz="3200" dirty="0"/>
              <a:t>基于代价的优化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77827" name="Rectangle 2"/>
          <p:cNvSpPr>
            <a:spLocks noGrp="1"/>
          </p:cNvSpPr>
          <p:nvPr>
            <p:ph idx="1"/>
          </p:nvPr>
        </p:nvSpPr>
        <p:spPr>
          <a:xfrm>
            <a:off x="323850" y="908050"/>
            <a:ext cx="8496300" cy="5545138"/>
          </a:xfrm>
          <a:ln/>
        </p:spPr>
        <p:txBody>
          <a:bodyPr vert="horz" wrap="square" lIns="91440" tIns="45720" rIns="91440" bIns="45720" anchor="t" anchorCtr="0"/>
          <a:p>
            <a:pPr lvl="1" eaLnBrk="1" hangingPunct="1">
              <a:lnSpc>
                <a:spcPct val="120000"/>
              </a:lnSpc>
            </a:pPr>
            <a:r>
              <a:rPr lang="zh-CN" altLang="en-US" sz="3200" dirty="0"/>
              <a:t>如果比较条件是＞，＞＝，＜，＜＝操作</a:t>
            </a:r>
            <a:endParaRPr lang="zh-CN" altLang="en-US" sz="3200" dirty="0"/>
          </a:p>
          <a:p>
            <a:pPr lvl="2" eaLnBrk="1" hangingPunct="1">
              <a:lnSpc>
                <a:spcPct val="120000"/>
              </a:lnSpc>
              <a:buSzPct val="75000"/>
              <a:buFont typeface="Wingdings" panose="05000000000000000000" pitchFamily="2" charset="2"/>
              <a:buChar char="§"/>
            </a:pPr>
            <a:r>
              <a:rPr lang="zh-CN" altLang="en-US" sz="3200" dirty="0">
                <a:ea typeface="宋体" panose="02010600030101010101" pitchFamily="2" charset="-122"/>
              </a:rPr>
              <a:t>假设有一半的元组满足条件就要存取一半的叶结点</a:t>
            </a:r>
            <a:endParaRPr lang="zh-CN" altLang="en-US" sz="3200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120000"/>
              </a:lnSpc>
              <a:buSzPct val="75000"/>
              <a:buFont typeface="Wingdings" panose="05000000000000000000" pitchFamily="2" charset="2"/>
              <a:buChar char="§"/>
            </a:pPr>
            <a:r>
              <a:rPr lang="zh-CN" altLang="en-US" sz="3200" dirty="0">
                <a:ea typeface="宋体" panose="02010600030101010101" pitchFamily="2" charset="-122"/>
              </a:rPr>
              <a:t>通过索引访问一半的表存储块</a:t>
            </a:r>
            <a:r>
              <a:rPr lang="en-US" altLang="zh-CN" sz="3200" dirty="0">
                <a:ea typeface="宋体" panose="02010600030101010101" pitchFamily="2" charset="-122"/>
              </a:rPr>
              <a:t>cost=L+Y/2+B/2</a:t>
            </a:r>
            <a:endParaRPr lang="en-US" altLang="zh-CN" sz="3200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120000"/>
              </a:lnSpc>
              <a:buSzPct val="75000"/>
              <a:buFont typeface="Wingdings" panose="05000000000000000000" pitchFamily="2" charset="2"/>
              <a:buChar char="§"/>
            </a:pPr>
            <a:r>
              <a:rPr lang="zh-CN" altLang="en-US" sz="3200" dirty="0">
                <a:ea typeface="宋体" panose="02010600030101010101" pitchFamily="2" charset="-122"/>
              </a:rPr>
              <a:t>如果可以获得更准确的选择基数，可以进一步修正</a:t>
            </a:r>
            <a:r>
              <a:rPr lang="en-US" altLang="zh-CN" sz="3200" dirty="0">
                <a:ea typeface="宋体" panose="02010600030101010101" pitchFamily="2" charset="-122"/>
              </a:rPr>
              <a:t>Y/2</a:t>
            </a:r>
            <a:r>
              <a:rPr lang="zh-CN" altLang="en-US" sz="3200" dirty="0">
                <a:ea typeface="宋体" panose="02010600030101010101" pitchFamily="2" charset="-122"/>
              </a:rPr>
              <a:t>与</a:t>
            </a:r>
            <a:r>
              <a:rPr lang="en-US" altLang="zh-CN" sz="3200" dirty="0">
                <a:ea typeface="宋体" panose="02010600030101010101" pitchFamily="2" charset="-122"/>
              </a:rPr>
              <a:t>B/2</a:t>
            </a:r>
            <a:endParaRPr lang="en-US" altLang="zh-CN" sz="3200" dirty="0">
              <a:ea typeface="宋体" panose="02010600030101010101" pitchFamily="2" charset="-122"/>
            </a:endParaRPr>
          </a:p>
        </p:txBody>
      </p:sp>
      <p:sp>
        <p:nvSpPr>
          <p:cNvPr id="77828" name="Rectangle 3"/>
          <p:cNvSpPr>
            <a:spLocks noGrp="1"/>
          </p:cNvSpPr>
          <p:nvPr>
            <p:ph type="title"/>
          </p:nvPr>
        </p:nvSpPr>
        <p:spPr>
          <a:xfrm>
            <a:off x="1228725" y="85725"/>
            <a:ext cx="6262688" cy="5334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9.4.2  </a:t>
            </a:r>
            <a:r>
              <a:rPr lang="zh-CN" altLang="en-US" sz="3200" dirty="0"/>
              <a:t>基于代价的优化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5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78851" name="Rectangle 2"/>
          <p:cNvSpPr>
            <a:spLocks noGrp="1"/>
          </p:cNvSpPr>
          <p:nvPr>
            <p:ph idx="1"/>
          </p:nvPr>
        </p:nvSpPr>
        <p:spPr>
          <a:xfrm>
            <a:off x="323850" y="908050"/>
            <a:ext cx="8496300" cy="5545138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3. </a:t>
            </a:r>
            <a:r>
              <a:rPr lang="zh-CN" altLang="en-US" sz="2800" dirty="0">
                <a:solidFill>
                  <a:schemeClr val="tx1"/>
                </a:solidFill>
              </a:rPr>
              <a:t>嵌套循环连接算法的代价估算公式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zh-CN" dirty="0"/>
              <a:t>9.4.1</a:t>
            </a:r>
            <a:r>
              <a:rPr lang="zh-CN" altLang="en-US" dirty="0"/>
              <a:t>中已经讨论过了嵌套循环连接算法的代价</a:t>
            </a:r>
            <a:br>
              <a:rPr lang="zh-CN" altLang="en-US" dirty="0"/>
            </a:br>
            <a:r>
              <a:rPr lang="en-US" altLang="zh-CN" dirty="0"/>
              <a:t>cost</a:t>
            </a:r>
            <a:r>
              <a:rPr lang="zh-CN" altLang="en-US" dirty="0"/>
              <a:t>＝</a:t>
            </a:r>
            <a:r>
              <a:rPr lang="en-US" altLang="zh-CN" dirty="0"/>
              <a:t>Br+Bs/(K-1) Br </a:t>
            </a:r>
            <a:endParaRPr lang="en-US" altLang="zh-CN" dirty="0"/>
          </a:p>
          <a:p>
            <a:pPr lvl="2" eaLnBrk="1" hangingPunct="1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ea typeface="宋体" panose="02010600030101010101" pitchFamily="2" charset="-122"/>
              </a:rPr>
              <a:t>如果需要把连接结果写回磁盘，</a:t>
            </a:r>
            <a:endParaRPr lang="zh-CN" altLang="en-US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ea typeface="宋体" panose="02010600030101010101" pitchFamily="2" charset="-122"/>
              </a:rPr>
              <a:t>   </a:t>
            </a:r>
            <a:r>
              <a:rPr lang="en-US" altLang="zh-CN" dirty="0">
                <a:ea typeface="宋体" panose="02010600030101010101" pitchFamily="2" charset="-122"/>
              </a:rPr>
              <a:t>cost</a:t>
            </a:r>
            <a:r>
              <a:rPr lang="zh-CN" altLang="en-US" dirty="0">
                <a:ea typeface="宋体" panose="02010600030101010101" pitchFamily="2" charset="-122"/>
              </a:rPr>
              <a:t>＝</a:t>
            </a:r>
            <a:r>
              <a:rPr lang="en-US" altLang="zh-CN" dirty="0">
                <a:ea typeface="宋体" panose="02010600030101010101" pitchFamily="2" charset="-122"/>
              </a:rPr>
              <a:t>Br+Bs/(K-1) Br +(Frs*Nr*Ns)/Mrs</a:t>
            </a:r>
            <a:endParaRPr lang="en-US" altLang="zh-CN" dirty="0">
              <a:ea typeface="宋体" panose="02010600030101010101" pitchFamily="2" charset="-122"/>
            </a:endParaRPr>
          </a:p>
          <a:p>
            <a:pPr lvl="3" eaLnBrk="1" hangingPunct="1">
              <a:lnSpc>
                <a:spcPct val="130000"/>
              </a:lnSpc>
              <a:buSzTx/>
              <a:buFont typeface="Wingdings" panose="05000000000000000000" pitchFamily="2" charset="2"/>
              <a:buChar char="§"/>
            </a:pPr>
            <a:r>
              <a:rPr lang="zh-CN" altLang="en-US" dirty="0"/>
              <a:t>其中</a:t>
            </a:r>
            <a:r>
              <a:rPr lang="en-US" altLang="zh-CN" dirty="0"/>
              <a:t>Frs</a:t>
            </a:r>
            <a:r>
              <a:rPr lang="zh-CN" altLang="en-US" dirty="0"/>
              <a:t>为连接选择性</a:t>
            </a:r>
            <a:r>
              <a:rPr lang="en-US" altLang="zh-CN" dirty="0"/>
              <a:t>(join selectivity)</a:t>
            </a:r>
            <a:r>
              <a:rPr lang="zh-CN" altLang="en-US" dirty="0"/>
              <a:t>，表示连接结果元组数的比例</a:t>
            </a:r>
            <a:endParaRPr lang="zh-CN" altLang="en-US" dirty="0"/>
          </a:p>
          <a:p>
            <a:pPr lvl="3" eaLnBrk="1" hangingPunct="1">
              <a:lnSpc>
                <a:spcPct val="130000"/>
              </a:lnSpc>
              <a:buSzTx/>
              <a:buFont typeface="Wingdings" panose="05000000000000000000" pitchFamily="2" charset="2"/>
              <a:buChar char="§"/>
            </a:pPr>
            <a:r>
              <a:rPr lang="en-US" altLang="zh-CN" dirty="0"/>
              <a:t>Mrs</a:t>
            </a:r>
            <a:r>
              <a:rPr lang="zh-CN" altLang="en-US" dirty="0"/>
              <a:t>是存放连接结果的块因子，表示每块中可以存放的结果元组数目。</a:t>
            </a:r>
            <a:endParaRPr lang="zh-CN" altLang="en-US" dirty="0"/>
          </a:p>
        </p:txBody>
      </p:sp>
      <p:sp>
        <p:nvSpPr>
          <p:cNvPr id="78852" name="Rectangle 3"/>
          <p:cNvSpPr>
            <a:spLocks noGrp="1"/>
          </p:cNvSpPr>
          <p:nvPr>
            <p:ph type="title"/>
          </p:nvPr>
        </p:nvSpPr>
        <p:spPr>
          <a:xfrm>
            <a:off x="1228725" y="85725"/>
            <a:ext cx="6262688" cy="5334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9.4.2  </a:t>
            </a:r>
            <a:r>
              <a:rPr lang="zh-CN" altLang="en-US" sz="3200" dirty="0"/>
              <a:t>基于代价的优化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79875" name="Rectangle 2"/>
          <p:cNvSpPr>
            <a:spLocks noGrp="1"/>
          </p:cNvSpPr>
          <p:nvPr>
            <p:ph idx="1"/>
          </p:nvPr>
        </p:nvSpPr>
        <p:spPr>
          <a:xfrm>
            <a:off x="323850" y="908050"/>
            <a:ext cx="8496300" cy="5545138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4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4. </a:t>
            </a:r>
            <a:r>
              <a:rPr lang="zh-CN" altLang="en-US" sz="2800" dirty="0">
                <a:solidFill>
                  <a:schemeClr val="tx1"/>
                </a:solidFill>
              </a:rPr>
              <a:t>排序</a:t>
            </a:r>
            <a:r>
              <a:rPr lang="en-US" altLang="zh-CN" sz="2800" dirty="0">
                <a:solidFill>
                  <a:schemeClr val="tx1"/>
                </a:solidFill>
              </a:rPr>
              <a:t>-</a:t>
            </a:r>
            <a:r>
              <a:rPr lang="zh-CN" altLang="en-US" sz="2800" dirty="0">
                <a:solidFill>
                  <a:schemeClr val="tx1"/>
                </a:solidFill>
              </a:rPr>
              <a:t>合并连接算法的代价估算公式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40000"/>
              </a:lnSpc>
            </a:pPr>
            <a:r>
              <a:rPr lang="zh-CN" altLang="en-US" dirty="0"/>
              <a:t>如果连接表已经按照连接属性排好序，则</a:t>
            </a:r>
            <a:br>
              <a:rPr lang="zh-CN" altLang="en-US" dirty="0"/>
            </a:br>
            <a:r>
              <a:rPr lang="en-US" altLang="zh-CN" dirty="0"/>
              <a:t>cost</a:t>
            </a:r>
            <a:r>
              <a:rPr lang="zh-CN" altLang="en-US" dirty="0"/>
              <a:t>＝</a:t>
            </a:r>
            <a:r>
              <a:rPr lang="en-US" altLang="zh-CN" dirty="0"/>
              <a:t>Br+Bs+(Frs*Nr*Ns)/Mrs</a:t>
            </a:r>
            <a:r>
              <a:rPr lang="zh-CN" altLang="en-US" dirty="0"/>
              <a:t>。</a:t>
            </a:r>
            <a:endParaRPr lang="zh-CN" altLang="en-US" dirty="0"/>
          </a:p>
          <a:p>
            <a:pPr lvl="1" eaLnBrk="1" hangingPunct="1">
              <a:lnSpc>
                <a:spcPct val="140000"/>
              </a:lnSpc>
            </a:pPr>
            <a:r>
              <a:rPr lang="zh-CN" altLang="en-US" dirty="0"/>
              <a:t>如果必须对文件排序</a:t>
            </a:r>
            <a:endParaRPr lang="zh-CN" altLang="en-US" dirty="0"/>
          </a:p>
          <a:p>
            <a:pPr lvl="2" eaLnBrk="1" hangingPunct="1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ea typeface="宋体" panose="02010600030101010101" pitchFamily="2" charset="-122"/>
              </a:rPr>
              <a:t>需要在代价函数中加上排序的代价</a:t>
            </a:r>
            <a:endParaRPr lang="zh-CN" altLang="en-US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ea typeface="宋体" panose="02010600030101010101" pitchFamily="2" charset="-122"/>
              </a:rPr>
              <a:t>对于包含</a:t>
            </a:r>
            <a:r>
              <a:rPr lang="en-US" altLang="zh-CN" dirty="0">
                <a:ea typeface="宋体" panose="02010600030101010101" pitchFamily="2" charset="-122"/>
              </a:rPr>
              <a:t>B</a:t>
            </a:r>
            <a:r>
              <a:rPr lang="zh-CN" altLang="en-US" dirty="0">
                <a:ea typeface="宋体" panose="02010600030101010101" pitchFamily="2" charset="-122"/>
              </a:rPr>
              <a:t>个块的文件排序的代价大约是</a:t>
            </a:r>
            <a:r>
              <a:rPr lang="en-US" altLang="zh-CN" dirty="0">
                <a:ea typeface="宋体" panose="02010600030101010101" pitchFamily="2" charset="-122"/>
              </a:rPr>
              <a:t>(2*B)+(2*B*log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B)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9876" name="Rectangle 3"/>
          <p:cNvSpPr>
            <a:spLocks noGrp="1"/>
          </p:cNvSpPr>
          <p:nvPr>
            <p:ph type="title"/>
          </p:nvPr>
        </p:nvSpPr>
        <p:spPr>
          <a:xfrm>
            <a:off x="1228725" y="85725"/>
            <a:ext cx="6262688" cy="5334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/>
              <a:t>9.4.2  </a:t>
            </a:r>
            <a:r>
              <a:rPr lang="zh-CN" altLang="en-US" sz="3200" dirty="0"/>
              <a:t>基于代价的优化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80899" name="Rectangle 2"/>
          <p:cNvSpPr/>
          <p:nvPr/>
        </p:nvSpPr>
        <p:spPr>
          <a:xfrm>
            <a:off x="523875" y="4540250"/>
            <a:ext cx="7747000" cy="609600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80900" name="Rectangle 3"/>
          <p:cNvSpPr>
            <a:spLocks noGrp="1"/>
          </p:cNvSpPr>
          <p:nvPr>
            <p:ph idx="1"/>
          </p:nvPr>
        </p:nvSpPr>
        <p:spPr>
          <a:xfrm>
            <a:off x="900113" y="1773238"/>
            <a:ext cx="7327900" cy="3455987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9.1 </a:t>
            </a:r>
            <a:r>
              <a:rPr lang="zh-CN" altLang="en-US" dirty="0">
                <a:solidFill>
                  <a:schemeClr val="tx1"/>
                </a:solidFill>
              </a:rPr>
              <a:t>关系数据库系统的查询处理 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9.2 </a:t>
            </a:r>
            <a:r>
              <a:rPr lang="zh-CN" altLang="en-US" dirty="0">
                <a:solidFill>
                  <a:schemeClr val="tx1"/>
                </a:solidFill>
              </a:rPr>
              <a:t>关系数据库系统的查询优化 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9.3 </a:t>
            </a:r>
            <a:r>
              <a:rPr lang="zh-CN" altLang="en-US" dirty="0">
                <a:solidFill>
                  <a:schemeClr val="tx1"/>
                </a:solidFill>
              </a:rPr>
              <a:t>代数优化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9.4 </a:t>
            </a:r>
            <a:r>
              <a:rPr lang="zh-CN" altLang="en-US" dirty="0">
                <a:solidFill>
                  <a:schemeClr val="tx1"/>
                </a:solidFill>
              </a:rPr>
              <a:t>物理优化 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bg1"/>
                </a:solidFill>
              </a:rPr>
              <a:t>9.5 </a:t>
            </a:r>
            <a:r>
              <a:rPr lang="zh-CN" altLang="en-US" dirty="0">
                <a:solidFill>
                  <a:schemeClr val="bg1"/>
                </a:solidFill>
              </a:rPr>
              <a:t>小 结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0901" name="Rectangle 4"/>
          <p:cNvSpPr>
            <a:spLocks noGrp="1"/>
          </p:cNvSpPr>
          <p:nvPr>
            <p:ph type="title"/>
          </p:nvPr>
        </p:nvSpPr>
        <p:spPr>
          <a:xfrm>
            <a:off x="914400" y="546100"/>
            <a:ext cx="7978775" cy="11430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第</a:t>
            </a:r>
            <a:r>
              <a:rPr lang="en-US" altLang="zh-CN" dirty="0"/>
              <a:t>9</a:t>
            </a:r>
            <a:r>
              <a:rPr lang="zh-CN" altLang="en-US" dirty="0"/>
              <a:t>章 关系查询处理和查询优化</a:t>
            </a:r>
            <a:endParaRPr lang="zh-CN" altLang="en-US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81923" name="Rectangle 2"/>
          <p:cNvSpPr>
            <a:spLocks noGrp="1"/>
          </p:cNvSpPr>
          <p:nvPr>
            <p:ph idx="1"/>
          </p:nvPr>
        </p:nvSpPr>
        <p:spPr>
          <a:xfrm>
            <a:off x="304800" y="838200"/>
            <a:ext cx="8686800" cy="55626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</a:rPr>
              <a:t>查询是</a:t>
            </a:r>
            <a:r>
              <a:rPr lang="en-US" altLang="zh-CN" dirty="0">
                <a:solidFill>
                  <a:schemeClr val="tx1"/>
                </a:solidFill>
              </a:rPr>
              <a:t>RDBMS</a:t>
            </a:r>
            <a:r>
              <a:rPr lang="zh-CN" altLang="en-US" dirty="0">
                <a:solidFill>
                  <a:schemeClr val="tx1"/>
                </a:solidFill>
              </a:rPr>
              <a:t>的核心，优化是查询的关键技术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</a:rPr>
              <a:t>本章讲解的优化方法</a:t>
            </a:r>
            <a:r>
              <a:rPr lang="zh-CN" altLang="en-US" dirty="0"/>
              <a:t> 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启发式代数优化</a:t>
            </a:r>
            <a:r>
              <a:rPr lang="en-US" altLang="zh-CN" dirty="0"/>
              <a:t>(</a:t>
            </a:r>
            <a:r>
              <a:rPr lang="zh-CN" altLang="en-US" dirty="0"/>
              <a:t>等价变换规则</a:t>
            </a:r>
            <a:r>
              <a:rPr lang="en-US" altLang="zh-CN" dirty="0"/>
              <a:t>)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基于规则的存取路径优化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基于代价的优化</a:t>
            </a:r>
            <a:endParaRPr lang="zh-CN" altLang="en-US" dirty="0"/>
          </a:p>
        </p:txBody>
      </p:sp>
      <p:sp>
        <p:nvSpPr>
          <p:cNvPr id="81924" name="Rectangle 3"/>
          <p:cNvSpPr>
            <a:spLocks noGrp="1"/>
          </p:cNvSpPr>
          <p:nvPr>
            <p:ph type="title"/>
          </p:nvPr>
        </p:nvSpPr>
        <p:spPr>
          <a:xfrm>
            <a:off x="1619250" y="115888"/>
            <a:ext cx="4443413" cy="5334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9.5  </a:t>
            </a:r>
            <a:r>
              <a:rPr lang="zh-CN" altLang="en-US" dirty="0"/>
              <a:t>小结</a:t>
            </a:r>
            <a:endParaRPr lang="zh-CN" altLang="en-US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6" name="页脚占位符 2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82947" name="Rectangle 2"/>
          <p:cNvSpPr/>
          <p:nvPr/>
        </p:nvSpPr>
        <p:spPr>
          <a:xfrm>
            <a:off x="1295400" y="76200"/>
            <a:ext cx="6781800" cy="609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4400" b="0" dirty="0">
                <a:solidFill>
                  <a:schemeClr val="accent2"/>
                </a:solidFill>
                <a:ea typeface="经典细隶书简" pitchFamily="49" charset="-122"/>
              </a:rPr>
              <a:t>第</a:t>
            </a:r>
            <a:r>
              <a:rPr lang="en-US" altLang="zh-CN" sz="4400" b="0" dirty="0">
                <a:solidFill>
                  <a:schemeClr val="accent2"/>
                </a:solidFill>
                <a:ea typeface="经典细隶书简" pitchFamily="49" charset="-122"/>
              </a:rPr>
              <a:t>10</a:t>
            </a:r>
            <a:r>
              <a:rPr lang="zh-CN" altLang="en-US" sz="4400" b="0" dirty="0">
                <a:solidFill>
                  <a:schemeClr val="accent2"/>
                </a:solidFill>
                <a:ea typeface="经典细隶书简" pitchFamily="49" charset="-122"/>
              </a:rPr>
              <a:t>章书面作业</a:t>
            </a:r>
            <a:endParaRPr lang="zh-CN" altLang="en-US" sz="4400" b="0" dirty="0">
              <a:solidFill>
                <a:schemeClr val="accent2"/>
              </a:solidFill>
              <a:ea typeface="经典细隶书简" pitchFamily="49" charset="-122"/>
            </a:endParaRPr>
          </a:p>
        </p:txBody>
      </p:sp>
      <p:sp>
        <p:nvSpPr>
          <p:cNvPr id="82948" name="Rectangle 3"/>
          <p:cNvSpPr/>
          <p:nvPr/>
        </p:nvSpPr>
        <p:spPr>
          <a:xfrm>
            <a:off x="533400" y="1066800"/>
            <a:ext cx="8229600" cy="4343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342900" lvl="0" indent="-342900" eaLnBrk="1" hangingPunct="1">
              <a:buNone/>
            </a:pPr>
            <a:r>
              <a:rPr lang="en-US" altLang="zh-CN" sz="4800" b="0" dirty="0">
                <a:solidFill>
                  <a:schemeClr val="tx1"/>
                </a:solidFill>
                <a:ea typeface="仿宋_GB2312" pitchFamily="49" charset="-122"/>
              </a:rPr>
              <a:t>P316</a:t>
            </a:r>
            <a:r>
              <a:rPr lang="zh-CN" altLang="en-US" sz="4800" b="0" dirty="0">
                <a:solidFill>
                  <a:schemeClr val="tx1"/>
                </a:solidFill>
                <a:ea typeface="黑体" panose="02010609060101010101" pitchFamily="49" charset="-122"/>
              </a:rPr>
              <a:t>习题</a:t>
            </a:r>
            <a:endParaRPr lang="zh-CN" altLang="en-US" sz="4800" b="0" dirty="0">
              <a:solidFill>
                <a:schemeClr val="tx1"/>
              </a:solidFill>
              <a:ea typeface="黑体" panose="02010609060101010101" pitchFamily="49" charset="-122"/>
            </a:endParaRPr>
          </a:p>
          <a:p>
            <a:pPr marL="342900" lvl="0" indent="-342900" eaLnBrk="1" hangingPunct="1"/>
            <a:r>
              <a:rPr lang="en-US" altLang="zh-CN" sz="4800" b="0" dirty="0">
                <a:solidFill>
                  <a:schemeClr val="tx1"/>
                </a:solidFill>
                <a:ea typeface="仿宋_GB2312" pitchFamily="49" charset="-122"/>
              </a:rPr>
              <a:t>2 5</a:t>
            </a:r>
            <a:endParaRPr lang="en-US" altLang="zh-CN" sz="4000" b="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70" name="页脚占位符 2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83971" name="Text Box 2"/>
          <p:cNvSpPr txBox="1"/>
          <p:nvPr/>
        </p:nvSpPr>
        <p:spPr>
          <a:xfrm>
            <a:off x="3124200" y="2057400"/>
            <a:ext cx="2632075" cy="155575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zh-CN" altLang="en-US" sz="9600" b="0" dirty="0">
                <a:solidFill>
                  <a:schemeClr val="accent2"/>
                </a:solidFill>
              </a:rPr>
              <a:t>再见</a:t>
            </a:r>
            <a:endParaRPr lang="zh-CN" altLang="en-US" sz="9600" b="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麒麟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33CC"/>
      </a:hlink>
      <a:folHlink>
        <a:srgbClr val="B2B2B2"/>
      </a:folHlink>
    </a:clrScheme>
    <a:fontScheme name="麒麟">
      <a:majorFont>
        <a:latin typeface="Times New Roman"/>
        <a:ea typeface="经典细隶书简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6600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6600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麒麟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麒麟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麒麟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麒麟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麒麟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麒麟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麒麟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kylin</Template>
  <TotalTime>0</TotalTime>
  <Words>12648</Words>
  <Application>WPS Presentation</Application>
  <PresentationFormat>全屏显示(4:3)</PresentationFormat>
  <Paragraphs>1068</Paragraphs>
  <Slides>80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80</vt:i4>
      </vt:variant>
    </vt:vector>
  </HeadingPairs>
  <TitlesOfParts>
    <vt:vector size="102" baseType="lpstr">
      <vt:lpstr>Arial</vt:lpstr>
      <vt:lpstr>SimSun</vt:lpstr>
      <vt:lpstr>Wingdings</vt:lpstr>
      <vt:lpstr>Times New Roman</vt:lpstr>
      <vt:lpstr>宋体</vt:lpstr>
      <vt:lpstr>经典细隶书简</vt:lpstr>
      <vt:lpstr>隶书</vt:lpstr>
      <vt:lpstr>楷体_GB2312</vt:lpstr>
      <vt:lpstr>新宋体</vt:lpstr>
      <vt:lpstr>仿宋_GB2312</vt:lpstr>
      <vt:lpstr>仿宋</vt:lpstr>
      <vt:lpstr>Calibri</vt:lpstr>
      <vt:lpstr>Symbol</vt:lpstr>
      <vt:lpstr>经典综艺体简</vt:lpstr>
      <vt:lpstr>DengXian</vt:lpstr>
      <vt:lpstr>MT Extra</vt:lpstr>
      <vt:lpstr>Courier New</vt:lpstr>
      <vt:lpstr>黑体</vt:lpstr>
      <vt:lpstr>微软雅黑</vt:lpstr>
      <vt:lpstr>Arial Unicode MS</vt:lpstr>
      <vt:lpstr>Bookman Old Style</vt:lpstr>
      <vt:lpstr>麒麟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第4章 关系系统及其查询优化</dc:title>
  <dc:creator>微软用户</dc:creator>
  <cp:lastModifiedBy>nakanosan</cp:lastModifiedBy>
  <cp:revision>131</cp:revision>
  <dcterms:created xsi:type="dcterms:W3CDTF">2026-06-17T19:29:26Z</dcterms:created>
  <dcterms:modified xsi:type="dcterms:W3CDTF">2026-06-17T19:29:26Z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1033-12.1.2.26885</vt:lpwstr>
  </property>
  <property fmtid="{D5CDD505-2E9C-101B-9397-08002B2CF9AE}" pid="3" name="ICV">
    <vt:lpwstr>2F98EFE6DB2AC41096F5326A15857D2C_43</vt:lpwstr>
  </property>
</Properties>
</file>