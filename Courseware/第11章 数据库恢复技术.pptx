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61" r:id="rId6"/>
    <p:sldId id="262" r:id="rId7"/>
    <p:sldId id="263" r:id="rId8"/>
    <p:sldId id="264" r:id="rId9"/>
    <p:sldId id="265" r:id="rId10"/>
    <p:sldId id="266" r:id="rId11"/>
    <p:sldId id="267" r:id="rId12"/>
    <p:sldId id="268" r:id="rId13"/>
    <p:sldId id="269" r:id="rId14"/>
    <p:sldId id="346" r:id="rId15"/>
    <p:sldId id="270" r:id="rId16"/>
    <p:sldId id="337" r:id="rId17"/>
    <p:sldId id="272" r:id="rId18"/>
    <p:sldId id="273" r:id="rId19"/>
    <p:sldId id="274" r:id="rId20"/>
    <p:sldId id="338" r:id="rId21"/>
    <p:sldId id="276" r:id="rId22"/>
    <p:sldId id="277" r:id="rId23"/>
    <p:sldId id="345" r:id="rId24"/>
    <p:sldId id="278" r:id="rId25"/>
    <p:sldId id="279" r:id="rId26"/>
    <p:sldId id="343" r:id="rId27"/>
    <p:sldId id="344" r:id="rId28"/>
    <p:sldId id="280" r:id="rId29"/>
    <p:sldId id="281" r:id="rId30"/>
    <p:sldId id="342" r:id="rId31"/>
    <p:sldId id="282" r:id="rId32"/>
    <p:sldId id="283" r:id="rId33"/>
    <p:sldId id="341" r:id="rId34"/>
    <p:sldId id="339" r:id="rId35"/>
    <p:sldId id="340"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0"/>
    <p:restoredTop sz="86412"/>
  </p:normalViewPr>
  <p:slideViewPr>
    <p:cSldViewPr showGuides="1">
      <p:cViewPr varScale="1">
        <p:scale>
          <a:sx n="72" d="100"/>
          <a:sy n="72" d="100"/>
        </p:scale>
        <p:origin x="432"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6.xml"/><Relationship Id="rId89" Type="http://schemas.openxmlformats.org/officeDocument/2006/relationships/presProps" Target="presProps.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8B1BBA49-3969-423A-89D7-5EED94FB3A00}" type="datetimeFigureOut">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7C0D3ECB-FCBC-48DA-AB13-8EE26ACC3DB9}" type="slidenum">
              <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zh-CN" altLang="en-US" sz="1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幻灯片图像占位符 1"/>
          <p:cNvSpPr>
            <a:spLocks noGrp="1" noRot="1" noChangeAspect="1" noTextEdit="1"/>
          </p:cNvSpPr>
          <p:nvPr>
            <p:ph type="sldImg"/>
          </p:nvPr>
        </p:nvSpPr>
        <p:spPr>
          <a:ln>
            <a:solidFill>
              <a:srgbClr val="000000">
                <a:alpha val="100000"/>
              </a:srgbClr>
            </a:solidFill>
            <a:miter lim="800000"/>
          </a:ln>
        </p:spPr>
      </p:sp>
      <p:sp>
        <p:nvSpPr>
          <p:cNvPr id="4099"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41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6858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48200" y="14478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3300"/>
              </a:buClr>
              <a:buSzTx/>
              <a:buFont typeface="Wingdings" panose="05000000000000000000" pitchFamily="2" charset="2"/>
              <a:buNone/>
              <a:defRPr/>
            </a:pPr>
            <a:endParaRPr kumimoji="1" lang="en-US" sz="3200" b="1" i="0" u="none" strike="noStrike" kern="0" cap="none" spc="0" normalizeH="0" baseline="0" noProof="0" smtClean="0">
              <a:ln>
                <a:noFill/>
              </a:ln>
              <a:solidFill>
                <a:srgbClr val="FF33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152400"/>
            <a:ext cx="1943100" cy="6019800"/>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685800" y="152400"/>
            <a:ext cx="5676900"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Rectangle 2"/>
          <p:cNvSpPr>
            <a:spLocks noGrp="1"/>
          </p:cNvSpPr>
          <p:nvPr>
            <p:ph type="title"/>
          </p:nvPr>
        </p:nvSpPr>
        <p:spPr>
          <a:xfrm>
            <a:off x="685800" y="152400"/>
            <a:ext cx="7772400" cy="1143000"/>
          </a:xfrm>
          <a:prstGeom prst="rect">
            <a:avLst/>
          </a:prstGeom>
          <a:noFill/>
          <a:ln w="9525">
            <a:noFill/>
          </a:ln>
        </p:spPr>
        <p:txBody>
          <a:bodyPr anchor="ctr" anchorCtr="0"/>
          <a:p>
            <a:pPr lvl="0"/>
            <a:r>
              <a:rPr lang="zh-CN" altLang="en-US" dirty="0"/>
              <a:t>标题</a:t>
            </a:r>
            <a:endParaRPr lang="zh-CN" altLang="en-US" dirty="0"/>
          </a:p>
        </p:txBody>
      </p:sp>
      <p:sp>
        <p:nvSpPr>
          <p:cNvPr id="1027" name="Rectangle 3"/>
          <p:cNvSpPr>
            <a:spLocks noGrp="1"/>
          </p:cNvSpPr>
          <p:nvPr>
            <p:ph type="body" idx="1"/>
          </p:nvPr>
        </p:nvSpPr>
        <p:spPr>
          <a:xfrm>
            <a:off x="685800" y="1447800"/>
            <a:ext cx="7772400" cy="47244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0"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1" name="Rectangle 5"/>
          <p:cNvSpPr>
            <a:spLocks noGrp="1" noChangeArrowheads="1"/>
          </p:cNvSpPr>
          <p:nvPr>
            <p:ph type="ftr" sz="quarter" idx="3"/>
          </p:nvPr>
        </p:nvSpPr>
        <p:spPr bwMode="auto">
          <a:xfrm>
            <a:off x="2400300" y="6540500"/>
            <a:ext cx="36830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b="0">
                <a:solidFill>
                  <a:srgbClr val="6600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rPr>
              <a:t>An Introduction to Database System</a:t>
            </a:r>
            <a:endParaRPr kumimoji="1" lang="en-US" altLang="zh-CN" sz="1400" b="0" i="0" u="none" strike="noStrike" kern="1200" cap="none" spc="0" normalizeH="0" baseline="0" noProof="0">
              <a:ln>
                <a:noFill/>
              </a:ln>
              <a:solidFill>
                <a:srgbClr val="6600FF"/>
              </a:solidFill>
              <a:effectLst/>
              <a:uLnTx/>
              <a:uFillTx/>
              <a:latin typeface="Times New Roman" panose="02020603050405020304" pitchFamily="18" charset="0"/>
              <a:ea typeface="宋体" panose="02010600030101010101" pitchFamily="2" charset="-122"/>
              <a:cs typeface="+mn-cs"/>
            </a:endParaRPr>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b="0"/>
            </a:lvl1pPr>
          </a:lstStyle>
          <a:p>
            <a:pPr marL="0" marR="0" lvl="0" indent="0" algn="r" defTabSz="914400" rtl="0" eaLnBrk="1" fontAlgn="base" latinLnBrk="0" hangingPunct="1">
              <a:lnSpc>
                <a:spcPct val="100000"/>
              </a:lnSpc>
              <a:spcBef>
                <a:spcPct val="0"/>
              </a:spcBef>
              <a:spcAft>
                <a:spcPct val="0"/>
              </a:spcAft>
              <a:buClrTx/>
              <a:buSzTx/>
              <a:buFontTx/>
              <a:buNone/>
              <a:defRPr/>
            </a:pPr>
            <a:fld id="{B10B5539-F424-411E-83E9-38AA51BC250A}" type="slidenum">
              <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2" name="Text Box 8"/>
          <p:cNvSpPr txBox="1">
            <a:spLocks noChangeArrowheads="1"/>
          </p:cNvSpPr>
          <p:nvPr/>
        </p:nvSpPr>
        <p:spPr bwMode="auto">
          <a:xfrm>
            <a:off x="57150" y="6521450"/>
            <a:ext cx="1114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14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1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fld id="{DCD0F617-D8F6-4C3D-980F-0282541F5DA0}" type="slidenum">
              <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6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 name="Picture 9" descr="华工校徽"/>
          <p:cNvPicPr>
            <a:picLocks noChangeAspect="1"/>
          </p:cNvPicPr>
          <p:nvPr/>
        </p:nvPicPr>
        <p:blipFill>
          <a:blip r:embed="rId13"/>
          <a:stretch>
            <a:fillRect/>
          </a:stretch>
        </p:blipFill>
        <p:spPr>
          <a:xfrm>
            <a:off x="63500" y="63500"/>
            <a:ext cx="990600" cy="750888"/>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kumimoji="1" sz="4400" b="1">
          <a:solidFill>
            <a:schemeClr val="accent2"/>
          </a:solidFill>
          <a:latin typeface="+mj-lt"/>
          <a:ea typeface="+mj-ea"/>
          <a:cs typeface="+mj-cs"/>
        </a:defRPr>
      </a:lvl1pPr>
      <a:lvl2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2pPr>
      <a:lvl3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3pPr>
      <a:lvl4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4pPr>
      <a:lvl5pPr algn="ctr" rtl="0" eaLnBrk="0" fontAlgn="base" hangingPunct="0">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5pPr>
      <a:lvl6pPr marL="4572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6pPr>
      <a:lvl7pPr marL="9144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7pPr>
      <a:lvl8pPr marL="13716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8pPr>
      <a:lvl9pPr marL="1828800" algn="ctr" rtl="0" fontAlgn="base">
        <a:spcBef>
          <a:spcPct val="0"/>
        </a:spcBef>
        <a:spcAft>
          <a:spcPct val="0"/>
        </a:spcAft>
        <a:defRPr kumimoji="1" sz="4400" b="1">
          <a:solidFill>
            <a:schemeClr val="accent2"/>
          </a:solidFill>
          <a:latin typeface="Times New Roman" panose="02020603050405020304" pitchFamily="18" charset="0"/>
          <a:ea typeface="经典细隶书简" pitchFamily="49" charset="-122"/>
        </a:defRPr>
      </a:lvl9pPr>
    </p:titleStyle>
    <p:body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5" name="Rectangle 2"/>
          <p:cNvSpPr/>
          <p:nvPr/>
        </p:nvSpPr>
        <p:spPr>
          <a:xfrm>
            <a:off x="609600" y="12065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3076"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bg1"/>
                </a:solidFill>
              </a:rPr>
              <a:t>11.1  </a:t>
            </a:r>
            <a:r>
              <a:rPr lang="zh-CN" altLang="en-US" dirty="0">
                <a:solidFill>
                  <a:schemeClr val="bg1"/>
                </a:solidFill>
              </a:rPr>
              <a:t>事务的基本概念</a:t>
            </a:r>
            <a:endParaRPr lang="zh-CN" altLang="en-US" dirty="0">
              <a:solidFill>
                <a:schemeClr val="bg1"/>
              </a:solidFill>
            </a:endParaRPr>
          </a:p>
          <a:p>
            <a:pPr eaLnBrk="1" hangingPunct="1">
              <a:buNone/>
            </a:pPr>
            <a:r>
              <a:rPr lang="en-US" altLang="zh-CN" dirty="0">
                <a:solidFill>
                  <a:schemeClr val="tx1"/>
                </a:solidFill>
              </a:rPr>
              <a:t>11.2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11.3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11.4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11.5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11.6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11.7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11.8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11.9  </a:t>
            </a:r>
            <a:r>
              <a:rPr lang="zh-CN" altLang="en-US" dirty="0">
                <a:solidFill>
                  <a:schemeClr val="tx1"/>
                </a:solidFill>
              </a:rPr>
              <a:t>小结</a:t>
            </a:r>
            <a:endParaRPr lang="zh-CN" altLang="en-US" dirty="0">
              <a:solidFill>
                <a:schemeClr val="tx1"/>
              </a:solidFill>
            </a:endParaRPr>
          </a:p>
        </p:txBody>
      </p:sp>
      <p:sp>
        <p:nvSpPr>
          <p:cNvPr id="3077"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11</a:t>
            </a:r>
            <a:r>
              <a:rPr lang="zh-CN" altLang="en-US" dirty="0"/>
              <a:t>章 数据库恢复技术</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3" name="Rectangle 2"/>
          <p:cNvSpPr>
            <a:spLocks noGrp="1"/>
          </p:cNvSpPr>
          <p:nvPr>
            <p:ph idx="1"/>
          </p:nvPr>
        </p:nvSpPr>
        <p:spPr>
          <a:xfrm>
            <a:off x="228600" y="762000"/>
            <a:ext cx="8686800" cy="6096000"/>
          </a:xfrm>
          <a:ln/>
        </p:spPr>
        <p:txBody>
          <a:bodyPr vert="horz" wrap="square" lIns="91440" tIns="45720" rIns="91440" bIns="45720" anchor="t" anchorCtr="0"/>
          <a:p>
            <a:pPr eaLnBrk="1" hangingPunct="1">
              <a:lnSpc>
                <a:spcPct val="140000"/>
              </a:lnSpc>
              <a:buNone/>
            </a:pPr>
            <a:r>
              <a:rPr lang="zh-CN" altLang="en-US" sz="3600" dirty="0">
                <a:solidFill>
                  <a:srgbClr val="FF0000"/>
                </a:solidFill>
              </a:rPr>
              <a:t>一、什么是事务</a:t>
            </a:r>
            <a:endParaRPr lang="zh-CN" altLang="en-US" sz="3600" dirty="0">
              <a:solidFill>
                <a:srgbClr val="FF0000"/>
              </a:solidFill>
            </a:endParaRPr>
          </a:p>
          <a:p>
            <a:pPr eaLnBrk="1" hangingPunct="1">
              <a:lnSpc>
                <a:spcPct val="90000"/>
              </a:lnSpc>
            </a:pPr>
            <a:r>
              <a:rPr lang="zh-CN" altLang="en-US" dirty="0">
                <a:solidFill>
                  <a:schemeClr val="tx1"/>
                </a:solidFill>
              </a:rPr>
              <a:t>事务</a:t>
            </a:r>
            <a:r>
              <a:rPr lang="en-US" altLang="zh-CN" dirty="0">
                <a:solidFill>
                  <a:schemeClr val="tx1"/>
                </a:solidFill>
              </a:rPr>
              <a:t>(Transaction)</a:t>
            </a:r>
            <a:r>
              <a:rPr lang="zh-CN" altLang="en-US" dirty="0">
                <a:solidFill>
                  <a:schemeClr val="tx1"/>
                </a:solidFill>
              </a:rPr>
              <a:t>是用户定义的一个独立逻辑工作的数据库操作序列，这些操作要么全做，要么全不做，是一个不可分割的工作单位</a:t>
            </a:r>
            <a:endParaRPr lang="zh-CN" altLang="en-US" dirty="0">
              <a:solidFill>
                <a:schemeClr val="tx1"/>
              </a:solidFill>
            </a:endParaRPr>
          </a:p>
          <a:p>
            <a:pPr eaLnBrk="1" hangingPunct="1">
              <a:lnSpc>
                <a:spcPct val="90000"/>
              </a:lnSpc>
            </a:pPr>
            <a:endParaRPr lang="zh-CN" altLang="en-US" dirty="0">
              <a:solidFill>
                <a:schemeClr val="tx1"/>
              </a:solidFill>
            </a:endParaRPr>
          </a:p>
          <a:p>
            <a:pPr eaLnBrk="1" hangingPunct="1">
              <a:lnSpc>
                <a:spcPct val="90000"/>
              </a:lnSpc>
            </a:pPr>
            <a:r>
              <a:rPr lang="zh-CN" altLang="en-US" dirty="0">
                <a:solidFill>
                  <a:schemeClr val="tx1"/>
                </a:solidFill>
              </a:rPr>
              <a:t>事务和程序是两个概念</a:t>
            </a:r>
            <a:endParaRPr lang="zh-CN" altLang="en-US" dirty="0">
              <a:solidFill>
                <a:schemeClr val="tx1"/>
              </a:solidFill>
            </a:endParaRPr>
          </a:p>
          <a:p>
            <a:pPr lvl="1" eaLnBrk="1" hangingPunct="1">
              <a:lnSpc>
                <a:spcPct val="90000"/>
              </a:lnSpc>
            </a:pPr>
            <a:r>
              <a:rPr lang="zh-CN" altLang="en-US" dirty="0"/>
              <a:t>在关系数据库中，一个事务可以是一条</a:t>
            </a:r>
            <a:r>
              <a:rPr lang="en-US" altLang="zh-CN" dirty="0"/>
              <a:t>SQL</a:t>
            </a:r>
            <a:r>
              <a:rPr lang="zh-CN" altLang="en-US" dirty="0"/>
              <a:t>语句，一组</a:t>
            </a:r>
            <a:r>
              <a:rPr lang="en-US" altLang="zh-CN" dirty="0"/>
              <a:t>SQL</a:t>
            </a:r>
            <a:r>
              <a:rPr lang="zh-CN" altLang="en-US" dirty="0"/>
              <a:t>语句或整个程序</a:t>
            </a:r>
            <a:endParaRPr lang="zh-CN" altLang="en-US" dirty="0"/>
          </a:p>
          <a:p>
            <a:pPr lvl="1" eaLnBrk="1" hangingPunct="1">
              <a:lnSpc>
                <a:spcPct val="90000"/>
              </a:lnSpc>
            </a:pPr>
            <a:r>
              <a:rPr lang="zh-CN" altLang="en-US" dirty="0"/>
              <a:t>一个应用程序通常包含多个事务</a:t>
            </a:r>
            <a:endParaRPr lang="zh-CN" altLang="en-US" dirty="0"/>
          </a:p>
          <a:p>
            <a:pPr lvl="1" eaLnBrk="1" hangingPunct="1">
              <a:lnSpc>
                <a:spcPct val="90000"/>
              </a:lnSpc>
            </a:pPr>
            <a:endParaRPr lang="zh-CN" altLang="en-US" dirty="0"/>
          </a:p>
          <a:p>
            <a:pPr eaLnBrk="1" hangingPunct="1">
              <a:lnSpc>
                <a:spcPct val="90000"/>
              </a:lnSpc>
            </a:pPr>
            <a:r>
              <a:rPr lang="zh-CN" altLang="en-US" dirty="0"/>
              <a:t>事务</a:t>
            </a:r>
            <a:r>
              <a:rPr lang="zh-CN" altLang="en-US" dirty="0">
                <a:solidFill>
                  <a:schemeClr val="tx1"/>
                </a:solidFill>
              </a:rPr>
              <a:t>是</a:t>
            </a:r>
            <a:r>
              <a:rPr lang="zh-CN" altLang="en-US" dirty="0"/>
              <a:t>恢复</a:t>
            </a:r>
            <a:r>
              <a:rPr lang="zh-CN" altLang="en-US" dirty="0">
                <a:solidFill>
                  <a:schemeClr val="tx1"/>
                </a:solidFill>
              </a:rPr>
              <a:t>和</a:t>
            </a:r>
            <a:r>
              <a:rPr lang="zh-CN" altLang="en-US" dirty="0"/>
              <a:t>并发控制</a:t>
            </a:r>
            <a:r>
              <a:rPr lang="zh-CN" altLang="en-US" dirty="0">
                <a:solidFill>
                  <a:schemeClr val="tx1"/>
                </a:solidFill>
              </a:rPr>
              <a:t>的基本单位</a:t>
            </a:r>
            <a:endParaRPr lang="zh-CN" altLang="en-US" dirty="0">
              <a:solidFill>
                <a:schemeClr val="tx1"/>
              </a:solidFill>
            </a:endParaRPr>
          </a:p>
        </p:txBody>
      </p:sp>
      <p:sp>
        <p:nvSpPr>
          <p:cNvPr id="5124" name="Rectangle 3"/>
          <p:cNvSpPr>
            <a:spLocks noGrp="1"/>
          </p:cNvSpPr>
          <p:nvPr>
            <p:ph type="title"/>
          </p:nvPr>
        </p:nvSpPr>
        <p:spPr>
          <a:xfrm>
            <a:off x="1116013" y="115888"/>
            <a:ext cx="7127875" cy="549275"/>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7" name="Rectangle 2"/>
          <p:cNvSpPr>
            <a:spLocks noGrp="1"/>
          </p:cNvSpPr>
          <p:nvPr>
            <p:ph idx="1"/>
          </p:nvPr>
        </p:nvSpPr>
        <p:spPr>
          <a:xfrm>
            <a:off x="228600" y="762000"/>
            <a:ext cx="8686800" cy="5867400"/>
          </a:xfrm>
          <a:ln/>
        </p:spPr>
        <p:txBody>
          <a:bodyPr vert="horz" wrap="square" lIns="91440" tIns="45720" rIns="91440" bIns="45720" anchor="t" anchorCtr="0"/>
          <a:p>
            <a:pPr eaLnBrk="1" hangingPunct="1">
              <a:lnSpc>
                <a:spcPct val="140000"/>
              </a:lnSpc>
              <a:buNone/>
            </a:pPr>
            <a:r>
              <a:rPr lang="zh-CN" altLang="en-US" sz="3600" dirty="0">
                <a:solidFill>
                  <a:srgbClr val="FF0000"/>
                </a:solidFill>
              </a:rPr>
              <a:t>二、如何定义事务</a:t>
            </a:r>
            <a:endParaRPr lang="zh-CN" altLang="en-US" sz="3600" dirty="0">
              <a:solidFill>
                <a:srgbClr val="FF0000"/>
              </a:solidFill>
            </a:endParaRPr>
          </a:p>
          <a:p>
            <a:pPr eaLnBrk="1" hangingPunct="1"/>
            <a:r>
              <a:rPr lang="zh-CN" altLang="en-US" dirty="0">
                <a:solidFill>
                  <a:srgbClr val="0000CC"/>
                </a:solidFill>
              </a:rPr>
              <a:t>显式定义方式</a:t>
            </a:r>
            <a:endParaRPr lang="zh-CN" altLang="en-US" dirty="0">
              <a:solidFill>
                <a:srgbClr val="0000CC"/>
              </a:solidFill>
            </a:endParaRPr>
          </a:p>
          <a:p>
            <a:pPr eaLnBrk="1" hangingPunct="1">
              <a:buNone/>
            </a:pPr>
            <a:r>
              <a:rPr lang="zh-CN" altLang="en-US" sz="3600" dirty="0">
                <a:solidFill>
                  <a:schemeClr val="tx1"/>
                </a:solidFill>
              </a:rPr>
              <a:t>   </a:t>
            </a:r>
            <a:r>
              <a:rPr lang="en-US" altLang="zh-CN" sz="2400" i="1" dirty="0"/>
              <a:t>BEGIN TRANSACTION</a:t>
            </a:r>
            <a:r>
              <a:rPr lang="en-US" altLang="zh-CN" sz="2400" i="1" dirty="0">
                <a:solidFill>
                  <a:schemeClr val="tx1"/>
                </a:solidFill>
              </a:rPr>
              <a:t>                   </a:t>
            </a:r>
            <a:r>
              <a:rPr lang="en-US" altLang="zh-CN" sz="2400" i="1" dirty="0"/>
              <a:t>BEGIN TRANSACTION</a:t>
            </a:r>
            <a:endParaRPr lang="en-US" altLang="zh-CN" sz="2400" i="1" dirty="0"/>
          </a:p>
          <a:p>
            <a:pPr eaLnBrk="1" hangingPunct="1">
              <a:buNone/>
            </a:pPr>
            <a:r>
              <a:rPr lang="en-US" altLang="zh-CN" sz="2400" i="1" dirty="0">
                <a:solidFill>
                  <a:schemeClr val="tx1"/>
                </a:solidFill>
              </a:rPr>
              <a:t>          SQL </a:t>
            </a:r>
            <a:r>
              <a:rPr lang="zh-CN" altLang="zh-CN" sz="2400" i="1" dirty="0">
                <a:solidFill>
                  <a:schemeClr val="tx1"/>
                </a:solidFill>
              </a:rPr>
              <a:t>语句1</a:t>
            </a:r>
            <a:r>
              <a:rPr lang="en-US" altLang="zh-CN" sz="2400" i="1" dirty="0">
                <a:solidFill>
                  <a:schemeClr val="tx1"/>
                </a:solidFill>
              </a:rPr>
              <a:t>                                             SQL </a:t>
            </a:r>
            <a:r>
              <a:rPr lang="zh-CN" altLang="zh-CN" sz="2400" i="1" dirty="0">
                <a:solidFill>
                  <a:schemeClr val="tx1"/>
                </a:solidFill>
              </a:rPr>
              <a:t>语句1</a:t>
            </a:r>
            <a:endParaRPr lang="zh-CN" altLang="zh-CN" sz="2400" i="1" dirty="0">
              <a:solidFill>
                <a:schemeClr val="tx1"/>
              </a:solidFill>
            </a:endParaRPr>
          </a:p>
          <a:p>
            <a:pPr eaLnBrk="1" hangingPunct="1">
              <a:buNone/>
            </a:pPr>
            <a:r>
              <a:rPr lang="zh-CN" altLang="zh-CN" sz="2400" i="1" dirty="0">
                <a:solidFill>
                  <a:schemeClr val="tx1"/>
                </a:solidFill>
              </a:rPr>
              <a:t>          </a:t>
            </a:r>
            <a:r>
              <a:rPr lang="en-US" altLang="zh-CN" sz="2400" i="1" dirty="0">
                <a:solidFill>
                  <a:schemeClr val="tx1"/>
                </a:solidFill>
              </a:rPr>
              <a:t>SQL </a:t>
            </a:r>
            <a:r>
              <a:rPr lang="zh-CN" altLang="zh-CN" sz="2400" i="1" dirty="0">
                <a:solidFill>
                  <a:schemeClr val="tx1"/>
                </a:solidFill>
              </a:rPr>
              <a:t>语句2                                             </a:t>
            </a:r>
            <a:r>
              <a:rPr lang="en-US" altLang="zh-CN" sz="2400" i="1" dirty="0">
                <a:solidFill>
                  <a:schemeClr val="tx1"/>
                </a:solidFill>
              </a:rPr>
              <a:t>SQL </a:t>
            </a:r>
            <a:r>
              <a:rPr lang="zh-CN" altLang="zh-CN" sz="2400" i="1" dirty="0">
                <a:solidFill>
                  <a:schemeClr val="tx1"/>
                </a:solidFill>
              </a:rPr>
              <a:t>语句2</a:t>
            </a:r>
            <a:endParaRPr lang="en-US" altLang="zh-CN" sz="2400" i="1" dirty="0">
              <a:solidFill>
                <a:schemeClr val="tx1"/>
              </a:solidFill>
            </a:endParaRPr>
          </a:p>
          <a:p>
            <a:pPr eaLnBrk="1" hangingPunct="1">
              <a:buNone/>
            </a:pPr>
            <a:r>
              <a:rPr lang="en-US" altLang="zh-CN" sz="2400" i="1" dirty="0">
                <a:solidFill>
                  <a:schemeClr val="tx1"/>
                </a:solidFill>
              </a:rPr>
              <a:t>          ……                                            	  ……</a:t>
            </a:r>
            <a:endParaRPr lang="en-US" altLang="zh-CN" sz="2400" i="1" dirty="0">
              <a:solidFill>
                <a:schemeClr val="tx1"/>
              </a:solidFill>
            </a:endParaRPr>
          </a:p>
          <a:p>
            <a:pPr eaLnBrk="1" hangingPunct="1">
              <a:buNone/>
            </a:pPr>
            <a:r>
              <a:rPr lang="en-US" altLang="zh-CN" sz="2400" i="1" dirty="0">
                <a:solidFill>
                  <a:schemeClr val="tx1"/>
                </a:solidFill>
              </a:rPr>
              <a:t>     </a:t>
            </a:r>
            <a:r>
              <a:rPr lang="en-US" altLang="zh-CN" sz="2400" i="1" dirty="0"/>
              <a:t> COMMIT</a:t>
            </a:r>
            <a:r>
              <a:rPr lang="en-US" altLang="zh-CN" sz="2400" dirty="0">
                <a:solidFill>
                  <a:schemeClr val="tx1"/>
                </a:solidFill>
              </a:rPr>
              <a:t>                                           </a:t>
            </a:r>
            <a:r>
              <a:rPr lang="en-US" altLang="zh-CN" sz="2400" i="1" dirty="0"/>
              <a:t>ROLLBACK</a:t>
            </a:r>
            <a:endParaRPr lang="en-US" altLang="zh-CN" sz="2400" i="1" dirty="0"/>
          </a:p>
          <a:p>
            <a:pPr eaLnBrk="1" hangingPunct="1"/>
            <a:r>
              <a:rPr lang="zh-CN" altLang="en-US" dirty="0">
                <a:solidFill>
                  <a:srgbClr val="0000CC"/>
                </a:solidFill>
              </a:rPr>
              <a:t>隐式方式</a:t>
            </a:r>
            <a:endParaRPr lang="zh-CN" altLang="en-US" dirty="0">
              <a:solidFill>
                <a:srgbClr val="0000CC"/>
              </a:solidFill>
            </a:endParaRPr>
          </a:p>
          <a:p>
            <a:pPr lvl="1" eaLnBrk="1" hangingPunct="1">
              <a:buNone/>
            </a:pPr>
            <a:r>
              <a:rPr lang="zh-CN" altLang="en-US" sz="3200" dirty="0"/>
              <a:t>当用户没有显式地定义事务时，</a:t>
            </a:r>
            <a:endParaRPr lang="zh-CN" altLang="en-US" sz="3200" dirty="0"/>
          </a:p>
          <a:p>
            <a:pPr lvl="1" eaLnBrk="1" hangingPunct="1">
              <a:buNone/>
            </a:pPr>
            <a:r>
              <a:rPr lang="en-US" altLang="zh-CN" sz="3200" dirty="0"/>
              <a:t>DBMS</a:t>
            </a:r>
            <a:r>
              <a:rPr lang="zh-CN" altLang="en-US" sz="3200" dirty="0"/>
              <a:t>按缺省规定自动划分事务</a:t>
            </a:r>
            <a:endParaRPr lang="zh-CN" altLang="en-US" sz="3200" dirty="0"/>
          </a:p>
        </p:txBody>
      </p:sp>
      <p:sp>
        <p:nvSpPr>
          <p:cNvPr id="6148" name="Rectangle 3"/>
          <p:cNvSpPr>
            <a:spLocks noGrp="1"/>
          </p:cNvSpPr>
          <p:nvPr>
            <p:ph type="title"/>
          </p:nvPr>
        </p:nvSpPr>
        <p:spPr>
          <a:xfrm>
            <a:off x="1187450" y="55563"/>
            <a:ext cx="6769100"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71" name="Rectangle 2"/>
          <p:cNvSpPr>
            <a:spLocks noGrp="1"/>
          </p:cNvSpPr>
          <p:nvPr>
            <p:ph idx="1"/>
          </p:nvPr>
        </p:nvSpPr>
        <p:spPr>
          <a:xfrm>
            <a:off x="228600" y="762000"/>
            <a:ext cx="8686800" cy="5867400"/>
          </a:xfrm>
          <a:ln/>
        </p:spPr>
        <p:txBody>
          <a:bodyPr vert="horz" wrap="square" lIns="91440" tIns="45720" rIns="91440" bIns="45720" anchor="t" anchorCtr="0"/>
          <a:p>
            <a:pPr eaLnBrk="1" hangingPunct="1">
              <a:lnSpc>
                <a:spcPct val="140000"/>
              </a:lnSpc>
              <a:buNone/>
            </a:pPr>
            <a:r>
              <a:rPr lang="zh-CN" altLang="en-US" dirty="0">
                <a:solidFill>
                  <a:srgbClr val="FF0000"/>
                </a:solidFill>
              </a:rPr>
              <a:t>事务的结束</a:t>
            </a:r>
            <a:endParaRPr lang="zh-CN" altLang="en-US" dirty="0">
              <a:solidFill>
                <a:srgbClr val="FF0000"/>
              </a:solidFill>
            </a:endParaRPr>
          </a:p>
          <a:p>
            <a:pPr eaLnBrk="1" hangingPunct="1">
              <a:lnSpc>
                <a:spcPct val="120000"/>
              </a:lnSpc>
              <a:buNone/>
            </a:pPr>
            <a:r>
              <a:rPr lang="en-US" altLang="zh-CN" sz="2400" i="1" dirty="0"/>
              <a:t>COMMIT</a:t>
            </a:r>
            <a:endParaRPr lang="en-US" altLang="zh-CN" sz="2400" i="1" dirty="0"/>
          </a:p>
          <a:p>
            <a:pPr lvl="1" eaLnBrk="1" hangingPunct="1">
              <a:lnSpc>
                <a:spcPct val="120000"/>
              </a:lnSpc>
              <a:buNone/>
            </a:pPr>
            <a:r>
              <a:rPr lang="zh-CN" altLang="en-US" sz="2400" dirty="0"/>
              <a:t>事务正常结束   </a:t>
            </a:r>
            <a:endParaRPr lang="zh-CN" altLang="en-US" sz="2400" dirty="0"/>
          </a:p>
          <a:p>
            <a:pPr lvl="1" eaLnBrk="1" hangingPunct="1">
              <a:lnSpc>
                <a:spcPct val="120000"/>
              </a:lnSpc>
              <a:buNone/>
            </a:pPr>
            <a:r>
              <a:rPr lang="zh-CN" altLang="en-US" sz="2400" dirty="0">
                <a:solidFill>
                  <a:schemeClr val="accent2"/>
                </a:solidFill>
              </a:rPr>
              <a:t>提交</a:t>
            </a:r>
            <a:r>
              <a:rPr lang="zh-CN" altLang="en-US" sz="2400" dirty="0"/>
              <a:t>事务的所有操作（</a:t>
            </a:r>
            <a:r>
              <a:rPr lang="zh-CN" altLang="en-US" sz="2400" dirty="0">
                <a:solidFill>
                  <a:schemeClr val="accent2"/>
                </a:solidFill>
              </a:rPr>
              <a:t>读</a:t>
            </a:r>
            <a:r>
              <a:rPr lang="en-US" altLang="zh-CN" sz="2400" dirty="0">
                <a:solidFill>
                  <a:schemeClr val="accent2"/>
                </a:solidFill>
              </a:rPr>
              <a:t>+</a:t>
            </a:r>
            <a:r>
              <a:rPr lang="zh-CN" altLang="en-US" sz="2400" dirty="0">
                <a:solidFill>
                  <a:schemeClr val="accent2"/>
                </a:solidFill>
              </a:rPr>
              <a:t>更新</a:t>
            </a:r>
            <a:r>
              <a:rPr lang="zh-CN" altLang="en-US" sz="2400" dirty="0"/>
              <a:t>）</a:t>
            </a:r>
            <a:endParaRPr lang="zh-CN" altLang="en-US" sz="2400" dirty="0"/>
          </a:p>
          <a:p>
            <a:pPr lvl="1" eaLnBrk="1" hangingPunct="1">
              <a:lnSpc>
                <a:spcPct val="120000"/>
              </a:lnSpc>
              <a:buNone/>
            </a:pPr>
            <a:r>
              <a:rPr lang="zh-CN" altLang="en-US" sz="2400" dirty="0"/>
              <a:t>事务中所有对数据库的更新</a:t>
            </a:r>
            <a:r>
              <a:rPr lang="zh-CN" altLang="en-US" sz="2400" dirty="0">
                <a:solidFill>
                  <a:schemeClr val="accent2"/>
                </a:solidFill>
              </a:rPr>
              <a:t>永久</a:t>
            </a:r>
            <a:r>
              <a:rPr lang="zh-CN" altLang="en-US" sz="2400" dirty="0"/>
              <a:t>生效</a:t>
            </a:r>
            <a:endParaRPr lang="zh-CN" altLang="en-US" sz="2400" dirty="0"/>
          </a:p>
          <a:p>
            <a:pPr eaLnBrk="1" hangingPunct="1">
              <a:lnSpc>
                <a:spcPct val="120000"/>
              </a:lnSpc>
              <a:buNone/>
            </a:pPr>
            <a:r>
              <a:rPr lang="en-US" altLang="zh-CN" sz="2400" i="1" dirty="0"/>
              <a:t>ROLLBACK</a:t>
            </a:r>
            <a:endParaRPr lang="en-US" altLang="zh-CN" sz="2400" i="1" dirty="0"/>
          </a:p>
          <a:p>
            <a:pPr lvl="1" eaLnBrk="1" hangingPunct="1">
              <a:lnSpc>
                <a:spcPct val="120000"/>
              </a:lnSpc>
              <a:buNone/>
            </a:pPr>
            <a:r>
              <a:rPr lang="zh-CN" altLang="en-US" sz="2400" dirty="0"/>
              <a:t>事务异常终止</a:t>
            </a:r>
            <a:endParaRPr lang="zh-CN" altLang="en-US" sz="2400" dirty="0"/>
          </a:p>
          <a:p>
            <a:pPr lvl="1" eaLnBrk="1" hangingPunct="1">
              <a:lnSpc>
                <a:spcPct val="120000"/>
              </a:lnSpc>
            </a:pPr>
            <a:r>
              <a:rPr lang="zh-CN" altLang="en-US" sz="2400" dirty="0"/>
              <a:t>事务运行的过程中发生了故障，不能继续执行</a:t>
            </a:r>
            <a:endParaRPr lang="zh-CN" altLang="en-US" sz="2400" dirty="0"/>
          </a:p>
          <a:p>
            <a:pPr lvl="1" eaLnBrk="1" hangingPunct="1">
              <a:lnSpc>
                <a:spcPct val="120000"/>
              </a:lnSpc>
              <a:buNone/>
            </a:pPr>
            <a:r>
              <a:rPr lang="zh-CN" altLang="en-US" sz="2400" dirty="0"/>
              <a:t>回滚事务的所有</a:t>
            </a:r>
            <a:r>
              <a:rPr lang="zh-CN" altLang="en-US" sz="2400" dirty="0">
                <a:solidFill>
                  <a:schemeClr val="accent2"/>
                </a:solidFill>
              </a:rPr>
              <a:t>更新</a:t>
            </a:r>
            <a:r>
              <a:rPr lang="zh-CN" altLang="en-US" sz="2400" dirty="0"/>
              <a:t>操作</a:t>
            </a:r>
            <a:endParaRPr lang="zh-CN" altLang="en-US" sz="2400" dirty="0"/>
          </a:p>
          <a:p>
            <a:pPr lvl="1" eaLnBrk="1" hangingPunct="1">
              <a:lnSpc>
                <a:spcPct val="120000"/>
              </a:lnSpc>
            </a:pPr>
            <a:r>
              <a:rPr lang="zh-CN" altLang="en-US" sz="2400" dirty="0"/>
              <a:t>事务滚回到</a:t>
            </a:r>
            <a:r>
              <a:rPr lang="zh-CN" altLang="en-US" sz="2400" dirty="0">
                <a:solidFill>
                  <a:schemeClr val="accent2"/>
                </a:solidFill>
              </a:rPr>
              <a:t>开始</a:t>
            </a:r>
            <a:r>
              <a:rPr lang="zh-CN" altLang="en-US" sz="2400" dirty="0"/>
              <a:t>时的状态</a:t>
            </a:r>
            <a:endParaRPr lang="zh-CN" altLang="en-US" sz="2400" dirty="0"/>
          </a:p>
        </p:txBody>
      </p:sp>
      <p:sp>
        <p:nvSpPr>
          <p:cNvPr id="7172" name="Rectangle 3"/>
          <p:cNvSpPr>
            <a:spLocks noGrp="1"/>
          </p:cNvSpPr>
          <p:nvPr>
            <p:ph type="title"/>
          </p:nvPr>
        </p:nvSpPr>
        <p:spPr>
          <a:xfrm>
            <a:off x="1331913" y="115888"/>
            <a:ext cx="7124700"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5" name="Rectangle 2"/>
          <p:cNvSpPr>
            <a:spLocks noGrp="1"/>
          </p:cNvSpPr>
          <p:nvPr>
            <p:ph idx="1"/>
          </p:nvPr>
        </p:nvSpPr>
        <p:spPr>
          <a:xfrm>
            <a:off x="228600" y="765175"/>
            <a:ext cx="8686800" cy="5867400"/>
          </a:xfrm>
          <a:ln/>
        </p:spPr>
        <p:txBody>
          <a:bodyPr vert="horz" wrap="square" lIns="91440" tIns="45720" rIns="91440" bIns="45720" anchor="t" anchorCtr="0"/>
          <a:p>
            <a:pPr eaLnBrk="1" hangingPunct="1">
              <a:lnSpc>
                <a:spcPct val="140000"/>
              </a:lnSpc>
              <a:buNone/>
            </a:pPr>
            <a:r>
              <a:rPr lang="zh-CN" altLang="en-US" sz="3600" dirty="0">
                <a:solidFill>
                  <a:srgbClr val="FF0000"/>
                </a:solidFill>
              </a:rPr>
              <a:t>三、事务的特性</a:t>
            </a:r>
            <a:r>
              <a:rPr lang="en-US" altLang="zh-CN" sz="3600" dirty="0">
                <a:solidFill>
                  <a:srgbClr val="FF0000"/>
                </a:solidFill>
              </a:rPr>
              <a:t>(ACID</a:t>
            </a:r>
            <a:r>
              <a:rPr lang="zh-CN" altLang="en-US" sz="3600" dirty="0">
                <a:solidFill>
                  <a:srgbClr val="FF0000"/>
                </a:solidFill>
              </a:rPr>
              <a:t>特性</a:t>
            </a:r>
            <a:r>
              <a:rPr lang="en-US" altLang="zh-CN" sz="3600" dirty="0">
                <a:solidFill>
                  <a:srgbClr val="FF0000"/>
                </a:solidFill>
              </a:rPr>
              <a:t>)</a:t>
            </a:r>
            <a:endParaRPr lang="en-US" altLang="zh-CN" sz="3600" dirty="0">
              <a:solidFill>
                <a:srgbClr val="FF0000"/>
              </a:solidFill>
            </a:endParaRPr>
          </a:p>
          <a:p>
            <a:pPr eaLnBrk="1" hangingPunct="1">
              <a:buNone/>
            </a:pPr>
            <a:r>
              <a:rPr lang="zh-CN" altLang="en-US" sz="3600" dirty="0">
                <a:solidFill>
                  <a:srgbClr val="0000CC"/>
                </a:solidFill>
              </a:rPr>
              <a:t>事务的</a:t>
            </a:r>
            <a:r>
              <a:rPr lang="en-US" altLang="zh-CN" sz="3600" dirty="0">
                <a:solidFill>
                  <a:srgbClr val="0000CC"/>
                </a:solidFill>
              </a:rPr>
              <a:t>ACID</a:t>
            </a:r>
            <a:r>
              <a:rPr lang="zh-CN" altLang="en-US" sz="3600" dirty="0">
                <a:solidFill>
                  <a:srgbClr val="0000CC"/>
                </a:solidFill>
              </a:rPr>
              <a:t>特性：</a:t>
            </a:r>
            <a:endParaRPr lang="zh-CN" altLang="en-US" sz="3600" dirty="0">
              <a:solidFill>
                <a:srgbClr val="0000CC"/>
              </a:solidFill>
            </a:endParaRPr>
          </a:p>
          <a:p>
            <a:pPr eaLnBrk="1" hangingPunct="1">
              <a:lnSpc>
                <a:spcPct val="130000"/>
              </a:lnSpc>
            </a:pPr>
            <a:r>
              <a:rPr lang="zh-CN" altLang="en-US" dirty="0">
                <a:solidFill>
                  <a:schemeClr val="tx1"/>
                </a:solidFill>
              </a:rPr>
              <a:t>原子性（</a:t>
            </a:r>
            <a:r>
              <a:rPr lang="en-US" altLang="zh-CN" dirty="0">
                <a:solidFill>
                  <a:schemeClr val="tx1"/>
                </a:solidFill>
              </a:rPr>
              <a:t>Atomicity</a:t>
            </a:r>
            <a:r>
              <a:rPr lang="zh-CN" altLang="en-US" dirty="0">
                <a:solidFill>
                  <a:schemeClr val="tx1"/>
                </a:solidFill>
              </a:rPr>
              <a:t>）一致性（</a:t>
            </a:r>
            <a:r>
              <a:rPr lang="en-US" altLang="zh-CN" dirty="0">
                <a:solidFill>
                  <a:schemeClr val="tx1"/>
                </a:solidFill>
              </a:rPr>
              <a:t>Consistency</a:t>
            </a:r>
            <a:r>
              <a:rPr lang="zh-CN" altLang="en-US" dirty="0">
                <a:solidFill>
                  <a:schemeClr val="tx1"/>
                </a:solidFill>
              </a:rPr>
              <a:t>）</a:t>
            </a:r>
            <a:endParaRPr lang="zh-CN" altLang="en-US" dirty="0">
              <a:solidFill>
                <a:schemeClr val="tx1"/>
              </a:solidFill>
            </a:endParaRPr>
          </a:p>
          <a:p>
            <a:pPr eaLnBrk="1" hangingPunct="1">
              <a:lnSpc>
                <a:spcPct val="130000"/>
              </a:lnSpc>
            </a:pPr>
            <a:r>
              <a:rPr lang="zh-CN" altLang="en-US" dirty="0">
                <a:solidFill>
                  <a:schemeClr val="tx1"/>
                </a:solidFill>
              </a:rPr>
              <a:t>隔离性（</a:t>
            </a:r>
            <a:r>
              <a:rPr lang="en-US" altLang="zh-CN" dirty="0">
                <a:solidFill>
                  <a:schemeClr val="tx1"/>
                </a:solidFill>
              </a:rPr>
              <a:t>Isolation</a:t>
            </a:r>
            <a:r>
              <a:rPr lang="zh-CN" altLang="en-US" dirty="0">
                <a:solidFill>
                  <a:schemeClr val="tx1"/>
                </a:solidFill>
              </a:rPr>
              <a:t>）持续性（</a:t>
            </a:r>
            <a:r>
              <a:rPr lang="en-US" altLang="zh-CN" dirty="0">
                <a:solidFill>
                  <a:schemeClr val="tx1"/>
                </a:solidFill>
              </a:rPr>
              <a:t>Durability </a:t>
            </a:r>
            <a:r>
              <a:rPr lang="zh-CN" altLang="en-US" dirty="0">
                <a:solidFill>
                  <a:schemeClr val="tx1"/>
                </a:solidFill>
              </a:rPr>
              <a:t>）</a:t>
            </a:r>
            <a:endParaRPr lang="zh-CN" altLang="en-US" dirty="0">
              <a:solidFill>
                <a:schemeClr val="tx1"/>
              </a:solidFill>
            </a:endParaRPr>
          </a:p>
        </p:txBody>
      </p:sp>
      <p:sp>
        <p:nvSpPr>
          <p:cNvPr id="8196" name="Rectangle 3"/>
          <p:cNvSpPr>
            <a:spLocks noGrp="1"/>
          </p:cNvSpPr>
          <p:nvPr>
            <p:ph type="title"/>
          </p:nvPr>
        </p:nvSpPr>
        <p:spPr>
          <a:xfrm>
            <a:off x="1403350" y="71438"/>
            <a:ext cx="6337300"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
        <p:nvSpPr>
          <p:cNvPr id="5" name="圆角矩形标注 4"/>
          <p:cNvSpPr/>
          <p:nvPr/>
        </p:nvSpPr>
        <p:spPr>
          <a:xfrm>
            <a:off x="323850" y="4221163"/>
            <a:ext cx="8915400" cy="2016125"/>
          </a:xfrm>
          <a:prstGeom prst="wedgeRoundRectCallout">
            <a:avLst>
              <a:gd name="adj1" fmla="val -29922"/>
              <a:gd name="adj2" fmla="val -6695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lt1"/>
                </a:solidFill>
                <a:effectLst/>
                <a:uLnTx/>
                <a:uFillTx/>
                <a:latin typeface="+mn-lt"/>
                <a:ea typeface="+mn-ea"/>
                <a:cs typeface="+mn-cs"/>
              </a:rPr>
              <a:t>现代计算机的运行原理及硬件特点使得事务处理任务艰巨，</a:t>
            </a:r>
            <a:r>
              <a:rPr kumimoji="1" lang="en-US" altLang="zh-CN" sz="2800" b="1" i="0" u="none" strike="noStrike" kern="1200" cap="none" spc="0" normalizeH="0" baseline="0" noProof="0" dirty="0">
                <a:ln>
                  <a:noFill/>
                </a:ln>
                <a:solidFill>
                  <a:schemeClr val="lt1"/>
                </a:solidFill>
                <a:effectLst/>
                <a:uLnTx/>
                <a:uFillTx/>
                <a:latin typeface="+mn-lt"/>
                <a:ea typeface="+mn-ea"/>
                <a:cs typeface="+mn-cs"/>
              </a:rPr>
              <a:t>DBMS</a:t>
            </a:r>
            <a:r>
              <a:rPr kumimoji="1" lang="zh-CN" altLang="en-US" sz="2800" b="1" i="0" u="none" strike="noStrike" kern="1200" cap="none" spc="0" normalizeH="0" baseline="0" noProof="0" dirty="0">
                <a:ln>
                  <a:noFill/>
                </a:ln>
                <a:solidFill>
                  <a:schemeClr val="lt1"/>
                </a:solidFill>
                <a:effectLst/>
                <a:uLnTx/>
                <a:uFillTx/>
                <a:latin typeface="+mn-lt"/>
                <a:ea typeface="+mn-ea"/>
                <a:cs typeface="+mn-cs"/>
              </a:rPr>
              <a:t>提供数据共享服务的需求使得事务处理更加复杂，事务处理成为数据库的核心问题之一。标志性人物：</a:t>
            </a:r>
            <a:r>
              <a:rPr kumimoji="1" lang="en-US" altLang="zh-CN" sz="2800" b="1" i="0" u="none" strike="noStrike" kern="1200" cap="none" spc="0" normalizeH="0" baseline="0" noProof="0" dirty="0">
                <a:ln>
                  <a:noFill/>
                </a:ln>
                <a:solidFill>
                  <a:schemeClr val="lt1"/>
                </a:solidFill>
                <a:effectLst/>
                <a:uLnTx/>
                <a:uFillTx/>
                <a:latin typeface="+mn-lt"/>
                <a:ea typeface="+mn-ea"/>
                <a:cs typeface="+mn-cs"/>
              </a:rPr>
              <a:t>Jim Gray</a:t>
            </a:r>
            <a:endParaRPr kumimoji="1" lang="zh-CN" altLang="en-US" sz="2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219" name="Rectangle 2"/>
          <p:cNvSpPr>
            <a:spLocks noGrp="1"/>
          </p:cNvSpPr>
          <p:nvPr>
            <p:ph idx="1"/>
          </p:nvPr>
        </p:nvSpPr>
        <p:spPr>
          <a:xfrm>
            <a:off x="228600" y="762000"/>
            <a:ext cx="8686800" cy="5867400"/>
          </a:xfrm>
          <a:ln/>
        </p:spPr>
        <p:txBody>
          <a:bodyPr vert="horz" wrap="square" lIns="91440" tIns="45720" rIns="91440" bIns="45720" anchor="t" anchorCtr="0"/>
          <a:p>
            <a:pPr eaLnBrk="1" hangingPunct="1">
              <a:lnSpc>
                <a:spcPct val="140000"/>
              </a:lnSpc>
              <a:buNone/>
            </a:pPr>
            <a:r>
              <a:rPr lang="en-US" altLang="zh-CN" sz="3600" dirty="0">
                <a:solidFill>
                  <a:srgbClr val="FF0000"/>
                </a:solidFill>
              </a:rPr>
              <a:t>1. </a:t>
            </a:r>
            <a:r>
              <a:rPr lang="zh-CN" altLang="en-US" sz="3600" dirty="0">
                <a:solidFill>
                  <a:srgbClr val="FF0000"/>
                </a:solidFill>
              </a:rPr>
              <a:t>原子性</a:t>
            </a:r>
            <a:endParaRPr lang="zh-CN" altLang="en-US" sz="3600" dirty="0">
              <a:solidFill>
                <a:srgbClr val="FF0000"/>
              </a:solidFill>
            </a:endParaRPr>
          </a:p>
          <a:p>
            <a:pPr lvl="1" eaLnBrk="1" hangingPunct="1"/>
            <a:r>
              <a:rPr lang="zh-CN" altLang="en-US" dirty="0"/>
              <a:t>事务是不可分割的逻辑工作单位</a:t>
            </a:r>
            <a:endParaRPr lang="zh-CN" altLang="en-US" dirty="0"/>
          </a:p>
          <a:p>
            <a:pPr lvl="1" eaLnBrk="1" hangingPunct="1"/>
            <a:r>
              <a:rPr lang="zh-CN" altLang="en-US" dirty="0"/>
              <a:t>事务中包括的诸操作要么都做，要么都不做</a:t>
            </a:r>
            <a:endParaRPr lang="zh-CN" altLang="en-US" dirty="0"/>
          </a:p>
        </p:txBody>
      </p:sp>
      <p:sp>
        <p:nvSpPr>
          <p:cNvPr id="9220" name="Rectangle 3"/>
          <p:cNvSpPr>
            <a:spLocks noGrp="1"/>
          </p:cNvSpPr>
          <p:nvPr>
            <p:ph type="title"/>
          </p:nvPr>
        </p:nvSpPr>
        <p:spPr>
          <a:xfrm>
            <a:off x="1116013" y="85725"/>
            <a:ext cx="7269162"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0243" name="Rectangle 2"/>
          <p:cNvSpPr>
            <a:spLocks noGrp="1"/>
          </p:cNvSpPr>
          <p:nvPr>
            <p:ph idx="1"/>
          </p:nvPr>
        </p:nvSpPr>
        <p:spPr>
          <a:xfrm>
            <a:off x="228600" y="762000"/>
            <a:ext cx="8686800" cy="5867400"/>
          </a:xfrm>
          <a:ln/>
        </p:spPr>
        <p:txBody>
          <a:bodyPr vert="horz" wrap="square" lIns="91440" tIns="45720" rIns="91440" bIns="45720" anchor="t" anchorCtr="0"/>
          <a:p>
            <a:pPr eaLnBrk="1" hangingPunct="1">
              <a:lnSpc>
                <a:spcPct val="140000"/>
              </a:lnSpc>
              <a:buNone/>
            </a:pPr>
            <a:r>
              <a:rPr lang="en-US" altLang="zh-CN" sz="3600" dirty="0">
                <a:solidFill>
                  <a:srgbClr val="FF0000"/>
                </a:solidFill>
              </a:rPr>
              <a:t>2. </a:t>
            </a:r>
            <a:r>
              <a:rPr lang="zh-CN" altLang="en-US" sz="3600" dirty="0">
                <a:solidFill>
                  <a:srgbClr val="FF0000"/>
                </a:solidFill>
              </a:rPr>
              <a:t>一致性</a:t>
            </a:r>
            <a:endParaRPr lang="zh-CN" altLang="en-US" sz="3600" dirty="0">
              <a:solidFill>
                <a:srgbClr val="FF0000"/>
              </a:solidFill>
            </a:endParaRPr>
          </a:p>
          <a:p>
            <a:pPr lvl="1" eaLnBrk="1" hangingPunct="1"/>
            <a:r>
              <a:rPr lang="zh-CN" altLang="en-US" dirty="0"/>
              <a:t>事务执行的结果必须是使数据库从一个一致性状态变到另一个一致性状态</a:t>
            </a:r>
            <a:endParaRPr lang="zh-CN" altLang="en-US" dirty="0"/>
          </a:p>
          <a:p>
            <a:pPr eaLnBrk="1" hangingPunct="1">
              <a:spcBef>
                <a:spcPct val="40000"/>
              </a:spcBef>
              <a:buNone/>
            </a:pPr>
            <a:r>
              <a:rPr lang="zh-CN" altLang="en-US" dirty="0">
                <a:solidFill>
                  <a:schemeClr val="accent2"/>
                </a:solidFill>
              </a:rPr>
              <a:t>一致性状态</a:t>
            </a:r>
            <a:r>
              <a:rPr lang="zh-CN" altLang="en-US" dirty="0"/>
              <a:t>：</a:t>
            </a:r>
            <a:endParaRPr lang="zh-CN" altLang="en-US" dirty="0"/>
          </a:p>
          <a:p>
            <a:pPr eaLnBrk="1" hangingPunct="1">
              <a:spcBef>
                <a:spcPct val="40000"/>
              </a:spcBef>
              <a:buNone/>
            </a:pPr>
            <a:r>
              <a:rPr lang="zh-CN" altLang="en-US" dirty="0">
                <a:solidFill>
                  <a:schemeClr val="tx1"/>
                </a:solidFill>
              </a:rPr>
              <a:t>数据库中只包含成功事务提交的结果</a:t>
            </a:r>
            <a:endParaRPr lang="zh-CN" altLang="en-US" dirty="0">
              <a:solidFill>
                <a:schemeClr val="tx1"/>
              </a:solidFill>
            </a:endParaRPr>
          </a:p>
          <a:p>
            <a:pPr eaLnBrk="1" hangingPunct="1">
              <a:spcBef>
                <a:spcPct val="40000"/>
              </a:spcBef>
              <a:buNone/>
            </a:pPr>
            <a:r>
              <a:rPr lang="zh-CN" altLang="en-US" dirty="0">
                <a:solidFill>
                  <a:schemeClr val="accent2"/>
                </a:solidFill>
              </a:rPr>
              <a:t>不一致状态</a:t>
            </a:r>
            <a:r>
              <a:rPr lang="zh-CN" altLang="en-US" dirty="0"/>
              <a:t>：</a:t>
            </a:r>
            <a:endParaRPr lang="zh-CN" altLang="en-US" dirty="0"/>
          </a:p>
          <a:p>
            <a:pPr eaLnBrk="1" hangingPunct="1">
              <a:spcBef>
                <a:spcPct val="40000"/>
              </a:spcBef>
              <a:buNone/>
            </a:pPr>
            <a:r>
              <a:rPr lang="zh-CN" altLang="en-US" dirty="0">
                <a:solidFill>
                  <a:schemeClr val="tx1"/>
                </a:solidFill>
              </a:rPr>
              <a:t>数据库中包含失败事务的结果</a:t>
            </a:r>
            <a:endParaRPr lang="zh-CN" altLang="en-US" dirty="0">
              <a:solidFill>
                <a:schemeClr val="tx1"/>
              </a:solidFill>
            </a:endParaRPr>
          </a:p>
          <a:p>
            <a:pPr eaLnBrk="1" hangingPunct="1"/>
            <a:endParaRPr lang="zh-CN" altLang="en-US" dirty="0"/>
          </a:p>
        </p:txBody>
      </p:sp>
      <p:sp>
        <p:nvSpPr>
          <p:cNvPr id="10244" name="Rectangle 3"/>
          <p:cNvSpPr>
            <a:spLocks noGrp="1"/>
          </p:cNvSpPr>
          <p:nvPr>
            <p:ph type="title"/>
          </p:nvPr>
        </p:nvSpPr>
        <p:spPr>
          <a:xfrm>
            <a:off x="1331913" y="103188"/>
            <a:ext cx="6911975"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1267" name="Rectangle 2"/>
          <p:cNvSpPr>
            <a:spLocks noGrp="1"/>
          </p:cNvSpPr>
          <p:nvPr>
            <p:ph idx="1"/>
          </p:nvPr>
        </p:nvSpPr>
        <p:spPr>
          <a:xfrm>
            <a:off x="228600" y="762000"/>
            <a:ext cx="8686800" cy="5867400"/>
          </a:xfrm>
          <a:ln/>
        </p:spPr>
        <p:txBody>
          <a:bodyPr vert="horz" wrap="square" lIns="91440" tIns="45720" rIns="91440" bIns="45720" anchor="t" anchorCtr="0"/>
          <a:p>
            <a:pPr eaLnBrk="1" hangingPunct="1">
              <a:lnSpc>
                <a:spcPct val="110000"/>
              </a:lnSpc>
              <a:buNone/>
            </a:pPr>
            <a:r>
              <a:rPr lang="zh-CN" altLang="en-US" sz="2800" dirty="0">
                <a:solidFill>
                  <a:srgbClr val="FF0000"/>
                </a:solidFill>
              </a:rPr>
              <a:t>例：银行转帐事务</a:t>
            </a:r>
            <a:endParaRPr lang="zh-CN" altLang="en-US" sz="2800" dirty="0">
              <a:solidFill>
                <a:srgbClr val="FF0000"/>
              </a:solidFill>
            </a:endParaRPr>
          </a:p>
          <a:p>
            <a:pPr lvl="1" eaLnBrk="1" hangingPunct="1">
              <a:lnSpc>
                <a:spcPct val="110000"/>
              </a:lnSpc>
              <a:buNone/>
            </a:pPr>
            <a:r>
              <a:rPr lang="zh-CN" altLang="en-US" dirty="0"/>
              <a:t>从帐户</a:t>
            </a:r>
            <a:r>
              <a:rPr lang="en-US" altLang="zh-CN" dirty="0"/>
              <a:t>A</a:t>
            </a:r>
            <a:r>
              <a:rPr lang="zh-CN" altLang="en-US" dirty="0"/>
              <a:t>取出</a:t>
            </a:r>
            <a:r>
              <a:rPr lang="en-US" altLang="zh-CN" dirty="0"/>
              <a:t>X</a:t>
            </a:r>
            <a:r>
              <a:rPr lang="zh-CN" altLang="en-US" dirty="0"/>
              <a:t>元，存入帐户</a:t>
            </a:r>
            <a:r>
              <a:rPr lang="en-US" altLang="zh-CN" dirty="0"/>
              <a:t>B</a:t>
            </a:r>
            <a:endParaRPr lang="en-US" altLang="zh-CN" dirty="0"/>
          </a:p>
          <a:p>
            <a:pPr lvl="1" eaLnBrk="1" hangingPunct="1">
              <a:lnSpc>
                <a:spcPct val="110000"/>
              </a:lnSpc>
            </a:pPr>
            <a:r>
              <a:rPr lang="zh-CN" altLang="en-US" dirty="0"/>
              <a:t>定义一个事务</a:t>
            </a:r>
            <a:r>
              <a:rPr lang="en-US" altLang="zh-CN" dirty="0"/>
              <a:t>:</a:t>
            </a:r>
            <a:endParaRPr lang="en-US" altLang="zh-CN" dirty="0"/>
          </a:p>
          <a:p>
            <a:pPr lvl="1" eaLnBrk="1" hangingPunct="1">
              <a:lnSpc>
                <a:spcPct val="110000"/>
              </a:lnSpc>
              <a:buNone/>
            </a:pPr>
            <a:r>
              <a:rPr lang="en-US" altLang="zh-CN" i="1" dirty="0"/>
              <a:t>	Update </a:t>
            </a:r>
            <a:r>
              <a:rPr lang="zh-CN" altLang="en-US" i="1" dirty="0"/>
              <a:t>存款 </a:t>
            </a:r>
            <a:r>
              <a:rPr lang="en-US" altLang="zh-CN" i="1" dirty="0"/>
              <a:t>set </a:t>
            </a:r>
            <a:r>
              <a:rPr lang="zh-CN" altLang="en-US" i="1" dirty="0"/>
              <a:t>金额 </a:t>
            </a:r>
            <a:r>
              <a:rPr lang="en-US" altLang="zh-CN" i="1" dirty="0"/>
              <a:t>= </a:t>
            </a:r>
            <a:r>
              <a:rPr lang="zh-CN" altLang="en-US" i="1" dirty="0"/>
              <a:t>金额 </a:t>
            </a:r>
            <a:r>
              <a:rPr lang="en-US" altLang="zh-CN" i="1" dirty="0"/>
              <a:t>– X where </a:t>
            </a:r>
            <a:r>
              <a:rPr lang="zh-CN" altLang="en-US" i="1" dirty="0"/>
              <a:t>帐户 </a:t>
            </a:r>
            <a:r>
              <a:rPr lang="en-US" altLang="zh-CN" i="1" dirty="0"/>
              <a:t>= A</a:t>
            </a:r>
            <a:endParaRPr lang="en-US" altLang="zh-CN" i="1" dirty="0"/>
          </a:p>
          <a:p>
            <a:pPr lvl="1" eaLnBrk="1" hangingPunct="1">
              <a:lnSpc>
                <a:spcPct val="110000"/>
              </a:lnSpc>
              <a:buNone/>
            </a:pPr>
            <a:r>
              <a:rPr lang="en-US" altLang="zh-CN" i="1" dirty="0"/>
              <a:t>	Update </a:t>
            </a:r>
            <a:r>
              <a:rPr lang="zh-CN" altLang="en-US" i="1" dirty="0"/>
              <a:t>存款 </a:t>
            </a:r>
            <a:r>
              <a:rPr lang="en-US" altLang="zh-CN" i="1" dirty="0"/>
              <a:t>set </a:t>
            </a:r>
            <a:r>
              <a:rPr lang="zh-CN" altLang="en-US" i="1" dirty="0"/>
              <a:t>金额 </a:t>
            </a:r>
            <a:r>
              <a:rPr lang="en-US" altLang="zh-CN" i="1" dirty="0"/>
              <a:t>= </a:t>
            </a:r>
            <a:r>
              <a:rPr lang="zh-CN" altLang="en-US" i="1" dirty="0"/>
              <a:t>金额 </a:t>
            </a:r>
            <a:r>
              <a:rPr lang="en-US" altLang="zh-CN" i="1" dirty="0"/>
              <a:t>+ X where </a:t>
            </a:r>
            <a:r>
              <a:rPr lang="zh-CN" altLang="en-US" i="1" dirty="0"/>
              <a:t>帐户</a:t>
            </a:r>
            <a:r>
              <a:rPr lang="en-US" altLang="zh-CN" i="1" dirty="0"/>
              <a:t>= B</a:t>
            </a:r>
            <a:endParaRPr lang="en-US" altLang="zh-CN" i="1" dirty="0"/>
          </a:p>
          <a:p>
            <a:pPr lvl="1" eaLnBrk="1" hangingPunct="1"/>
            <a:r>
              <a:rPr lang="zh-CN" altLang="en-US" dirty="0"/>
              <a:t>这两个操作要么全做，要么全不做</a:t>
            </a:r>
            <a:endParaRPr lang="zh-CN" altLang="en-US" dirty="0"/>
          </a:p>
          <a:p>
            <a:pPr lvl="2" eaLnBrk="1" hangingPunct="1">
              <a:buFont typeface="Wingdings" panose="05000000000000000000" pitchFamily="2" charset="2"/>
              <a:buChar char="§"/>
            </a:pPr>
            <a:r>
              <a:rPr lang="zh-CN" altLang="en-US" sz="2800" dirty="0"/>
              <a:t>全做或者全不做，数据库都处于一致性状态</a:t>
            </a:r>
            <a:endParaRPr lang="zh-CN" altLang="en-US" sz="2800" dirty="0"/>
          </a:p>
          <a:p>
            <a:pPr lvl="2" eaLnBrk="1" hangingPunct="1">
              <a:buFont typeface="Wingdings" panose="05000000000000000000" pitchFamily="2" charset="2"/>
              <a:buChar char="§"/>
            </a:pPr>
            <a:r>
              <a:rPr lang="zh-CN" altLang="en-US" sz="2800" dirty="0"/>
              <a:t>如果只做一个操作，数据库就处于不一致性状态</a:t>
            </a:r>
            <a:endParaRPr lang="zh-CN" altLang="en-US" sz="2800" dirty="0"/>
          </a:p>
        </p:txBody>
      </p:sp>
      <p:sp>
        <p:nvSpPr>
          <p:cNvPr id="11268" name="Rectangle 3"/>
          <p:cNvSpPr>
            <a:spLocks noGrp="1"/>
          </p:cNvSpPr>
          <p:nvPr>
            <p:ph type="title"/>
          </p:nvPr>
        </p:nvSpPr>
        <p:spPr>
          <a:xfrm>
            <a:off x="1258888" y="42863"/>
            <a:ext cx="6913562"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2291" name="Rectangle 2"/>
          <p:cNvSpPr>
            <a:spLocks noGrp="1"/>
          </p:cNvSpPr>
          <p:nvPr>
            <p:ph idx="1"/>
          </p:nvPr>
        </p:nvSpPr>
        <p:spPr>
          <a:xfrm>
            <a:off x="228600" y="762000"/>
            <a:ext cx="8686800" cy="5029200"/>
          </a:xfrm>
          <a:ln/>
        </p:spPr>
        <p:txBody>
          <a:bodyPr vert="horz" wrap="square" lIns="91440" tIns="45720" rIns="91440" bIns="45720" anchor="t" anchorCtr="0"/>
          <a:p>
            <a:pPr eaLnBrk="1" hangingPunct="1">
              <a:lnSpc>
                <a:spcPct val="140000"/>
              </a:lnSpc>
              <a:buNone/>
            </a:pPr>
            <a:r>
              <a:rPr lang="en-US" altLang="zh-CN" sz="3600" dirty="0">
                <a:solidFill>
                  <a:srgbClr val="FF0000"/>
                </a:solidFill>
              </a:rPr>
              <a:t>3. </a:t>
            </a:r>
            <a:r>
              <a:rPr lang="zh-CN" altLang="en-US" sz="3600" dirty="0">
                <a:solidFill>
                  <a:srgbClr val="FF0000"/>
                </a:solidFill>
              </a:rPr>
              <a:t>隔离性</a:t>
            </a:r>
            <a:endParaRPr lang="zh-CN" altLang="en-US" sz="3600" dirty="0">
              <a:solidFill>
                <a:srgbClr val="FF0000"/>
              </a:solidFill>
            </a:endParaRPr>
          </a:p>
          <a:p>
            <a:pPr eaLnBrk="1" hangingPunct="1">
              <a:lnSpc>
                <a:spcPct val="130000"/>
              </a:lnSpc>
              <a:buNone/>
            </a:pPr>
            <a:r>
              <a:rPr lang="zh-CN" altLang="en-US" sz="2800" dirty="0">
                <a:solidFill>
                  <a:schemeClr val="tx1"/>
                </a:solidFill>
              </a:rPr>
              <a:t>对并发执行而言一个事务的执行不能被其他事务干扰</a:t>
            </a:r>
            <a:endParaRPr lang="zh-CN" altLang="en-US" sz="2800" dirty="0">
              <a:solidFill>
                <a:schemeClr val="tx1"/>
              </a:solidFill>
            </a:endParaRPr>
          </a:p>
          <a:p>
            <a:pPr eaLnBrk="1" hangingPunct="1">
              <a:lnSpc>
                <a:spcPct val="130000"/>
              </a:lnSpc>
              <a:buClr>
                <a:srgbClr val="0000CC"/>
              </a:buClr>
            </a:pPr>
            <a:r>
              <a:rPr lang="zh-CN" altLang="en-US" sz="2800" dirty="0">
                <a:solidFill>
                  <a:schemeClr val="tx1"/>
                </a:solidFill>
              </a:rPr>
              <a:t>一个事务内部的操作及使用的数据对其他并发事务是隔离的</a:t>
            </a:r>
            <a:endParaRPr lang="zh-CN" altLang="en-US" sz="2800" dirty="0">
              <a:solidFill>
                <a:schemeClr val="tx1"/>
              </a:solidFill>
            </a:endParaRPr>
          </a:p>
          <a:p>
            <a:pPr eaLnBrk="1" hangingPunct="1">
              <a:lnSpc>
                <a:spcPct val="130000"/>
              </a:lnSpc>
              <a:buClr>
                <a:srgbClr val="0000CC"/>
              </a:buClr>
            </a:pPr>
            <a:r>
              <a:rPr lang="zh-CN" altLang="en-US" sz="2800" dirty="0">
                <a:solidFill>
                  <a:schemeClr val="tx1"/>
                </a:solidFill>
              </a:rPr>
              <a:t>并发执行的各个事务之间不能互相干扰</a:t>
            </a:r>
            <a:endParaRPr lang="zh-CN" altLang="en-US" sz="2800" dirty="0">
              <a:solidFill>
                <a:schemeClr val="tx1"/>
              </a:solidFill>
            </a:endParaRPr>
          </a:p>
        </p:txBody>
      </p:sp>
      <p:sp>
        <p:nvSpPr>
          <p:cNvPr id="12292" name="Rectangle 3"/>
          <p:cNvSpPr>
            <a:spLocks noGrp="1"/>
          </p:cNvSpPr>
          <p:nvPr>
            <p:ph type="title"/>
          </p:nvPr>
        </p:nvSpPr>
        <p:spPr>
          <a:xfrm>
            <a:off x="1258888" y="71438"/>
            <a:ext cx="7199312"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3315" name="Rectangle 2"/>
          <p:cNvSpPr>
            <a:spLocks noGrp="1"/>
          </p:cNvSpPr>
          <p:nvPr>
            <p:ph idx="1"/>
          </p:nvPr>
        </p:nvSpPr>
        <p:spPr>
          <a:xfrm>
            <a:off x="304800" y="914400"/>
            <a:ext cx="8686800" cy="2057400"/>
          </a:xfrm>
          <a:ln/>
        </p:spPr>
        <p:txBody>
          <a:bodyPr vert="horz" wrap="square" lIns="91440" tIns="45720" rIns="91440" bIns="45720" anchor="t" anchorCtr="0"/>
          <a:p>
            <a:pPr eaLnBrk="1" hangingPunct="1">
              <a:lnSpc>
                <a:spcPct val="130000"/>
              </a:lnSpc>
              <a:buNone/>
            </a:pPr>
            <a:r>
              <a:rPr lang="en-US" altLang="zh-CN" sz="2800" dirty="0">
                <a:solidFill>
                  <a:schemeClr val="tx1"/>
                </a:solidFill>
              </a:rPr>
              <a:t>	</a:t>
            </a:r>
            <a:r>
              <a:rPr lang="zh-CN" altLang="en-US" sz="2800" dirty="0">
                <a:solidFill>
                  <a:schemeClr val="tx1"/>
                </a:solidFill>
              </a:rPr>
              <a:t>下列两个并发执行的事务</a:t>
            </a:r>
            <a:r>
              <a:rPr lang="en-US" altLang="zh-CN" sz="2800" dirty="0">
                <a:solidFill>
                  <a:schemeClr val="tx1"/>
                </a:solidFill>
              </a:rPr>
              <a:t>T1</a:t>
            </a:r>
            <a:r>
              <a:rPr lang="zh-CN" altLang="en-US" sz="2800" dirty="0">
                <a:solidFill>
                  <a:schemeClr val="tx1"/>
                </a:solidFill>
              </a:rPr>
              <a:t>和</a:t>
            </a:r>
            <a:r>
              <a:rPr lang="en-US" altLang="zh-CN" sz="2800" dirty="0">
                <a:solidFill>
                  <a:schemeClr val="tx1"/>
                </a:solidFill>
              </a:rPr>
              <a:t>T2</a:t>
            </a:r>
            <a:r>
              <a:rPr lang="zh-CN" altLang="en-US" sz="2800" dirty="0">
                <a:solidFill>
                  <a:schemeClr val="tx1"/>
                </a:solidFill>
              </a:rPr>
              <a:t>，如按表中所示顺序执行，则事务</a:t>
            </a:r>
            <a:r>
              <a:rPr lang="en-US" altLang="zh-CN" sz="2800" dirty="0">
                <a:solidFill>
                  <a:schemeClr val="tx1"/>
                </a:solidFill>
              </a:rPr>
              <a:t>T1</a:t>
            </a:r>
            <a:r>
              <a:rPr lang="zh-CN" altLang="en-US" sz="2800" dirty="0">
                <a:solidFill>
                  <a:schemeClr val="tx1"/>
                </a:solidFill>
              </a:rPr>
              <a:t>的修改被</a:t>
            </a:r>
            <a:r>
              <a:rPr lang="en-US" altLang="zh-CN" sz="2800" dirty="0">
                <a:solidFill>
                  <a:schemeClr val="tx1"/>
                </a:solidFill>
              </a:rPr>
              <a:t>T2</a:t>
            </a:r>
            <a:r>
              <a:rPr lang="zh-CN" altLang="en-US" sz="2800" dirty="0">
                <a:solidFill>
                  <a:schemeClr val="tx1"/>
                </a:solidFill>
              </a:rPr>
              <a:t>覆盖了，即</a:t>
            </a:r>
            <a:r>
              <a:rPr lang="en-US" altLang="zh-CN" sz="2800" dirty="0">
                <a:solidFill>
                  <a:schemeClr val="tx1"/>
                </a:solidFill>
              </a:rPr>
              <a:t>T2</a:t>
            </a:r>
            <a:r>
              <a:rPr lang="zh-CN" altLang="en-US" sz="2800" dirty="0">
                <a:solidFill>
                  <a:schemeClr val="tx1"/>
                </a:solidFill>
              </a:rPr>
              <a:t>干挠了</a:t>
            </a:r>
            <a:r>
              <a:rPr lang="en-US" altLang="zh-CN" sz="2800" dirty="0">
                <a:solidFill>
                  <a:schemeClr val="tx1"/>
                </a:solidFill>
              </a:rPr>
              <a:t>T1</a:t>
            </a:r>
            <a:r>
              <a:rPr lang="zh-CN" altLang="en-US" sz="2800" dirty="0">
                <a:solidFill>
                  <a:schemeClr val="tx1"/>
                </a:solidFill>
              </a:rPr>
              <a:t>。违背了事务的隔离性，是错误的调度。</a:t>
            </a:r>
            <a:endParaRPr lang="zh-CN" altLang="en-US" sz="2800" dirty="0">
              <a:solidFill>
                <a:schemeClr val="tx1"/>
              </a:solidFill>
            </a:endParaRPr>
          </a:p>
        </p:txBody>
      </p:sp>
      <p:sp>
        <p:nvSpPr>
          <p:cNvPr id="13316" name="Rectangle 3"/>
          <p:cNvSpPr>
            <a:spLocks noGrp="1"/>
          </p:cNvSpPr>
          <p:nvPr>
            <p:ph type="title"/>
          </p:nvPr>
        </p:nvSpPr>
        <p:spPr>
          <a:xfrm>
            <a:off x="1187450" y="71438"/>
            <a:ext cx="7129463"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graphicFrame>
        <p:nvGraphicFramePr>
          <p:cNvPr id="17412" name="Group 4"/>
          <p:cNvGraphicFramePr>
            <a:graphicFrameLocks noGrp="1"/>
          </p:cNvGraphicFramePr>
          <p:nvPr/>
        </p:nvGraphicFramePr>
        <p:xfrm>
          <a:off x="685800" y="3429000"/>
          <a:ext cx="8001000" cy="2590800"/>
        </p:xfrm>
        <a:graphic>
          <a:graphicData uri="http://schemas.openxmlformats.org/drawingml/2006/table">
            <a:tbl>
              <a:tblPr/>
              <a:tblGrid>
                <a:gridCol w="4267200"/>
                <a:gridCol w="3733800"/>
              </a:tblGrid>
              <a:tr h="2590800">
                <a:tc>
                  <a:txBody>
                    <a:bodyPr/>
                    <a:lstStyle>
                      <a:lvl1pPr marL="533400" indent="-533400"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marL="914400" indent="-457200"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marL="1295400" indent="-381000" algn="l">
                        <a:spcBef>
                          <a:spcPct val="20000"/>
                        </a:spcBef>
                        <a:defRPr kumimoji="1" sz="2000" b="1">
                          <a:solidFill>
                            <a:schemeClr val="tx1"/>
                          </a:solidFill>
                          <a:latin typeface="Times New Roman" panose="02020603050405020304" pitchFamily="18" charset="0"/>
                          <a:ea typeface="楷体_GB2312" pitchFamily="49" charset="-122"/>
                        </a:defRPr>
                      </a:lvl3pPr>
                      <a:lvl4pPr marL="1714500" indent="-342900"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marL="2171700" indent="-342900"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marL="2628900" indent="-3429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marL="3086100" indent="-3429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marL="3543300" indent="-3429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marL="4000500" indent="-342900"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533400" marR="0" lvl="0" indent="-53340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事务</a:t>
                      </a:r>
                      <a:r>
                        <a:rPr kumimoji="1" lang="en-US" altLang="zh-CN"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T1</a:t>
                      </a:r>
                      <a:endParaRPr kumimoji="1" lang="en-US" altLang="zh-CN"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p>
                      <a:pPr marL="533400" marR="0" lvl="0" indent="-5334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533400" marR="0" lvl="0" indent="-5334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533400" marR="0" lvl="0" indent="-5334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  A=A-1,</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写回</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A=15</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533400" marR="0" lvl="0" indent="-53340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事务</a:t>
                      </a:r>
                      <a:r>
                        <a:rPr kumimoji="1" lang="en-US" altLang="zh-CN"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rPr>
                        <a:t>T2</a:t>
                      </a:r>
                      <a:endParaRPr kumimoji="1" lang="en-US" altLang="zh-CN"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rgbClr val="0000CC"/>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读</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A=16</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A=A-3,</a:t>
                      </a: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写回</a:t>
                      </a:r>
                      <a:r>
                        <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A=13</a:t>
                      </a:r>
                      <a:endParaRPr kumimoji="1" lang="en-US" altLang="zh-CN"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4339" name="Rectangle 2"/>
          <p:cNvSpPr>
            <a:spLocks noGrp="1"/>
          </p:cNvSpPr>
          <p:nvPr>
            <p:ph idx="1"/>
          </p:nvPr>
        </p:nvSpPr>
        <p:spPr>
          <a:xfrm>
            <a:off x="228600" y="762000"/>
            <a:ext cx="8686800" cy="5029200"/>
          </a:xfrm>
          <a:ln/>
        </p:spPr>
        <p:txBody>
          <a:bodyPr vert="horz" wrap="square" lIns="91440" tIns="45720" rIns="91440" bIns="45720" anchor="t" anchorCtr="0"/>
          <a:p>
            <a:pPr eaLnBrk="1" hangingPunct="1">
              <a:lnSpc>
                <a:spcPct val="140000"/>
              </a:lnSpc>
              <a:buNone/>
            </a:pPr>
            <a:r>
              <a:rPr lang="en-US" altLang="zh-CN" sz="3600" dirty="0">
                <a:solidFill>
                  <a:srgbClr val="FF0000"/>
                </a:solidFill>
              </a:rPr>
              <a:t>4. </a:t>
            </a:r>
            <a:r>
              <a:rPr lang="zh-CN" altLang="en-US" sz="3600" dirty="0">
                <a:solidFill>
                  <a:srgbClr val="FF0000"/>
                </a:solidFill>
              </a:rPr>
              <a:t>持久性</a:t>
            </a:r>
            <a:r>
              <a:rPr lang="zh-CN" altLang="en-US" sz="3600" dirty="0"/>
              <a:t>（</a:t>
            </a:r>
            <a:r>
              <a:rPr lang="en-US" altLang="zh-CN" sz="3600" dirty="0"/>
              <a:t>Durability</a:t>
            </a:r>
            <a:r>
              <a:rPr lang="zh-CN" altLang="en-US" sz="3600" dirty="0"/>
              <a:t>）</a:t>
            </a:r>
            <a:endParaRPr lang="zh-CN" altLang="en-US" sz="3600" dirty="0">
              <a:solidFill>
                <a:srgbClr val="FF0000"/>
              </a:solidFill>
            </a:endParaRPr>
          </a:p>
          <a:p>
            <a:pPr eaLnBrk="1" hangingPunct="1">
              <a:buNone/>
            </a:pPr>
            <a:r>
              <a:rPr lang="zh-CN" altLang="en-US" dirty="0"/>
              <a:t>	</a:t>
            </a:r>
            <a:r>
              <a:rPr lang="zh-CN" altLang="en-US" dirty="0">
                <a:solidFill>
                  <a:schemeClr val="tx1"/>
                </a:solidFill>
              </a:rPr>
              <a:t>持续性也称永久性（</a:t>
            </a:r>
            <a:r>
              <a:rPr lang="en-US" altLang="zh-CN" dirty="0">
                <a:solidFill>
                  <a:schemeClr val="tx1"/>
                </a:solidFill>
              </a:rPr>
              <a:t>Permanence</a:t>
            </a:r>
            <a:r>
              <a:rPr lang="zh-CN" altLang="en-US" dirty="0">
                <a:solidFill>
                  <a:schemeClr val="tx1"/>
                </a:solidFill>
              </a:rPr>
              <a:t>）</a:t>
            </a:r>
            <a:endParaRPr lang="zh-CN" altLang="en-US" dirty="0">
              <a:solidFill>
                <a:schemeClr val="tx1"/>
              </a:solidFill>
            </a:endParaRPr>
          </a:p>
          <a:p>
            <a:pPr lvl="1" eaLnBrk="1" hangingPunct="1">
              <a:lnSpc>
                <a:spcPct val="150000"/>
              </a:lnSpc>
            </a:pPr>
            <a:r>
              <a:rPr lang="zh-CN" altLang="en-US" dirty="0"/>
              <a:t>一个事务一旦提交，它对数据库中数据的改变就应该是永久性的。</a:t>
            </a:r>
            <a:endParaRPr lang="zh-CN" altLang="en-US" dirty="0"/>
          </a:p>
          <a:p>
            <a:pPr lvl="1" eaLnBrk="1" hangingPunct="1">
              <a:lnSpc>
                <a:spcPct val="150000"/>
              </a:lnSpc>
            </a:pPr>
            <a:r>
              <a:rPr lang="zh-CN" altLang="en-US" dirty="0"/>
              <a:t>接下来的其他操作或故障不应该对其执行结果有任何影响。</a:t>
            </a:r>
            <a:endParaRPr lang="zh-CN" altLang="en-US" dirty="0"/>
          </a:p>
          <a:p>
            <a:pPr lvl="1" eaLnBrk="1" hangingPunct="1">
              <a:lnSpc>
                <a:spcPct val="150000"/>
              </a:lnSpc>
            </a:pPr>
            <a:endParaRPr lang="zh-CN" altLang="en-US" sz="2400" dirty="0"/>
          </a:p>
        </p:txBody>
      </p:sp>
      <p:sp>
        <p:nvSpPr>
          <p:cNvPr id="14340" name="Rectangle 3"/>
          <p:cNvSpPr>
            <a:spLocks noGrp="1"/>
          </p:cNvSpPr>
          <p:nvPr>
            <p:ph type="title"/>
          </p:nvPr>
        </p:nvSpPr>
        <p:spPr>
          <a:xfrm>
            <a:off x="1331913" y="57150"/>
            <a:ext cx="6911975"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p:nvPr/>
        </p:nvSpPr>
        <p:spPr>
          <a:xfrm>
            <a:off x="217488" y="765175"/>
            <a:ext cx="8963025" cy="55387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dirty="0">
                <a:solidFill>
                  <a:schemeClr val="tx1"/>
                </a:solidFill>
              </a:rPr>
              <a:t>4</a:t>
            </a:r>
            <a:r>
              <a:rPr lang="zh-CN" altLang="en-US" dirty="0">
                <a:solidFill>
                  <a:schemeClr val="tx1"/>
                </a:solidFill>
              </a:rPr>
              <a:t>）定义与目标</a:t>
            </a:r>
            <a:endParaRPr lang="en-US" altLang="zh-CN" dirty="0">
              <a:solidFill>
                <a:schemeClr val="tx1"/>
              </a:solidFill>
            </a:endParaRPr>
          </a:p>
          <a:p>
            <a:pPr marL="0" lvl="0" indent="0">
              <a:spcBef>
                <a:spcPct val="0"/>
              </a:spcBef>
              <a:buClrTx/>
              <a:buFontTx/>
              <a:buNone/>
            </a:pPr>
            <a:r>
              <a:rPr lang="zh-CN" altLang="en-US" sz="2800" dirty="0">
                <a:solidFill>
                  <a:schemeClr val="tx1"/>
                </a:solidFill>
                <a:latin typeface="宋体" panose="02010600030101010101" pitchFamily="2" charset="-122"/>
              </a:rPr>
              <a:t>①</a:t>
            </a:r>
            <a:r>
              <a:rPr lang="zh-CN" altLang="en-US" sz="2800" dirty="0">
                <a:solidFill>
                  <a:schemeClr val="tx1"/>
                </a:solidFill>
              </a:rPr>
              <a:t> 定义</a:t>
            </a:r>
            <a:endParaRPr lang="zh-CN" altLang="en-US" sz="2800" dirty="0">
              <a:solidFill>
                <a:schemeClr val="tx1"/>
              </a:solidFill>
            </a:endParaRPr>
          </a:p>
          <a:p>
            <a:pPr marL="0" lvl="0" indent="0">
              <a:spcBef>
                <a:spcPct val="0"/>
              </a:spcBef>
              <a:buClrTx/>
              <a:buFontTx/>
              <a:buNone/>
            </a:pPr>
            <a:r>
              <a:rPr lang="en-US" altLang="zh-CN" sz="2800" dirty="0">
                <a:solidFill>
                  <a:schemeClr val="tx1"/>
                </a:solidFill>
              </a:rPr>
              <a:t>        </a:t>
            </a:r>
            <a:r>
              <a:rPr lang="zh-CN" altLang="en-US" sz="2800" dirty="0">
                <a:solidFill>
                  <a:schemeClr val="tx1"/>
                </a:solidFill>
              </a:rPr>
              <a:t>一个</a:t>
            </a:r>
            <a:r>
              <a:rPr lang="zh-CN" altLang="en-US" sz="2800" dirty="0">
                <a:solidFill>
                  <a:srgbClr val="FF0000"/>
                </a:solidFill>
              </a:rPr>
              <a:t>已提交</a:t>
            </a:r>
            <a:r>
              <a:rPr lang="zh-CN" altLang="en-US" sz="2800" dirty="0">
                <a:solidFill>
                  <a:schemeClr val="tx1"/>
                </a:solidFill>
              </a:rPr>
              <a:t>事务对数据库的更新是永久性的，不受后来故障的影响。</a:t>
            </a:r>
            <a:endParaRPr lang="zh-CN" altLang="en-US" sz="2800" dirty="0">
              <a:solidFill>
                <a:schemeClr val="tx1"/>
              </a:solidFill>
            </a:endParaRPr>
          </a:p>
          <a:p>
            <a:pPr marL="0" lvl="0" indent="0">
              <a:spcBef>
                <a:spcPct val="0"/>
              </a:spcBef>
              <a:buClrTx/>
              <a:buFontTx/>
              <a:buNone/>
            </a:pPr>
            <a:r>
              <a:rPr lang="zh-CN" altLang="en-US" sz="2800" dirty="0">
                <a:solidFill>
                  <a:schemeClr val="tx1"/>
                </a:solidFill>
                <a:latin typeface="宋体" panose="02010600030101010101" pitchFamily="2" charset="-122"/>
              </a:rPr>
              <a:t>②</a:t>
            </a:r>
            <a:r>
              <a:rPr lang="zh-CN" altLang="en-US" sz="2800" dirty="0">
                <a:solidFill>
                  <a:schemeClr val="tx1"/>
                </a:solidFill>
              </a:rPr>
              <a:t> 目标：保证数据库可靠性</a:t>
            </a:r>
            <a:endParaRPr lang="zh-CN" altLang="en-US" sz="2800" dirty="0">
              <a:solidFill>
                <a:schemeClr val="tx1"/>
              </a:solidFill>
            </a:endParaRPr>
          </a:p>
          <a:p>
            <a:pPr marL="0" lvl="0" indent="0">
              <a:spcBef>
                <a:spcPct val="50000"/>
              </a:spcBef>
              <a:buClrTx/>
              <a:buFontTx/>
              <a:buNone/>
            </a:pPr>
            <a:r>
              <a:rPr lang="en-US" altLang="zh-CN" sz="2800" dirty="0">
                <a:solidFill>
                  <a:schemeClr val="tx1"/>
                </a:solidFill>
                <a:latin typeface="宋体" panose="02010600030101010101" pitchFamily="2" charset="-122"/>
              </a:rPr>
              <a:t>③</a:t>
            </a:r>
            <a:r>
              <a:rPr lang="en-US" altLang="zh-CN" sz="2800" dirty="0">
                <a:solidFill>
                  <a:schemeClr val="tx1"/>
                </a:solidFill>
              </a:rPr>
              <a:t> </a:t>
            </a:r>
            <a:r>
              <a:rPr lang="zh-CN" altLang="en-US" sz="2800" dirty="0">
                <a:solidFill>
                  <a:schemeClr val="tx1"/>
                </a:solidFill>
              </a:rPr>
              <a:t>技术</a:t>
            </a:r>
            <a:endParaRPr lang="zh-CN" altLang="en-US" sz="2800" dirty="0">
              <a:solidFill>
                <a:schemeClr val="tx1"/>
              </a:solidFill>
            </a:endParaRPr>
          </a:p>
          <a:p>
            <a:pPr marL="0" lvl="0" indent="0">
              <a:spcBef>
                <a:spcPct val="50000"/>
              </a:spcBef>
              <a:buClrTx/>
              <a:buFontTx/>
              <a:buNone/>
            </a:pPr>
            <a:r>
              <a:rPr lang="en-US" altLang="zh-CN" sz="2800" dirty="0">
                <a:solidFill>
                  <a:schemeClr val="tx1"/>
                </a:solidFill>
              </a:rPr>
              <a:t>       </a:t>
            </a:r>
            <a:r>
              <a:rPr lang="zh-CN" altLang="en-US" sz="2800" dirty="0">
                <a:solidFill>
                  <a:schemeClr val="tx1"/>
                </a:solidFill>
              </a:rPr>
              <a:t>提交持久（内存是挥发装置，外存是抗挥发装置）</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rPr>
              <a:t>      （事务终止前应完成</a:t>
            </a:r>
            <a:r>
              <a:rPr lang="en-US" altLang="zh-CN" sz="2800" dirty="0">
                <a:solidFill>
                  <a:schemeClr val="tx1"/>
                </a:solidFill>
              </a:rPr>
              <a:t>commit</a:t>
            </a:r>
            <a:r>
              <a:rPr lang="zh-CN" altLang="en-US" sz="2800" dirty="0">
                <a:solidFill>
                  <a:schemeClr val="tx1"/>
                </a:solidFill>
              </a:rPr>
              <a:t>）</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rPr>
              <a:t>       备份    ＋    日志。</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latin typeface="宋体" panose="02010600030101010101" pitchFamily="2" charset="-122"/>
              </a:rPr>
              <a:t>④</a:t>
            </a:r>
            <a:r>
              <a:rPr lang="zh-CN" altLang="en-US" sz="2800" dirty="0">
                <a:solidFill>
                  <a:schemeClr val="tx1"/>
                </a:solidFill>
              </a:rPr>
              <a:t> 实现：持久性需要依靠</a:t>
            </a:r>
            <a:r>
              <a:rPr lang="en-US" altLang="zh-CN" sz="2800" dirty="0">
                <a:solidFill>
                  <a:schemeClr val="tx1"/>
                </a:solidFill>
              </a:rPr>
              <a:t>DBMS</a:t>
            </a:r>
            <a:r>
              <a:rPr lang="zh-CN" altLang="en-US" sz="2800" dirty="0">
                <a:solidFill>
                  <a:schemeClr val="tx1"/>
                </a:solidFill>
              </a:rPr>
              <a:t>的</a:t>
            </a:r>
            <a:r>
              <a:rPr lang="zh-CN" altLang="en-US" sz="2800" dirty="0">
                <a:solidFill>
                  <a:schemeClr val="tx1"/>
                </a:solidFill>
                <a:latin typeface="宋体" panose="02010600030101010101" pitchFamily="2" charset="-122"/>
              </a:rPr>
              <a:t>恢复子系统。</a:t>
            </a:r>
            <a:r>
              <a:rPr lang="zh-CN" altLang="en-US" sz="2800" dirty="0">
                <a:solidFill>
                  <a:schemeClr val="tx1"/>
                </a:solidFill>
              </a:rPr>
              <a:t> </a:t>
            </a:r>
            <a:endParaRPr lang="zh-CN" altLang="en-US" sz="2800" dirty="0">
              <a:solidFill>
                <a:schemeClr val="tx1"/>
              </a:solidFill>
            </a:endParaRPr>
          </a:p>
        </p:txBody>
      </p:sp>
      <p:sp>
        <p:nvSpPr>
          <p:cNvPr id="15363" name="灯片编号占位符 2"/>
          <p:cNvSpPr txBox="1">
            <a:spLocks noGrp="1"/>
          </p:cNvSpPr>
          <p:nvPr>
            <p:ph type="sldNum" sz="quarter" idx="12"/>
          </p:nvPr>
        </p:nvSpPr>
        <p:spPr>
          <a:ln/>
        </p:spPr>
        <p:txBody>
          <a:bodyPr/>
          <a:p>
            <a:pPr marL="0" indent="0" algn="r" eaLnBrk="1" hangingPunct="1">
              <a:spcBef>
                <a:spcPct val="0"/>
              </a:spcBef>
              <a:buClrTx/>
              <a:buFontTx/>
              <a:buNone/>
            </a:pPr>
            <a:fld id="{9A0DB2DC-4C9A-4742-B13C-FB6460FD3503}" type="slidenum">
              <a:rPr lang="en-US" altLang="zh-CN" sz="1400" b="0" dirty="0">
                <a:solidFill>
                  <a:schemeClr val="tx1"/>
                </a:solidFill>
              </a:rPr>
            </a:fld>
            <a:endParaRPr lang="en-US" altLang="zh-CN" sz="1400" b="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6387" name="Rectangle 2"/>
          <p:cNvSpPr>
            <a:spLocks noGrp="1"/>
          </p:cNvSpPr>
          <p:nvPr>
            <p:ph idx="1"/>
          </p:nvPr>
        </p:nvSpPr>
        <p:spPr>
          <a:xfrm>
            <a:off x="533400" y="1066800"/>
            <a:ext cx="7848600" cy="5029200"/>
          </a:xfrm>
          <a:ln/>
        </p:spPr>
        <p:txBody>
          <a:bodyPr vert="horz" wrap="square" lIns="91440" tIns="45720" rIns="91440" bIns="45720" anchor="t" anchorCtr="0"/>
          <a:p>
            <a:pPr eaLnBrk="1" hangingPunct="1">
              <a:lnSpc>
                <a:spcPct val="90000"/>
              </a:lnSpc>
              <a:spcBef>
                <a:spcPct val="40000"/>
              </a:spcBef>
            </a:pPr>
            <a:r>
              <a:rPr lang="zh-CN" altLang="en-US" dirty="0">
                <a:solidFill>
                  <a:schemeClr val="tx1"/>
                </a:solidFill>
              </a:rPr>
              <a:t>保证事务</a:t>
            </a:r>
            <a:r>
              <a:rPr lang="en-US" altLang="zh-CN" dirty="0">
                <a:solidFill>
                  <a:schemeClr val="tx1"/>
                </a:solidFill>
              </a:rPr>
              <a:t>ACID</a:t>
            </a:r>
            <a:r>
              <a:rPr lang="zh-CN" altLang="en-US" dirty="0">
                <a:solidFill>
                  <a:schemeClr val="tx1"/>
                </a:solidFill>
              </a:rPr>
              <a:t>特性是事务处理的任务</a:t>
            </a:r>
            <a:endParaRPr lang="zh-CN" altLang="en-US" dirty="0">
              <a:solidFill>
                <a:schemeClr val="tx1"/>
              </a:solidFill>
            </a:endParaRPr>
          </a:p>
          <a:p>
            <a:pPr eaLnBrk="1" hangingPunct="1">
              <a:lnSpc>
                <a:spcPct val="90000"/>
              </a:lnSpc>
              <a:spcBef>
                <a:spcPct val="40000"/>
              </a:spcBef>
            </a:pPr>
            <a:r>
              <a:rPr lang="zh-CN" altLang="en-US" dirty="0">
                <a:solidFill>
                  <a:schemeClr val="tx1"/>
                </a:solidFill>
              </a:rPr>
              <a:t>破坏事务</a:t>
            </a:r>
            <a:r>
              <a:rPr lang="en-US" altLang="zh-CN" dirty="0">
                <a:solidFill>
                  <a:schemeClr val="tx1"/>
                </a:solidFill>
              </a:rPr>
              <a:t>ACID</a:t>
            </a:r>
            <a:r>
              <a:rPr lang="zh-CN" altLang="en-US" dirty="0">
                <a:solidFill>
                  <a:schemeClr val="tx1"/>
                </a:solidFill>
              </a:rPr>
              <a:t>特性的因素</a:t>
            </a:r>
            <a:endParaRPr lang="zh-CN" altLang="en-US" dirty="0">
              <a:solidFill>
                <a:schemeClr val="tx1"/>
              </a:solidFill>
            </a:endParaRPr>
          </a:p>
          <a:p>
            <a:pPr lvl="1" eaLnBrk="1" hangingPunct="1">
              <a:lnSpc>
                <a:spcPct val="90000"/>
              </a:lnSpc>
              <a:spcBef>
                <a:spcPct val="40000"/>
              </a:spcBef>
            </a:pPr>
            <a:r>
              <a:rPr lang="zh-CN" altLang="en-US" sz="3200" dirty="0"/>
              <a:t>事务在运行过程中被强行停止</a:t>
            </a:r>
            <a:endParaRPr lang="zh-CN" altLang="en-US" sz="3200" dirty="0"/>
          </a:p>
          <a:p>
            <a:pPr lvl="1" eaLnBrk="1" hangingPunct="1">
              <a:lnSpc>
                <a:spcPct val="90000"/>
              </a:lnSpc>
              <a:spcBef>
                <a:spcPct val="40000"/>
              </a:spcBef>
            </a:pPr>
            <a:r>
              <a:rPr lang="zh-CN" altLang="en-US" sz="3200" dirty="0"/>
              <a:t>多个事务并行运行时，不同事务的操作交叉执行</a:t>
            </a:r>
            <a:endParaRPr lang="zh-CN" altLang="en-US" sz="3200" dirty="0"/>
          </a:p>
          <a:p>
            <a:pPr eaLnBrk="1" hangingPunct="1">
              <a:lnSpc>
                <a:spcPct val="90000"/>
              </a:lnSpc>
              <a:spcBef>
                <a:spcPct val="40000"/>
              </a:spcBef>
            </a:pPr>
            <a:r>
              <a:rPr lang="en-US" altLang="zh-CN" dirty="0">
                <a:solidFill>
                  <a:schemeClr val="tx1"/>
                </a:solidFill>
              </a:rPr>
              <a:t>DBMS</a:t>
            </a:r>
            <a:r>
              <a:rPr lang="zh-CN" altLang="en-US" dirty="0">
                <a:solidFill>
                  <a:schemeClr val="tx1"/>
                </a:solidFill>
              </a:rPr>
              <a:t>的恢复机制和并发控制机制来保证</a:t>
            </a:r>
            <a:endParaRPr lang="zh-CN" altLang="en-US" dirty="0">
              <a:solidFill>
                <a:schemeClr val="tx1"/>
              </a:solidFill>
            </a:endParaRPr>
          </a:p>
        </p:txBody>
      </p:sp>
      <p:sp>
        <p:nvSpPr>
          <p:cNvPr id="16388" name="Rectangle 3"/>
          <p:cNvSpPr>
            <a:spLocks noGrp="1"/>
          </p:cNvSpPr>
          <p:nvPr>
            <p:ph type="title"/>
          </p:nvPr>
        </p:nvSpPr>
        <p:spPr>
          <a:xfrm>
            <a:off x="1331913" y="57150"/>
            <a:ext cx="6840537" cy="609600"/>
          </a:xfrm>
          <a:ln/>
        </p:spPr>
        <p:txBody>
          <a:bodyPr vert="horz" wrap="square" lIns="91440" tIns="45720" rIns="91440" bIns="45720" anchor="ctr" anchorCtr="0"/>
          <a:p>
            <a:pPr eaLnBrk="1" hangingPunct="1"/>
            <a:r>
              <a:rPr lang="en-US" altLang="zh-CN" sz="3200" dirty="0"/>
              <a:t>10.1  </a:t>
            </a:r>
            <a:r>
              <a:rPr lang="zh-CN" altLang="en-US" sz="3200" dirty="0"/>
              <a:t>事务的基本概念</a:t>
            </a:r>
            <a:endParaRPr lang="zh-CN" alt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7411" name="Rectangle 2"/>
          <p:cNvSpPr/>
          <p:nvPr/>
        </p:nvSpPr>
        <p:spPr>
          <a:xfrm>
            <a:off x="609600" y="1763713"/>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17412"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bg1"/>
                </a:solidFill>
              </a:rPr>
              <a:t>10.2  </a:t>
            </a:r>
            <a:r>
              <a:rPr lang="zh-CN" altLang="en-US" dirty="0">
                <a:solidFill>
                  <a:schemeClr val="bg1"/>
                </a:solidFill>
              </a:rPr>
              <a:t>数据库恢复概述</a:t>
            </a:r>
            <a:endParaRPr lang="zh-CN" altLang="en-US" dirty="0">
              <a:solidFill>
                <a:schemeClr val="bg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17413"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8435" name="Rectangle 2"/>
          <p:cNvSpPr>
            <a:spLocks noGrp="1"/>
          </p:cNvSpPr>
          <p:nvPr>
            <p:ph idx="1"/>
          </p:nvPr>
        </p:nvSpPr>
        <p:spPr>
          <a:xfrm>
            <a:off x="304800" y="914400"/>
            <a:ext cx="8686800" cy="5486400"/>
          </a:xfrm>
          <a:ln/>
        </p:spPr>
        <p:txBody>
          <a:bodyPr vert="horz" wrap="square" lIns="91440" tIns="45720" rIns="91440" bIns="45720" anchor="t" anchorCtr="0"/>
          <a:p>
            <a:pPr eaLnBrk="1" hangingPunct="1">
              <a:lnSpc>
                <a:spcPct val="120000"/>
              </a:lnSpc>
              <a:buNone/>
            </a:pPr>
            <a:r>
              <a:rPr lang="en-US" altLang="zh-CN" dirty="0">
                <a:solidFill>
                  <a:schemeClr val="tx1"/>
                </a:solidFill>
              </a:rPr>
              <a:t>DB</a:t>
            </a:r>
            <a:r>
              <a:rPr lang="zh-CN" altLang="en-US" dirty="0">
                <a:solidFill>
                  <a:schemeClr val="tx1"/>
                </a:solidFill>
              </a:rPr>
              <a:t>恢复：将因破坏或故障而导致的</a:t>
            </a:r>
            <a:r>
              <a:rPr lang="en-US" altLang="zh-CN" dirty="0">
                <a:solidFill>
                  <a:schemeClr val="tx1"/>
                </a:solidFill>
              </a:rPr>
              <a:t>DB</a:t>
            </a:r>
            <a:r>
              <a:rPr lang="zh-CN" altLang="en-US" dirty="0">
                <a:solidFill>
                  <a:schemeClr val="tx1"/>
                </a:solidFill>
              </a:rPr>
              <a:t>数据的错误状态恢复到最近一个正确状态的技术。</a:t>
            </a:r>
            <a:endParaRPr lang="zh-CN" altLang="en-US" dirty="0">
              <a:solidFill>
                <a:schemeClr val="tx1"/>
              </a:solidFill>
            </a:endParaRPr>
          </a:p>
          <a:p>
            <a:pPr eaLnBrk="1" hangingPunct="1">
              <a:lnSpc>
                <a:spcPct val="120000"/>
              </a:lnSpc>
              <a:buNone/>
            </a:pPr>
            <a:r>
              <a:rPr lang="zh-CN" altLang="en-US" dirty="0">
                <a:solidFill>
                  <a:schemeClr val="tx1"/>
                </a:solidFill>
              </a:rPr>
              <a:t>目标</a:t>
            </a:r>
            <a:endParaRPr lang="zh-CN" altLang="en-US" dirty="0">
              <a:solidFill>
                <a:schemeClr val="tx1"/>
              </a:solidFill>
            </a:endParaRPr>
          </a:p>
          <a:p>
            <a:pPr eaLnBrk="1" hangingPunct="1">
              <a:lnSpc>
                <a:spcPct val="120000"/>
              </a:lnSpc>
              <a:buNone/>
            </a:pPr>
            <a:r>
              <a:rPr lang="zh-CN" altLang="en-US" dirty="0">
                <a:solidFill>
                  <a:schemeClr val="tx1"/>
                </a:solidFill>
              </a:rPr>
              <a:t>    </a:t>
            </a:r>
            <a:r>
              <a:rPr lang="en-US" altLang="zh-CN" dirty="0">
                <a:solidFill>
                  <a:schemeClr val="tx1"/>
                </a:solidFill>
              </a:rPr>
              <a:t>1</a:t>
            </a:r>
            <a:r>
              <a:rPr lang="zh-CN" altLang="en-US" dirty="0">
                <a:solidFill>
                  <a:schemeClr val="tx1"/>
                </a:solidFill>
              </a:rPr>
              <a:t>、保持事务原子性；</a:t>
            </a:r>
            <a:endParaRPr lang="zh-CN" altLang="en-US" dirty="0">
              <a:solidFill>
                <a:schemeClr val="tx1"/>
              </a:solidFill>
            </a:endParaRPr>
          </a:p>
          <a:p>
            <a:pPr eaLnBrk="1" hangingPunct="1">
              <a:lnSpc>
                <a:spcPct val="120000"/>
              </a:lnSpc>
              <a:buNone/>
            </a:pPr>
            <a:r>
              <a:rPr lang="zh-CN" altLang="en-US" dirty="0">
                <a:solidFill>
                  <a:schemeClr val="tx1"/>
                </a:solidFill>
              </a:rPr>
              <a:t>    </a:t>
            </a:r>
            <a:r>
              <a:rPr lang="en-US" altLang="zh-CN" dirty="0">
                <a:solidFill>
                  <a:schemeClr val="tx1"/>
                </a:solidFill>
              </a:rPr>
              <a:t>2</a:t>
            </a:r>
            <a:r>
              <a:rPr lang="zh-CN" altLang="en-US" dirty="0">
                <a:solidFill>
                  <a:schemeClr val="tx1"/>
                </a:solidFill>
              </a:rPr>
              <a:t>、保持事务持久性。</a:t>
            </a:r>
            <a:endParaRPr lang="zh-CN" altLang="en-US" dirty="0">
              <a:solidFill>
                <a:schemeClr val="tx1"/>
              </a:solidFill>
            </a:endParaRPr>
          </a:p>
          <a:p>
            <a:pPr eaLnBrk="1" hangingPunct="1">
              <a:lnSpc>
                <a:spcPct val="120000"/>
              </a:lnSpc>
              <a:buNone/>
            </a:pPr>
            <a:r>
              <a:rPr lang="zh-CN" altLang="en-US" dirty="0">
                <a:solidFill>
                  <a:schemeClr val="tx1"/>
                </a:solidFill>
              </a:rPr>
              <a:t>实现</a:t>
            </a:r>
            <a:endParaRPr lang="zh-CN" altLang="en-US" dirty="0">
              <a:solidFill>
                <a:schemeClr val="tx1"/>
              </a:solidFill>
            </a:endParaRPr>
          </a:p>
          <a:p>
            <a:pPr eaLnBrk="1" hangingPunct="1">
              <a:lnSpc>
                <a:spcPct val="120000"/>
              </a:lnSpc>
              <a:buNone/>
            </a:pPr>
            <a:r>
              <a:rPr lang="zh-CN" altLang="en-US" dirty="0">
                <a:solidFill>
                  <a:schemeClr val="tx1"/>
                </a:solidFill>
              </a:rPr>
              <a:t>	由</a:t>
            </a:r>
            <a:r>
              <a:rPr lang="en-US" altLang="zh-CN" dirty="0">
                <a:solidFill>
                  <a:schemeClr val="tx1"/>
                </a:solidFill>
              </a:rPr>
              <a:t>DBMS</a:t>
            </a:r>
            <a:r>
              <a:rPr lang="zh-CN" altLang="en-US" dirty="0">
                <a:solidFill>
                  <a:schemeClr val="tx1"/>
                </a:solidFill>
              </a:rPr>
              <a:t>专门的恢复子系统完成。</a:t>
            </a:r>
            <a:endParaRPr lang="zh-CN" altLang="en-US" dirty="0">
              <a:solidFill>
                <a:schemeClr val="tx1"/>
              </a:solidFill>
            </a:endParaRPr>
          </a:p>
        </p:txBody>
      </p:sp>
      <p:sp>
        <p:nvSpPr>
          <p:cNvPr id="18436" name="Rectangle 3"/>
          <p:cNvSpPr>
            <a:spLocks noGrp="1"/>
          </p:cNvSpPr>
          <p:nvPr>
            <p:ph type="title"/>
          </p:nvPr>
        </p:nvSpPr>
        <p:spPr>
          <a:xfrm>
            <a:off x="1187450" y="85725"/>
            <a:ext cx="7269163" cy="609600"/>
          </a:xfrm>
          <a:ln/>
        </p:spPr>
        <p:txBody>
          <a:bodyPr vert="horz" wrap="square" lIns="91440" tIns="45720" rIns="91440" bIns="45720" anchor="ctr" anchorCtr="0"/>
          <a:p>
            <a:pPr eaLnBrk="1" hangingPunct="1"/>
            <a:r>
              <a:rPr lang="en-US" altLang="zh-CN" sz="3200" dirty="0"/>
              <a:t>10.2  </a:t>
            </a:r>
            <a:r>
              <a:rPr lang="zh-CN" altLang="en-US" sz="3200" dirty="0"/>
              <a:t>数据库恢复概述</a:t>
            </a:r>
            <a:endParaRPr lang="zh-CN" alt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19459" name="Rectangle 2"/>
          <p:cNvSpPr>
            <a:spLocks noGrp="1"/>
          </p:cNvSpPr>
          <p:nvPr>
            <p:ph idx="1"/>
          </p:nvPr>
        </p:nvSpPr>
        <p:spPr>
          <a:xfrm>
            <a:off x="381000" y="914400"/>
            <a:ext cx="7772400" cy="5181600"/>
          </a:xfrm>
          <a:ln/>
        </p:spPr>
        <p:txBody>
          <a:bodyPr vert="horz" wrap="square" lIns="91440" tIns="45720" rIns="91440" bIns="45720" anchor="t" anchorCtr="0"/>
          <a:p>
            <a:pPr eaLnBrk="1" hangingPunct="1">
              <a:lnSpc>
                <a:spcPct val="115000"/>
              </a:lnSpc>
              <a:spcBef>
                <a:spcPct val="50000"/>
              </a:spcBef>
            </a:pPr>
            <a:r>
              <a:rPr lang="zh-CN" altLang="en-US" dirty="0"/>
              <a:t>故障是不可避免的</a:t>
            </a:r>
            <a:endParaRPr lang="zh-CN" altLang="en-US" dirty="0"/>
          </a:p>
          <a:p>
            <a:pPr lvl="1" eaLnBrk="1" hangingPunct="1">
              <a:lnSpc>
                <a:spcPct val="60000"/>
              </a:lnSpc>
              <a:spcBef>
                <a:spcPct val="50000"/>
              </a:spcBef>
            </a:pPr>
            <a:r>
              <a:rPr lang="zh-CN" altLang="en-US" sz="3200" dirty="0"/>
              <a:t>计算机硬件故障</a:t>
            </a:r>
            <a:endParaRPr lang="zh-CN" altLang="en-US" sz="3200" dirty="0"/>
          </a:p>
          <a:p>
            <a:pPr lvl="1" eaLnBrk="1" hangingPunct="1">
              <a:lnSpc>
                <a:spcPct val="60000"/>
              </a:lnSpc>
              <a:spcBef>
                <a:spcPct val="50000"/>
              </a:spcBef>
            </a:pPr>
            <a:r>
              <a:rPr lang="zh-CN" altLang="en-US" sz="3200" dirty="0"/>
              <a:t>系统软件和应用软件的错误</a:t>
            </a:r>
            <a:endParaRPr lang="zh-CN" altLang="en-US" sz="3200" dirty="0"/>
          </a:p>
          <a:p>
            <a:pPr lvl="1" eaLnBrk="1" hangingPunct="1">
              <a:lnSpc>
                <a:spcPct val="60000"/>
              </a:lnSpc>
              <a:spcBef>
                <a:spcPct val="50000"/>
              </a:spcBef>
            </a:pPr>
            <a:r>
              <a:rPr lang="zh-CN" altLang="en-US" sz="3200" dirty="0"/>
              <a:t>操作员的失误</a:t>
            </a:r>
            <a:endParaRPr lang="zh-CN" altLang="en-US" sz="3200" dirty="0"/>
          </a:p>
          <a:p>
            <a:pPr lvl="1" eaLnBrk="1" hangingPunct="1">
              <a:lnSpc>
                <a:spcPct val="60000"/>
              </a:lnSpc>
              <a:spcBef>
                <a:spcPct val="50000"/>
              </a:spcBef>
            </a:pPr>
            <a:r>
              <a:rPr lang="zh-CN" altLang="en-US" sz="3200" dirty="0"/>
              <a:t>恶意的破坏</a:t>
            </a:r>
            <a:endParaRPr lang="zh-CN" altLang="en-US" sz="3200" dirty="0"/>
          </a:p>
          <a:p>
            <a:pPr eaLnBrk="1" hangingPunct="1">
              <a:spcBef>
                <a:spcPct val="50000"/>
              </a:spcBef>
            </a:pPr>
            <a:r>
              <a:rPr lang="zh-CN" altLang="en-US" dirty="0"/>
              <a:t>故障的影响</a:t>
            </a:r>
            <a:endParaRPr lang="zh-CN" altLang="en-US" dirty="0"/>
          </a:p>
          <a:p>
            <a:pPr lvl="1" eaLnBrk="1" hangingPunct="1">
              <a:lnSpc>
                <a:spcPct val="105000"/>
              </a:lnSpc>
              <a:spcBef>
                <a:spcPct val="30000"/>
              </a:spcBef>
            </a:pPr>
            <a:r>
              <a:rPr lang="zh-CN" altLang="en-US" sz="3200" dirty="0"/>
              <a:t>运行事务非正常中断</a:t>
            </a:r>
            <a:endParaRPr lang="zh-CN" altLang="en-US" sz="3200" dirty="0"/>
          </a:p>
          <a:p>
            <a:pPr lvl="1" eaLnBrk="1" hangingPunct="1">
              <a:lnSpc>
                <a:spcPct val="105000"/>
              </a:lnSpc>
              <a:spcBef>
                <a:spcPct val="30000"/>
              </a:spcBef>
            </a:pPr>
            <a:r>
              <a:rPr lang="zh-CN" altLang="en-US" sz="3200" dirty="0"/>
              <a:t>破坏数据库</a:t>
            </a:r>
            <a:endParaRPr lang="zh-CN" altLang="en-US" sz="3200" dirty="0"/>
          </a:p>
        </p:txBody>
      </p:sp>
      <p:sp>
        <p:nvSpPr>
          <p:cNvPr id="19460" name="Rectangle 3"/>
          <p:cNvSpPr>
            <a:spLocks noGrp="1"/>
          </p:cNvSpPr>
          <p:nvPr>
            <p:ph type="title"/>
          </p:nvPr>
        </p:nvSpPr>
        <p:spPr>
          <a:xfrm>
            <a:off x="1403350" y="71438"/>
            <a:ext cx="6769100" cy="609600"/>
          </a:xfrm>
          <a:ln/>
        </p:spPr>
        <p:txBody>
          <a:bodyPr vert="horz" wrap="square" lIns="91440" tIns="45720" rIns="91440" bIns="45720" anchor="ctr" anchorCtr="0"/>
          <a:p>
            <a:pPr eaLnBrk="1" hangingPunct="1"/>
            <a:r>
              <a:rPr lang="en-US" altLang="zh-CN" sz="3200" dirty="0"/>
              <a:t>10.2  </a:t>
            </a:r>
            <a:r>
              <a:rPr lang="zh-CN" altLang="en-US" sz="3200" dirty="0"/>
              <a:t>数据库恢复概述</a:t>
            </a:r>
            <a:endParaRPr lang="zh-CN" altLang="en-US"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0483" name="Rectangle 2"/>
          <p:cNvSpPr>
            <a:spLocks noGrp="1"/>
          </p:cNvSpPr>
          <p:nvPr>
            <p:ph idx="1"/>
          </p:nvPr>
        </p:nvSpPr>
        <p:spPr>
          <a:xfrm>
            <a:off x="304800" y="914400"/>
            <a:ext cx="8686800" cy="5486400"/>
          </a:xfrm>
          <a:ln/>
        </p:spPr>
        <p:txBody>
          <a:bodyPr vert="horz" wrap="square" lIns="91440" tIns="45720" rIns="91440" bIns="45720" anchor="t" anchorCtr="0"/>
          <a:p>
            <a:pPr eaLnBrk="1" hangingPunct="1"/>
            <a:r>
              <a:rPr lang="zh-CN" altLang="en-US" dirty="0"/>
              <a:t>数据库管理系统对故障的对策</a:t>
            </a:r>
            <a:endParaRPr lang="zh-CN" altLang="en-US" dirty="0"/>
          </a:p>
          <a:p>
            <a:pPr lvl="1" eaLnBrk="1" hangingPunct="1"/>
            <a:r>
              <a:rPr lang="en-US" altLang="zh-CN" sz="3200" dirty="0"/>
              <a:t>DBMS</a:t>
            </a:r>
            <a:r>
              <a:rPr lang="zh-CN" altLang="en-US" sz="3200" dirty="0"/>
              <a:t>提供恢复子系统</a:t>
            </a:r>
            <a:endParaRPr lang="zh-CN" altLang="en-US" sz="3200" dirty="0"/>
          </a:p>
          <a:p>
            <a:pPr lvl="1" eaLnBrk="1" hangingPunct="1"/>
            <a:r>
              <a:rPr lang="zh-CN" altLang="en-US" sz="3200" dirty="0"/>
              <a:t>保证故障发生后，能把数据库中的数据从错误状态恢复到某种逻辑一致的状态</a:t>
            </a:r>
            <a:endParaRPr lang="zh-CN" altLang="en-US" sz="3200" dirty="0"/>
          </a:p>
          <a:p>
            <a:pPr lvl="1" eaLnBrk="1" hangingPunct="1"/>
            <a:r>
              <a:rPr lang="zh-CN" altLang="en-US" sz="3200" dirty="0"/>
              <a:t>保证事务</a:t>
            </a:r>
            <a:r>
              <a:rPr lang="en-US" altLang="zh-CN" sz="3200" dirty="0"/>
              <a:t>ACID</a:t>
            </a:r>
            <a:endParaRPr lang="en-US" altLang="zh-CN" sz="3200" dirty="0"/>
          </a:p>
          <a:p>
            <a:pPr eaLnBrk="1" hangingPunct="1"/>
            <a:endParaRPr lang="en-US" altLang="zh-CN" dirty="0"/>
          </a:p>
          <a:p>
            <a:pPr eaLnBrk="1" hangingPunct="1"/>
            <a:r>
              <a:rPr lang="zh-CN" altLang="en-US" dirty="0"/>
              <a:t>恢复技术是衡量系统优劣的重要指标</a:t>
            </a:r>
            <a:endParaRPr lang="zh-CN" altLang="en-US" dirty="0"/>
          </a:p>
        </p:txBody>
      </p:sp>
      <p:sp>
        <p:nvSpPr>
          <p:cNvPr id="20484" name="Rectangle 3"/>
          <p:cNvSpPr>
            <a:spLocks noGrp="1"/>
          </p:cNvSpPr>
          <p:nvPr>
            <p:ph type="title"/>
          </p:nvPr>
        </p:nvSpPr>
        <p:spPr>
          <a:xfrm>
            <a:off x="1476375" y="57150"/>
            <a:ext cx="6981825" cy="609600"/>
          </a:xfrm>
          <a:ln/>
        </p:spPr>
        <p:txBody>
          <a:bodyPr vert="horz" wrap="square" lIns="91440" tIns="45720" rIns="91440" bIns="45720" anchor="ctr" anchorCtr="0"/>
          <a:p>
            <a:pPr eaLnBrk="1" hangingPunct="1"/>
            <a:r>
              <a:rPr lang="en-US" altLang="zh-CN" sz="3200" dirty="0"/>
              <a:t>10.2  </a:t>
            </a:r>
            <a:r>
              <a:rPr lang="zh-CN" altLang="en-US" sz="3200" dirty="0"/>
              <a:t>数据库恢复概述</a:t>
            </a:r>
            <a:endParaRPr lang="zh-CN" alt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1507" name="Rectangle 2"/>
          <p:cNvSpPr/>
          <p:nvPr/>
        </p:nvSpPr>
        <p:spPr>
          <a:xfrm>
            <a:off x="609600" y="2363788"/>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21508"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bg1"/>
                </a:solidFill>
              </a:rPr>
              <a:t>10.3  </a:t>
            </a:r>
            <a:r>
              <a:rPr lang="zh-CN" altLang="en-US" dirty="0">
                <a:solidFill>
                  <a:schemeClr val="bg1"/>
                </a:solidFill>
              </a:rPr>
              <a:t>故障的种类</a:t>
            </a:r>
            <a:endParaRPr lang="zh-CN" altLang="en-US" dirty="0">
              <a:solidFill>
                <a:schemeClr val="bg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21509"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2531" name="Rectangle 2"/>
          <p:cNvSpPr>
            <a:spLocks noGrp="1"/>
          </p:cNvSpPr>
          <p:nvPr>
            <p:ph idx="1"/>
          </p:nvPr>
        </p:nvSpPr>
        <p:spPr>
          <a:xfrm>
            <a:off x="990600" y="1371600"/>
            <a:ext cx="6248400" cy="3048000"/>
          </a:xfrm>
          <a:ln/>
        </p:spPr>
        <p:txBody>
          <a:bodyPr vert="horz" wrap="square" lIns="91440" tIns="45720" rIns="91440" bIns="45720" anchor="t" anchorCtr="0"/>
          <a:p>
            <a:pPr eaLnBrk="1" hangingPunct="1"/>
            <a:r>
              <a:rPr lang="zh-CN" altLang="en-US" sz="4000" dirty="0">
                <a:solidFill>
                  <a:schemeClr val="tx1"/>
                </a:solidFill>
              </a:rPr>
              <a:t>事务故障</a:t>
            </a:r>
            <a:endParaRPr lang="zh-CN" altLang="en-US" sz="4000" dirty="0">
              <a:solidFill>
                <a:schemeClr val="tx1"/>
              </a:solidFill>
            </a:endParaRPr>
          </a:p>
          <a:p>
            <a:pPr eaLnBrk="1" hangingPunct="1"/>
            <a:r>
              <a:rPr lang="zh-CN" altLang="en-US" sz="4000" dirty="0">
                <a:solidFill>
                  <a:schemeClr val="tx1"/>
                </a:solidFill>
              </a:rPr>
              <a:t>系统故障</a:t>
            </a:r>
            <a:endParaRPr lang="zh-CN" altLang="en-US" sz="4000" dirty="0">
              <a:solidFill>
                <a:schemeClr val="tx1"/>
              </a:solidFill>
            </a:endParaRPr>
          </a:p>
          <a:p>
            <a:pPr eaLnBrk="1" hangingPunct="1"/>
            <a:r>
              <a:rPr lang="zh-CN" altLang="en-US" sz="4000" dirty="0">
                <a:solidFill>
                  <a:schemeClr val="tx1"/>
                </a:solidFill>
              </a:rPr>
              <a:t>介质故障</a:t>
            </a:r>
            <a:endParaRPr lang="zh-CN" altLang="en-US" sz="4000" dirty="0">
              <a:solidFill>
                <a:schemeClr val="tx1"/>
              </a:solidFill>
            </a:endParaRPr>
          </a:p>
          <a:p>
            <a:pPr eaLnBrk="1" hangingPunct="1"/>
            <a:r>
              <a:rPr lang="zh-CN" altLang="en-US" sz="4000" dirty="0">
                <a:solidFill>
                  <a:schemeClr val="tx1"/>
                </a:solidFill>
              </a:rPr>
              <a:t>计算机病毒</a:t>
            </a:r>
            <a:endParaRPr lang="zh-CN" altLang="en-US" sz="4000" dirty="0">
              <a:solidFill>
                <a:schemeClr val="tx1"/>
              </a:solidFill>
            </a:endParaRPr>
          </a:p>
        </p:txBody>
      </p:sp>
      <p:sp>
        <p:nvSpPr>
          <p:cNvPr id="22532" name="Rectangle 3"/>
          <p:cNvSpPr>
            <a:spLocks noGrp="1"/>
          </p:cNvSpPr>
          <p:nvPr>
            <p:ph type="title"/>
          </p:nvPr>
        </p:nvSpPr>
        <p:spPr>
          <a:xfrm>
            <a:off x="1476375" y="71438"/>
            <a:ext cx="6335713"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3555" name="Rectangle 2"/>
          <p:cNvSpPr>
            <a:spLocks noGrp="1"/>
          </p:cNvSpPr>
          <p:nvPr>
            <p:ph idx="1"/>
          </p:nvPr>
        </p:nvSpPr>
        <p:spPr>
          <a:xfrm>
            <a:off x="381000" y="914400"/>
            <a:ext cx="8458200" cy="5410200"/>
          </a:xfrm>
          <a:ln/>
        </p:spPr>
        <p:txBody>
          <a:bodyPr vert="horz" wrap="square" lIns="91440" tIns="45720" rIns="91440" bIns="45720" anchor="t" anchorCtr="0"/>
          <a:p>
            <a:pPr eaLnBrk="1" hangingPunct="1">
              <a:buNone/>
            </a:pPr>
            <a:r>
              <a:rPr lang="zh-CN" altLang="en-US" dirty="0"/>
              <a:t>一、事务故障</a:t>
            </a:r>
            <a:endParaRPr lang="zh-CN" altLang="en-US" dirty="0"/>
          </a:p>
          <a:p>
            <a:pPr eaLnBrk="1" hangingPunct="1"/>
            <a:r>
              <a:rPr lang="zh-CN" altLang="en-US" dirty="0">
                <a:solidFill>
                  <a:srgbClr val="0000CC"/>
                </a:solidFill>
              </a:rPr>
              <a:t>什么是事务故障</a:t>
            </a:r>
            <a:endParaRPr lang="zh-CN" altLang="en-US" sz="2800" dirty="0">
              <a:solidFill>
                <a:srgbClr val="0000CC"/>
              </a:solidFill>
            </a:endParaRPr>
          </a:p>
          <a:p>
            <a:pPr lvl="1" eaLnBrk="1" hangingPunct="1"/>
            <a:r>
              <a:rPr lang="zh-CN" altLang="en-US" dirty="0"/>
              <a:t>某个事务在运行过程中由于种种原因未运行至正常终止点就夭折了</a:t>
            </a:r>
            <a:endParaRPr lang="zh-CN" altLang="en-US" dirty="0"/>
          </a:p>
          <a:p>
            <a:pPr eaLnBrk="1" hangingPunct="1"/>
            <a:r>
              <a:rPr lang="zh-CN" altLang="en-US" dirty="0">
                <a:solidFill>
                  <a:srgbClr val="0000CC"/>
                </a:solidFill>
              </a:rPr>
              <a:t>事务故障的常见原因</a:t>
            </a:r>
            <a:endParaRPr lang="zh-CN" altLang="en-US" sz="2800" dirty="0">
              <a:solidFill>
                <a:srgbClr val="0000CC"/>
              </a:solidFill>
            </a:endParaRPr>
          </a:p>
          <a:p>
            <a:pPr lvl="1" eaLnBrk="1" hangingPunct="1"/>
            <a:r>
              <a:rPr lang="zh-CN" altLang="en-US" dirty="0"/>
              <a:t>输入数据有误</a:t>
            </a:r>
            <a:endParaRPr lang="zh-CN" altLang="en-US" dirty="0"/>
          </a:p>
          <a:p>
            <a:pPr lvl="1" eaLnBrk="1" hangingPunct="1"/>
            <a:r>
              <a:rPr lang="zh-CN" altLang="en-US" dirty="0"/>
              <a:t>运算溢出</a:t>
            </a:r>
            <a:endParaRPr lang="zh-CN" altLang="en-US" dirty="0"/>
          </a:p>
          <a:p>
            <a:pPr lvl="1" eaLnBrk="1" hangingPunct="1"/>
            <a:r>
              <a:rPr lang="zh-CN" altLang="en-US" dirty="0"/>
              <a:t>违反了某些完整性限制</a:t>
            </a:r>
            <a:endParaRPr lang="zh-CN" altLang="en-US" dirty="0"/>
          </a:p>
          <a:p>
            <a:pPr lvl="1" eaLnBrk="1" hangingPunct="1"/>
            <a:r>
              <a:rPr lang="zh-CN" altLang="en-US" dirty="0"/>
              <a:t>某些应用程序出错</a:t>
            </a:r>
            <a:endParaRPr lang="zh-CN" altLang="en-US" dirty="0"/>
          </a:p>
          <a:p>
            <a:pPr lvl="1" eaLnBrk="1" hangingPunct="1"/>
            <a:r>
              <a:rPr lang="zh-CN" altLang="en-US" dirty="0"/>
              <a:t>并行事务因发生死锁而被选中“牺牲”</a:t>
            </a:r>
            <a:endParaRPr lang="zh-CN" altLang="en-US" dirty="0"/>
          </a:p>
        </p:txBody>
      </p:sp>
      <p:sp>
        <p:nvSpPr>
          <p:cNvPr id="23556" name="Rectangle 3"/>
          <p:cNvSpPr>
            <a:spLocks noGrp="1"/>
          </p:cNvSpPr>
          <p:nvPr>
            <p:ph type="title"/>
          </p:nvPr>
        </p:nvSpPr>
        <p:spPr>
          <a:xfrm>
            <a:off x="1187450" y="100013"/>
            <a:ext cx="6697663"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3"/>
          <p:cNvSpPr>
            <a:spLocks noGrp="1"/>
          </p:cNvSpPr>
          <p:nvPr>
            <p:ph idx="1"/>
          </p:nvPr>
        </p:nvSpPr>
        <p:spPr>
          <a:xfrm>
            <a:off x="250825" y="677863"/>
            <a:ext cx="9217025" cy="5846762"/>
          </a:xfrm>
          <a:ln/>
        </p:spPr>
        <p:txBody>
          <a:bodyPr vert="horz" wrap="square" lIns="91440" tIns="45720" rIns="91440" bIns="45720" anchor="t" anchorCtr="0"/>
          <a:p>
            <a:pPr marL="0" indent="0">
              <a:spcBef>
                <a:spcPct val="50000"/>
              </a:spcBef>
              <a:buNone/>
            </a:pPr>
            <a:r>
              <a:rPr lang="zh-CN" altLang="en-US" dirty="0">
                <a:solidFill>
                  <a:schemeClr val="tx1"/>
                </a:solidFill>
              </a:rPr>
              <a:t>一、事务故障的特征</a:t>
            </a:r>
            <a:endParaRPr lang="zh-CN" altLang="en-US" dirty="0">
              <a:solidFill>
                <a:schemeClr val="tx1"/>
              </a:solidFill>
            </a:endParaRPr>
          </a:p>
          <a:p>
            <a:pPr marL="0" indent="0">
              <a:spcBef>
                <a:spcPct val="50000"/>
              </a:spcBef>
              <a:buNone/>
            </a:pPr>
            <a:r>
              <a:rPr lang="zh-CN" altLang="en-US" dirty="0">
                <a:solidFill>
                  <a:schemeClr val="tx1"/>
                </a:solidFill>
                <a:latin typeface="宋体" panose="02010600030101010101" pitchFamily="2" charset="-122"/>
              </a:rPr>
              <a:t>①</a:t>
            </a:r>
            <a:r>
              <a:rPr lang="zh-CN" altLang="en-US" dirty="0">
                <a:solidFill>
                  <a:schemeClr val="tx1"/>
                </a:solidFill>
              </a:rPr>
              <a:t> 特定的事务没有到达预期的终点（</a:t>
            </a:r>
            <a:r>
              <a:rPr lang="en-US" altLang="zh-CN" dirty="0">
                <a:solidFill>
                  <a:schemeClr val="tx1"/>
                </a:solidFill>
              </a:rPr>
              <a:t>COMMIT</a:t>
            </a:r>
            <a:r>
              <a:rPr lang="zh-CN" altLang="en-US" dirty="0">
                <a:solidFill>
                  <a:schemeClr val="tx1"/>
                </a:solidFill>
              </a:rPr>
              <a:t>），事务夭折；</a:t>
            </a:r>
            <a:endParaRPr lang="zh-CN" altLang="en-US" dirty="0">
              <a:solidFill>
                <a:schemeClr val="tx1"/>
              </a:solidFill>
            </a:endParaRPr>
          </a:p>
          <a:p>
            <a:pPr marL="0" indent="0">
              <a:spcBef>
                <a:spcPct val="50000"/>
              </a:spcBef>
              <a:buNone/>
            </a:pPr>
            <a:r>
              <a:rPr lang="zh-CN" altLang="en-US" dirty="0">
                <a:solidFill>
                  <a:schemeClr val="tx1"/>
                </a:solidFill>
                <a:latin typeface="宋体" panose="02010600030101010101" pitchFamily="2" charset="-122"/>
              </a:rPr>
              <a:t>②</a:t>
            </a:r>
            <a:r>
              <a:rPr lang="zh-CN" altLang="en-US" dirty="0">
                <a:solidFill>
                  <a:schemeClr val="tx1"/>
                </a:solidFill>
              </a:rPr>
              <a:t> 夭折事务对数据库的部分修改可能已写入数据文件。</a:t>
            </a:r>
            <a:endParaRPr lang="zh-CN" altLang="en-US" dirty="0">
              <a:solidFill>
                <a:schemeClr val="tx1"/>
              </a:solidFill>
            </a:endParaRPr>
          </a:p>
          <a:p>
            <a:pPr marL="0" indent="0">
              <a:spcBef>
                <a:spcPct val="50000"/>
              </a:spcBef>
              <a:buNone/>
            </a:pPr>
            <a:r>
              <a:rPr lang="zh-CN" altLang="en-US" dirty="0">
                <a:solidFill>
                  <a:schemeClr val="tx1"/>
                </a:solidFill>
              </a:rPr>
              <a:t>    （数据库可能因此处于不正确、不一致状态）</a:t>
            </a:r>
            <a:endParaRPr lang="zh-CN" altLang="en-US" dirty="0">
              <a:solidFill>
                <a:schemeClr val="tx1"/>
              </a:solidFill>
            </a:endParaRPr>
          </a:p>
        </p:txBody>
      </p:sp>
      <p:sp>
        <p:nvSpPr>
          <p:cNvPr id="24579" name="灯片编号占位符 1"/>
          <p:cNvSpPr txBox="1">
            <a:spLocks noGrp="1"/>
          </p:cNvSpPr>
          <p:nvPr>
            <p:ph type="sldNum" sz="quarter" idx="12"/>
          </p:nvPr>
        </p:nvSpPr>
        <p:spPr>
          <a:ln/>
        </p:spPr>
        <p:txBody>
          <a:bodyPr/>
          <a:p>
            <a:pPr marL="0" indent="0" algn="r" eaLnBrk="1" hangingPunct="1">
              <a:spcBef>
                <a:spcPct val="0"/>
              </a:spcBef>
              <a:buClrTx/>
              <a:buFontTx/>
              <a:buNone/>
            </a:pPr>
            <a:fld id="{9A0DB2DC-4C9A-4742-B13C-FB6460FD3503}" type="slidenum">
              <a:rPr lang="en-US" altLang="zh-CN" sz="1200" b="0" dirty="0">
                <a:solidFill>
                  <a:srgbClr val="045C75"/>
                </a:solidFill>
                <a:latin typeface="Verdana" panose="020B0604030504040204" pitchFamily="34" charset="0"/>
              </a:rPr>
            </a:fld>
            <a:endParaRPr lang="en-US" altLang="zh-CN" sz="1200" b="0" dirty="0">
              <a:solidFill>
                <a:srgbClr val="045C75"/>
              </a:solidFill>
              <a:latin typeface="Verdana" panose="020B0604030504040204" pitchFamily="34" charset="0"/>
            </a:endParaRPr>
          </a:p>
        </p:txBody>
      </p:sp>
      <p:sp>
        <p:nvSpPr>
          <p:cNvPr id="5" name="圆角矩形标注 4"/>
          <p:cNvSpPr/>
          <p:nvPr/>
        </p:nvSpPr>
        <p:spPr>
          <a:xfrm>
            <a:off x="6732588" y="4365625"/>
            <a:ext cx="2273300" cy="1655763"/>
          </a:xfrm>
          <a:prstGeom prst="wedgeRoundRectCallout">
            <a:avLst>
              <a:gd name="adj1" fmla="val -57973"/>
              <a:gd name="adj2" fmla="val -48987"/>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事务的</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ACID</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特性，原子性</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A</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，一致性</a:t>
            </a:r>
            <a:r>
              <a:rPr kumimoji="1"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C</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endParaRPr>
          </a:p>
        </p:txBody>
      </p:sp>
      <p:sp>
        <p:nvSpPr>
          <p:cNvPr id="6" name="圆角矩形标注 5"/>
          <p:cNvSpPr/>
          <p:nvPr/>
        </p:nvSpPr>
        <p:spPr>
          <a:xfrm>
            <a:off x="1177925" y="4437063"/>
            <a:ext cx="2817813" cy="2376488"/>
          </a:xfrm>
          <a:prstGeom prst="wedgeRoundRectCallout">
            <a:avLst>
              <a:gd name="adj1" fmla="val -7856"/>
              <a:gd name="adj2" fmla="val -56439"/>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客户的理财账户</a:t>
            </a:r>
            <a:r>
              <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mn-ea"/>
                <a:cs typeface="+mn-cs"/>
              </a:rPr>
              <a:t>余额已减少</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，但在写出理财产品的</a:t>
            </a:r>
            <a:r>
              <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mn-ea"/>
                <a:cs typeface="+mn-cs"/>
              </a:rPr>
              <a:t>购买记录</a:t>
            </a:r>
            <a:r>
              <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到数据文件前，事务发生了异常。</a:t>
            </a:r>
            <a:endParaRPr kumimoji="1"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5603" name="Rectangle 2"/>
          <p:cNvSpPr>
            <a:spLocks noGrp="1"/>
          </p:cNvSpPr>
          <p:nvPr>
            <p:ph idx="1"/>
          </p:nvPr>
        </p:nvSpPr>
        <p:spPr>
          <a:xfrm>
            <a:off x="381000" y="914400"/>
            <a:ext cx="8458200" cy="5410200"/>
          </a:xfrm>
          <a:ln/>
        </p:spPr>
        <p:txBody>
          <a:bodyPr vert="horz" wrap="square" lIns="91440" tIns="45720" rIns="91440" bIns="45720" anchor="t" anchorCtr="0"/>
          <a:p>
            <a:pPr eaLnBrk="1" hangingPunct="1">
              <a:lnSpc>
                <a:spcPct val="120000"/>
              </a:lnSpc>
            </a:pPr>
            <a:r>
              <a:rPr lang="zh-CN" altLang="en-US" dirty="0">
                <a:solidFill>
                  <a:srgbClr val="0000CC"/>
                </a:solidFill>
              </a:rPr>
              <a:t>事务故障的恢复</a:t>
            </a:r>
            <a:endParaRPr lang="zh-CN" altLang="en-US" sz="2800" dirty="0">
              <a:solidFill>
                <a:srgbClr val="0000CC"/>
              </a:solidFill>
            </a:endParaRPr>
          </a:p>
          <a:p>
            <a:pPr lvl="1" eaLnBrk="1" hangingPunct="1">
              <a:lnSpc>
                <a:spcPct val="120000"/>
              </a:lnSpc>
            </a:pPr>
            <a:r>
              <a:rPr lang="zh-CN" altLang="en-US" dirty="0"/>
              <a:t>发生事务故障时，夭折的事务可能已把对数据库的部分修改写回磁盘</a:t>
            </a:r>
            <a:endParaRPr lang="zh-CN" altLang="en-US" dirty="0"/>
          </a:p>
          <a:p>
            <a:pPr lvl="1" eaLnBrk="1" hangingPunct="1">
              <a:lnSpc>
                <a:spcPct val="120000"/>
              </a:lnSpc>
              <a:spcBef>
                <a:spcPct val="50000"/>
              </a:spcBef>
            </a:pPr>
            <a:r>
              <a:rPr lang="zh-CN" altLang="en-US" dirty="0"/>
              <a:t>事务故障的恢复：</a:t>
            </a:r>
            <a:r>
              <a:rPr lang="zh-CN" altLang="en-US" dirty="0">
                <a:solidFill>
                  <a:schemeClr val="accent2"/>
                </a:solidFill>
              </a:rPr>
              <a:t>撤消事务（</a:t>
            </a:r>
            <a:r>
              <a:rPr lang="en-US" altLang="zh-CN" dirty="0">
                <a:solidFill>
                  <a:schemeClr val="accent2"/>
                </a:solidFill>
              </a:rPr>
              <a:t>UNDO</a:t>
            </a:r>
            <a:r>
              <a:rPr lang="zh-CN" altLang="en-US" dirty="0">
                <a:solidFill>
                  <a:schemeClr val="accent2"/>
                </a:solidFill>
              </a:rPr>
              <a:t>）</a:t>
            </a:r>
            <a:endParaRPr lang="zh-CN" altLang="en-US" dirty="0"/>
          </a:p>
          <a:p>
            <a:pPr lvl="1" eaLnBrk="1" hangingPunct="1">
              <a:lnSpc>
                <a:spcPct val="120000"/>
              </a:lnSpc>
            </a:pPr>
            <a:r>
              <a:rPr lang="zh-CN" altLang="en-US" dirty="0"/>
              <a:t>强行回滚（</a:t>
            </a:r>
            <a:r>
              <a:rPr lang="en-US" altLang="zh-CN" dirty="0"/>
              <a:t>ROLLBACK</a:t>
            </a:r>
            <a:r>
              <a:rPr lang="zh-CN" altLang="en-US" dirty="0"/>
              <a:t>）该事务</a:t>
            </a:r>
            <a:endParaRPr lang="zh-CN" altLang="en-US" dirty="0"/>
          </a:p>
          <a:p>
            <a:pPr lvl="1" eaLnBrk="1" hangingPunct="1">
              <a:lnSpc>
                <a:spcPct val="120000"/>
              </a:lnSpc>
            </a:pPr>
            <a:r>
              <a:rPr lang="zh-CN" altLang="en-US" dirty="0"/>
              <a:t>清除该事务对数据库的所有修改，使得这个事务象根本没有启动过一样</a:t>
            </a:r>
            <a:endParaRPr lang="zh-CN" altLang="en-US" dirty="0"/>
          </a:p>
        </p:txBody>
      </p:sp>
      <p:sp>
        <p:nvSpPr>
          <p:cNvPr id="25604" name="Rectangle 3"/>
          <p:cNvSpPr>
            <a:spLocks noGrp="1"/>
          </p:cNvSpPr>
          <p:nvPr>
            <p:ph type="title"/>
          </p:nvPr>
        </p:nvSpPr>
        <p:spPr>
          <a:xfrm>
            <a:off x="1331913" y="57150"/>
            <a:ext cx="6911975"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6627" name="Rectangle 2"/>
          <p:cNvSpPr>
            <a:spLocks noGrp="1"/>
          </p:cNvSpPr>
          <p:nvPr>
            <p:ph idx="1"/>
          </p:nvPr>
        </p:nvSpPr>
        <p:spPr>
          <a:xfrm>
            <a:off x="381000" y="914400"/>
            <a:ext cx="8458200" cy="5105400"/>
          </a:xfrm>
          <a:ln/>
        </p:spPr>
        <p:txBody>
          <a:bodyPr vert="horz" wrap="square" lIns="91440" tIns="45720" rIns="91440" bIns="45720" anchor="t" anchorCtr="0"/>
          <a:p>
            <a:pPr eaLnBrk="1" hangingPunct="1">
              <a:buNone/>
            </a:pPr>
            <a:r>
              <a:rPr lang="zh-CN" altLang="en-US" dirty="0"/>
              <a:t>二、系统故障</a:t>
            </a:r>
            <a:endParaRPr lang="zh-CN" altLang="en-US" dirty="0"/>
          </a:p>
          <a:p>
            <a:pPr eaLnBrk="1" hangingPunct="1"/>
            <a:r>
              <a:rPr lang="zh-CN" altLang="en-US" dirty="0"/>
              <a:t>什么是系统故障</a:t>
            </a:r>
            <a:endParaRPr lang="zh-CN" altLang="en-US" dirty="0"/>
          </a:p>
          <a:p>
            <a:pPr lvl="1" eaLnBrk="1" hangingPunct="1">
              <a:spcBef>
                <a:spcPct val="50000"/>
              </a:spcBef>
            </a:pPr>
            <a:r>
              <a:rPr lang="zh-CN" altLang="en-US" dirty="0"/>
              <a:t>整个系统的正常运行突然被破坏</a:t>
            </a:r>
            <a:endParaRPr lang="zh-CN" altLang="en-US" dirty="0"/>
          </a:p>
          <a:p>
            <a:pPr lvl="1" eaLnBrk="1" hangingPunct="1">
              <a:spcBef>
                <a:spcPct val="50000"/>
              </a:spcBef>
            </a:pPr>
            <a:r>
              <a:rPr lang="zh-CN" altLang="en-US" dirty="0"/>
              <a:t>所有正在运行的事务都非正常终止</a:t>
            </a:r>
            <a:endParaRPr lang="zh-CN" altLang="en-US" dirty="0"/>
          </a:p>
          <a:p>
            <a:pPr lvl="1" eaLnBrk="1" hangingPunct="1">
              <a:spcBef>
                <a:spcPct val="50000"/>
              </a:spcBef>
            </a:pPr>
            <a:r>
              <a:rPr lang="zh-CN" altLang="en-US" dirty="0"/>
              <a:t>内存中数据库缓冲区的信息全部丢失</a:t>
            </a:r>
            <a:endParaRPr lang="zh-CN" altLang="en-US" dirty="0"/>
          </a:p>
          <a:p>
            <a:pPr lvl="1" eaLnBrk="1" hangingPunct="1">
              <a:spcBef>
                <a:spcPct val="50000"/>
              </a:spcBef>
            </a:pPr>
            <a:r>
              <a:rPr lang="zh-CN" altLang="en-US" dirty="0"/>
              <a:t>外部存储设备上的数据未受影响</a:t>
            </a:r>
            <a:endParaRPr lang="zh-CN" altLang="en-US" dirty="0"/>
          </a:p>
        </p:txBody>
      </p:sp>
      <p:sp>
        <p:nvSpPr>
          <p:cNvPr id="26628" name="Rectangle 3"/>
          <p:cNvSpPr>
            <a:spLocks noGrp="1"/>
          </p:cNvSpPr>
          <p:nvPr>
            <p:ph type="title"/>
          </p:nvPr>
        </p:nvSpPr>
        <p:spPr>
          <a:xfrm>
            <a:off x="1403350" y="85725"/>
            <a:ext cx="6840538"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212725" y="893763"/>
            <a:ext cx="8778875" cy="575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50000"/>
              </a:spcBef>
              <a:buClrTx/>
              <a:buFontTx/>
              <a:buNone/>
            </a:pPr>
            <a:r>
              <a:rPr lang="zh-CN" altLang="en-US" dirty="0">
                <a:solidFill>
                  <a:srgbClr val="000000"/>
                </a:solidFill>
              </a:rPr>
              <a:t>二、系统故障表现形式</a:t>
            </a:r>
            <a:endParaRPr lang="zh-CN" altLang="en-US" dirty="0">
              <a:solidFill>
                <a:srgbClr val="000000"/>
              </a:solidFill>
              <a:latin typeface="Verdana" panose="020B0604030504040204" pitchFamily="34" charset="0"/>
            </a:endParaRPr>
          </a:p>
          <a:p>
            <a:pPr marL="0" lvl="0" indent="0" eaLnBrk="1" hangingPunct="1">
              <a:spcBef>
                <a:spcPct val="50000"/>
              </a:spcBef>
              <a:buClrTx/>
              <a:buFontTx/>
              <a:buNone/>
            </a:pPr>
            <a:r>
              <a:rPr lang="zh-CN" altLang="en-US" sz="2400" b="0" dirty="0">
                <a:solidFill>
                  <a:srgbClr val="000000"/>
                </a:solidFill>
                <a:latin typeface="宋体" panose="02010600030101010101" pitchFamily="2" charset="-122"/>
              </a:rPr>
              <a:t>①</a:t>
            </a:r>
            <a:r>
              <a:rPr lang="zh-CN" altLang="en-US" sz="2400" b="0" dirty="0">
                <a:solidFill>
                  <a:srgbClr val="000000"/>
                </a:solidFill>
                <a:latin typeface="Verdana" panose="020B0604030504040204" pitchFamily="34" charset="0"/>
              </a:rPr>
              <a:t> 特定类型的</a:t>
            </a:r>
            <a:r>
              <a:rPr lang="zh-CN" altLang="en-US" sz="2400" b="0" dirty="0">
                <a:solidFill>
                  <a:srgbClr val="000000"/>
                </a:solidFill>
              </a:rPr>
              <a:t>硬件故障（</a:t>
            </a:r>
            <a:r>
              <a:rPr lang="en-US" altLang="zh-CN" sz="2400" b="0" dirty="0">
                <a:solidFill>
                  <a:srgbClr val="000000"/>
                </a:solidFill>
                <a:latin typeface="Verdana" panose="020B0604030504040204" pitchFamily="34" charset="0"/>
              </a:rPr>
              <a:t>CPU</a:t>
            </a:r>
            <a:r>
              <a:rPr lang="zh-CN" altLang="en-US" sz="2400" b="0" dirty="0">
                <a:solidFill>
                  <a:srgbClr val="000000"/>
                </a:solidFill>
                <a:latin typeface="Verdana" panose="020B0604030504040204" pitchFamily="34" charset="0"/>
              </a:rPr>
              <a:t>、内存、主板等</a:t>
            </a:r>
            <a:r>
              <a:rPr lang="zh-CN" altLang="en-US" sz="2400" dirty="0">
                <a:solidFill>
                  <a:srgbClr val="FF0000"/>
                </a:solidFill>
                <a:latin typeface="Verdana" panose="020B0604030504040204" pitchFamily="34" charset="0"/>
              </a:rPr>
              <a:t>非外存储</a:t>
            </a:r>
            <a:r>
              <a:rPr lang="zh-CN" altLang="en-US" sz="2400" b="0" dirty="0">
                <a:solidFill>
                  <a:srgbClr val="000000"/>
                </a:solidFill>
                <a:latin typeface="Verdana" panose="020B0604030504040204" pitchFamily="34" charset="0"/>
              </a:rPr>
              <a:t>设备</a:t>
            </a:r>
            <a:r>
              <a:rPr lang="zh-CN" altLang="en-US" sz="2400" b="0" dirty="0">
                <a:solidFill>
                  <a:srgbClr val="000000"/>
                </a:solidFill>
              </a:rPr>
              <a:t>）；</a:t>
            </a:r>
            <a:endParaRPr lang="zh-CN" altLang="en-US" sz="2400" b="0" dirty="0">
              <a:solidFill>
                <a:srgbClr val="000000"/>
              </a:solidFill>
              <a:latin typeface="Verdana" panose="020B0604030504040204" pitchFamily="34" charset="0"/>
            </a:endParaRPr>
          </a:p>
          <a:p>
            <a:pPr marL="0" lvl="0" indent="0" eaLnBrk="1" hangingPunct="1">
              <a:spcBef>
                <a:spcPct val="50000"/>
              </a:spcBef>
              <a:buClrTx/>
              <a:buFontTx/>
              <a:buNone/>
            </a:pPr>
            <a:r>
              <a:rPr lang="zh-CN" altLang="en-US" sz="2400" b="0" dirty="0">
                <a:solidFill>
                  <a:srgbClr val="000000"/>
                </a:solidFill>
                <a:latin typeface="宋体" panose="02010600030101010101" pitchFamily="2" charset="-122"/>
              </a:rPr>
              <a:t>②</a:t>
            </a:r>
            <a:r>
              <a:rPr lang="zh-CN" altLang="en-US" sz="2400" b="0" dirty="0">
                <a:solidFill>
                  <a:srgbClr val="000000"/>
                </a:solidFill>
                <a:latin typeface="Verdana" panose="020B0604030504040204" pitchFamily="34" charset="0"/>
              </a:rPr>
              <a:t> 系统</a:t>
            </a:r>
            <a:r>
              <a:rPr lang="zh-CN" altLang="en-US" sz="2400" b="0" dirty="0">
                <a:solidFill>
                  <a:srgbClr val="000000"/>
                </a:solidFill>
              </a:rPr>
              <a:t>软件故障</a:t>
            </a:r>
            <a:endParaRPr lang="zh-CN" altLang="en-US" sz="2400" b="0" dirty="0">
              <a:solidFill>
                <a:srgbClr val="000000"/>
              </a:solidFill>
              <a:latin typeface="Verdana" panose="020B0604030504040204" pitchFamily="34" charset="0"/>
            </a:endParaRPr>
          </a:p>
          <a:p>
            <a:pPr marL="0" lvl="0" indent="0" eaLnBrk="1" hangingPunct="1">
              <a:spcBef>
                <a:spcPct val="50000"/>
              </a:spcBef>
              <a:buClrTx/>
              <a:buFontTx/>
              <a:buNone/>
            </a:pPr>
            <a:r>
              <a:rPr lang="en-US" altLang="zh-CN" sz="2400" b="0" dirty="0">
                <a:solidFill>
                  <a:srgbClr val="000000"/>
                </a:solidFill>
                <a:latin typeface="Verdana" panose="020B0604030504040204" pitchFamily="34" charset="0"/>
              </a:rPr>
              <a:t>   DBMS</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ORACLE</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SQL SERVER</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MYSQL</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DB2</a:t>
            </a:r>
            <a:r>
              <a:rPr lang="zh-CN" altLang="en-US" sz="2400" b="0" dirty="0">
                <a:solidFill>
                  <a:srgbClr val="000000"/>
                </a:solidFill>
                <a:latin typeface="Verdana" panose="020B0604030504040204" pitchFamily="34" charset="0"/>
              </a:rPr>
              <a:t>、。。。</a:t>
            </a:r>
            <a:endParaRPr lang="en-US" altLang="zh-CN" sz="2400" b="0" dirty="0">
              <a:solidFill>
                <a:srgbClr val="000000"/>
              </a:solidFill>
              <a:latin typeface="Verdana" panose="020B0604030504040204" pitchFamily="34" charset="0"/>
            </a:endParaRPr>
          </a:p>
          <a:p>
            <a:pPr marL="0" lvl="0" indent="0" eaLnBrk="1" hangingPunct="1">
              <a:spcBef>
                <a:spcPct val="50000"/>
              </a:spcBef>
              <a:buClrTx/>
              <a:buFontTx/>
              <a:buNone/>
            </a:pPr>
            <a:r>
              <a:rPr lang="en-US" altLang="zh-CN" sz="2400" b="0" dirty="0">
                <a:solidFill>
                  <a:srgbClr val="000000"/>
                </a:solidFill>
              </a:rPr>
              <a:t>    </a:t>
            </a:r>
            <a:r>
              <a:rPr lang="en-US" altLang="zh-CN" sz="2400" b="0" dirty="0">
                <a:solidFill>
                  <a:srgbClr val="000000"/>
                </a:solidFill>
                <a:latin typeface="Verdana" panose="020B0604030504040204" pitchFamily="34" charset="0"/>
              </a:rPr>
              <a:t>OS</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UNIX</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WINDOWS</a:t>
            </a:r>
            <a:r>
              <a:rPr lang="zh-CN" altLang="en-US" sz="2400" b="0" dirty="0">
                <a:solidFill>
                  <a:srgbClr val="000000"/>
                </a:solidFill>
                <a:latin typeface="Verdana" panose="020B0604030504040204" pitchFamily="34" charset="0"/>
              </a:rPr>
              <a:t>、</a:t>
            </a:r>
            <a:r>
              <a:rPr lang="en-US" altLang="zh-CN" sz="2400" b="0" dirty="0">
                <a:solidFill>
                  <a:srgbClr val="000000"/>
                </a:solidFill>
                <a:latin typeface="Verdana" panose="020B0604030504040204" pitchFamily="34" charset="0"/>
              </a:rPr>
              <a:t>LINUX</a:t>
            </a:r>
            <a:r>
              <a:rPr lang="zh-CN" altLang="en-US" sz="2400" b="0" dirty="0">
                <a:solidFill>
                  <a:srgbClr val="000000"/>
                </a:solidFill>
                <a:latin typeface="Verdana" panose="020B0604030504040204" pitchFamily="34" charset="0"/>
              </a:rPr>
              <a:t>、。。。</a:t>
            </a:r>
            <a:endParaRPr lang="en-US" altLang="zh-CN" sz="2400" b="0" dirty="0">
              <a:solidFill>
                <a:srgbClr val="000000"/>
              </a:solidFill>
              <a:latin typeface="Verdana" panose="020B0604030504040204" pitchFamily="34" charset="0"/>
            </a:endParaRPr>
          </a:p>
          <a:p>
            <a:pPr marL="0" lvl="0" indent="0" eaLnBrk="1" hangingPunct="1">
              <a:spcBef>
                <a:spcPct val="50000"/>
              </a:spcBef>
              <a:buClrTx/>
              <a:buFontTx/>
              <a:buNone/>
            </a:pPr>
            <a:endParaRPr lang="en-US" altLang="zh-CN" sz="2400" b="0" dirty="0">
              <a:solidFill>
                <a:srgbClr val="000000"/>
              </a:solidFill>
              <a:latin typeface="Verdana" panose="020B0604030504040204" pitchFamily="34" charset="0"/>
            </a:endParaRPr>
          </a:p>
          <a:p>
            <a:pPr marL="0" lvl="0" indent="0" eaLnBrk="1" hangingPunct="1">
              <a:spcBef>
                <a:spcPct val="50000"/>
              </a:spcBef>
              <a:buClrTx/>
              <a:buFontTx/>
              <a:buNone/>
            </a:pPr>
            <a:r>
              <a:rPr lang="zh-CN" altLang="en-US" sz="2400" b="0" dirty="0">
                <a:solidFill>
                  <a:srgbClr val="000000"/>
                </a:solidFill>
                <a:latin typeface="Verdana" panose="020B0604030504040204" pitchFamily="34" charset="0"/>
              </a:rPr>
              <a:t>   </a:t>
            </a:r>
            <a:endParaRPr lang="en-US" altLang="zh-CN" sz="2400" b="0" dirty="0">
              <a:solidFill>
                <a:srgbClr val="000000"/>
              </a:solidFill>
              <a:latin typeface="Verdana" panose="020B0604030504040204" pitchFamily="34" charset="0"/>
            </a:endParaRPr>
          </a:p>
          <a:p>
            <a:pPr marL="0" lvl="0" indent="0" eaLnBrk="1" hangingPunct="1">
              <a:spcBef>
                <a:spcPct val="50000"/>
              </a:spcBef>
              <a:buClrTx/>
              <a:buFontTx/>
              <a:buNone/>
            </a:pPr>
            <a:r>
              <a:rPr lang="zh-CN" altLang="en-US" sz="2400" b="0" dirty="0">
                <a:solidFill>
                  <a:srgbClr val="000000"/>
                </a:solidFill>
                <a:latin typeface="宋体" panose="02010600030101010101" pitchFamily="2" charset="-122"/>
              </a:rPr>
              <a:t>③</a:t>
            </a:r>
            <a:r>
              <a:rPr lang="zh-CN" altLang="en-US" sz="2400" b="0" dirty="0">
                <a:solidFill>
                  <a:srgbClr val="000000"/>
                </a:solidFill>
                <a:latin typeface="Verdana" panose="020B0604030504040204" pitchFamily="34" charset="0"/>
              </a:rPr>
              <a:t>系统</a:t>
            </a:r>
            <a:r>
              <a:rPr lang="zh-CN" altLang="en-US" sz="2400" b="0" dirty="0">
                <a:solidFill>
                  <a:srgbClr val="000000"/>
                </a:solidFill>
              </a:rPr>
              <a:t>操作失误：非正常关机</a:t>
            </a:r>
            <a:r>
              <a:rPr lang="en-US" altLang="zh-CN" sz="2400" b="0" dirty="0">
                <a:solidFill>
                  <a:srgbClr val="000000"/>
                </a:solidFill>
              </a:rPr>
              <a:t>/</a:t>
            </a:r>
            <a:r>
              <a:rPr lang="zh-CN" altLang="en-US" sz="2400" b="0" dirty="0">
                <a:solidFill>
                  <a:srgbClr val="000000"/>
                </a:solidFill>
              </a:rPr>
              <a:t>重启、强行终止系统进程、意外卸载相关系统运行环境。。。</a:t>
            </a:r>
            <a:endParaRPr lang="en-US" altLang="zh-CN" sz="2400" b="0" dirty="0">
              <a:solidFill>
                <a:srgbClr val="000000"/>
              </a:solidFill>
            </a:endParaRPr>
          </a:p>
          <a:p>
            <a:pPr marL="0" lvl="0" indent="0" eaLnBrk="1" hangingPunct="1">
              <a:spcBef>
                <a:spcPct val="50000"/>
              </a:spcBef>
              <a:buClrTx/>
              <a:buFontTx/>
              <a:buNone/>
            </a:pPr>
            <a:r>
              <a:rPr lang="zh-CN" altLang="en-US" sz="2400" b="0" dirty="0">
                <a:solidFill>
                  <a:srgbClr val="000000"/>
                </a:solidFill>
                <a:latin typeface="宋体" panose="02010600030101010101" pitchFamily="2" charset="-122"/>
              </a:rPr>
              <a:t>④</a:t>
            </a:r>
            <a:r>
              <a:rPr lang="zh-CN" altLang="en-US" sz="2400" b="0" dirty="0">
                <a:solidFill>
                  <a:srgbClr val="000000"/>
                </a:solidFill>
                <a:latin typeface="Verdana" panose="020B0604030504040204" pitchFamily="34" charset="0"/>
              </a:rPr>
              <a:t> 系统异常断电（</a:t>
            </a:r>
            <a:r>
              <a:rPr lang="zh-CN" altLang="en-US" sz="2400" b="0" dirty="0">
                <a:solidFill>
                  <a:srgbClr val="FF0000"/>
                </a:solidFill>
                <a:latin typeface="Verdana" panose="020B0604030504040204" pitchFamily="34" charset="0"/>
              </a:rPr>
              <a:t>重启之后系统未发现数据库的存储文件错误或者磁盘错误</a:t>
            </a:r>
            <a:r>
              <a:rPr lang="zh-CN" altLang="en-US" sz="2400" b="0" dirty="0">
                <a:solidFill>
                  <a:srgbClr val="000000"/>
                </a:solidFill>
                <a:latin typeface="Verdana" panose="020B0604030504040204" pitchFamily="34" charset="0"/>
              </a:rPr>
              <a:t>）</a:t>
            </a:r>
            <a:endParaRPr lang="zh-CN" altLang="en-US" sz="2400" b="0" dirty="0">
              <a:solidFill>
                <a:srgbClr val="000000"/>
              </a:solidFill>
              <a:latin typeface="Verdana" panose="020B0604030504040204" pitchFamily="34" charset="0"/>
            </a:endParaRPr>
          </a:p>
        </p:txBody>
      </p:sp>
      <p:sp>
        <p:nvSpPr>
          <p:cNvPr id="27651" name="灯片编号占位符 3"/>
          <p:cNvSpPr txBox="1">
            <a:spLocks noGrp="1"/>
          </p:cNvSpPr>
          <p:nvPr>
            <p:ph type="sldNum" sz="quarter" idx="12"/>
          </p:nvPr>
        </p:nvSpPr>
        <p:spPr>
          <a:ln/>
        </p:spPr>
        <p:txBody>
          <a:bodyPr/>
          <a:p>
            <a:pPr marL="0" indent="0" algn="r" eaLnBrk="1" hangingPunct="1">
              <a:spcBef>
                <a:spcPct val="0"/>
              </a:spcBef>
              <a:buClrTx/>
              <a:buFontTx/>
              <a:buNone/>
            </a:pPr>
            <a:fld id="{9A0DB2DC-4C9A-4742-B13C-FB6460FD3503}" type="slidenum">
              <a:rPr lang="en-US" altLang="zh-CN" sz="1200" b="0" dirty="0">
                <a:solidFill>
                  <a:srgbClr val="045C75"/>
                </a:solidFill>
                <a:latin typeface="Verdana" panose="020B0604030504040204" pitchFamily="34" charset="0"/>
              </a:rPr>
            </a:fld>
            <a:endParaRPr lang="en-US" altLang="zh-CN" sz="1200" b="0" dirty="0">
              <a:solidFill>
                <a:srgbClr val="045C75"/>
              </a:solidFill>
              <a:latin typeface="Verdana" panose="020B0604030504040204" pitchFamily="34" charset="0"/>
            </a:endParaRPr>
          </a:p>
        </p:txBody>
      </p:sp>
      <p:sp>
        <p:nvSpPr>
          <p:cNvPr id="9" name="圆角矩形标注 8"/>
          <p:cNvSpPr/>
          <p:nvPr/>
        </p:nvSpPr>
        <p:spPr>
          <a:xfrm>
            <a:off x="220663" y="3805238"/>
            <a:ext cx="914400" cy="487363"/>
          </a:xfrm>
          <a:prstGeom prst="wedgeRoundRectCallout">
            <a:avLst>
              <a:gd name="adj1" fmla="val 45101"/>
              <a:gd name="adj2" fmla="val -104795"/>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死机</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圆角矩形标注 9"/>
          <p:cNvSpPr/>
          <p:nvPr/>
        </p:nvSpPr>
        <p:spPr>
          <a:xfrm>
            <a:off x="1431925" y="3876675"/>
            <a:ext cx="914400" cy="488950"/>
          </a:xfrm>
          <a:prstGeom prst="wedgeRoundRectCallout">
            <a:avLst>
              <a:gd name="adj1" fmla="val 45101"/>
              <a:gd name="adj2" fmla="val -104795"/>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蓝屏</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 name="圆角矩形标注 10"/>
          <p:cNvSpPr/>
          <p:nvPr/>
        </p:nvSpPr>
        <p:spPr>
          <a:xfrm>
            <a:off x="2663825" y="3876675"/>
            <a:ext cx="1511300" cy="488950"/>
          </a:xfrm>
          <a:prstGeom prst="wedgeRoundRectCallout">
            <a:avLst>
              <a:gd name="adj1" fmla="val 45101"/>
              <a:gd name="adj2" fmla="val -104795"/>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意外重启</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圆角矩形标注 11"/>
          <p:cNvSpPr/>
          <p:nvPr/>
        </p:nvSpPr>
        <p:spPr>
          <a:xfrm>
            <a:off x="4486275" y="3789363"/>
            <a:ext cx="3146425" cy="487363"/>
          </a:xfrm>
          <a:prstGeom prst="wedgeRoundRectCallout">
            <a:avLst>
              <a:gd name="adj1" fmla="val 45101"/>
              <a:gd name="adj2" fmla="val -104795"/>
              <a:gd name="adj3" fmla="val 16667"/>
            </a:avLst>
          </a:prstGeom>
          <a:ln w="38100">
            <a:solidFill>
              <a:srgbClr val="00B0F0"/>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某系统功能意外退出</a:t>
            </a:r>
            <a:endParaRPr kumimoji="1"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7656" name="矩形 1"/>
          <p:cNvSpPr/>
          <p:nvPr/>
        </p:nvSpPr>
        <p:spPr>
          <a:xfrm>
            <a:off x="7734300" y="3535363"/>
            <a:ext cx="1108075"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eaLnBrk="1" hangingPunct="1">
              <a:spcBef>
                <a:spcPct val="0"/>
              </a:spcBef>
              <a:buClrTx/>
              <a:buFontTx/>
              <a:buNone/>
            </a:pPr>
            <a:r>
              <a:rPr lang="zh-CN" altLang="en-US" sz="2400" dirty="0">
                <a:solidFill>
                  <a:srgbClr val="00B0F0"/>
                </a:solidFill>
                <a:latin typeface="Verdana" panose="020B0604030504040204" pitchFamily="34" charset="0"/>
              </a:rPr>
              <a:t>。。。</a:t>
            </a:r>
            <a:endParaRPr lang="zh-CN" altLang="en-US" sz="2400" dirty="0">
              <a:solidFill>
                <a:srgbClr val="00B0F0"/>
              </a:solidFill>
              <a:latin typeface="Verdan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1"/>
          <p:cNvSpPr txBox="1">
            <a:spLocks noGrp="1"/>
          </p:cNvSpPr>
          <p:nvPr>
            <p:ph type="sldNum" sz="quarter" idx="12"/>
          </p:nvPr>
        </p:nvSpPr>
        <p:spPr>
          <a:ln/>
        </p:spPr>
        <p:txBody>
          <a:bodyPr/>
          <a:p>
            <a:pPr marL="0" indent="0" algn="r" eaLnBrk="1" hangingPunct="1">
              <a:spcBef>
                <a:spcPct val="0"/>
              </a:spcBef>
              <a:buClrTx/>
              <a:buFontTx/>
              <a:buNone/>
            </a:pPr>
            <a:fld id="{9A0DB2DC-4C9A-4742-B13C-FB6460FD3503}" type="slidenum">
              <a:rPr lang="en-US" altLang="zh-CN" sz="1400" b="0" dirty="0">
                <a:solidFill>
                  <a:schemeClr val="tx1"/>
                </a:solidFill>
              </a:rPr>
            </a:fld>
            <a:endParaRPr lang="en-US" altLang="zh-CN" sz="1400" b="0" dirty="0">
              <a:solidFill>
                <a:schemeClr val="tx1"/>
              </a:solidFill>
            </a:endParaRPr>
          </a:p>
        </p:txBody>
      </p:sp>
      <p:sp>
        <p:nvSpPr>
          <p:cNvPr id="28675" name="矩形 2"/>
          <p:cNvSpPr/>
          <p:nvPr/>
        </p:nvSpPr>
        <p:spPr>
          <a:xfrm>
            <a:off x="357188" y="785813"/>
            <a:ext cx="8501062" cy="51085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50000"/>
              </a:spcBef>
              <a:buClrTx/>
              <a:buFontTx/>
              <a:buNone/>
            </a:pPr>
            <a:r>
              <a:rPr lang="zh-CN" altLang="en-US" dirty="0">
                <a:solidFill>
                  <a:schemeClr val="tx1"/>
                </a:solidFill>
              </a:rPr>
              <a:t>二、系统故障特征</a:t>
            </a:r>
            <a:endParaRPr lang="zh-CN" altLang="en-US" dirty="0">
              <a:solidFill>
                <a:schemeClr val="tx1"/>
              </a:solidFill>
            </a:endParaRPr>
          </a:p>
          <a:p>
            <a:pPr marL="0" lvl="0" indent="0">
              <a:spcBef>
                <a:spcPct val="50000"/>
              </a:spcBef>
              <a:buClrTx/>
              <a:buFontTx/>
              <a:buNone/>
            </a:pPr>
            <a:r>
              <a:rPr lang="zh-CN" altLang="en-US" sz="2800" dirty="0">
                <a:solidFill>
                  <a:schemeClr val="tx1"/>
                </a:solidFill>
                <a:latin typeface="宋体" panose="02010600030101010101" pitchFamily="2" charset="-122"/>
              </a:rPr>
              <a:t>①</a:t>
            </a:r>
            <a:r>
              <a:rPr lang="zh-CN" altLang="en-US" sz="2800" dirty="0">
                <a:solidFill>
                  <a:schemeClr val="tx1"/>
                </a:solidFill>
              </a:rPr>
              <a:t> </a:t>
            </a:r>
            <a:r>
              <a:rPr lang="zh-CN" altLang="en-US" sz="2800" dirty="0">
                <a:solidFill>
                  <a:srgbClr val="FF0000"/>
                </a:solidFill>
              </a:rPr>
              <a:t>内存数据丢失或不再可靠</a:t>
            </a:r>
            <a:r>
              <a:rPr lang="zh-CN" altLang="en-US" sz="2800" dirty="0">
                <a:solidFill>
                  <a:schemeClr val="tx1"/>
                </a:solidFill>
              </a:rPr>
              <a:t>；</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latin typeface="宋体" panose="02010600030101010101" pitchFamily="2" charset="-122"/>
              </a:rPr>
              <a:t>②</a:t>
            </a:r>
            <a:r>
              <a:rPr lang="zh-CN" altLang="en-US" sz="2800" dirty="0">
                <a:solidFill>
                  <a:schemeClr val="tx1"/>
                </a:solidFill>
              </a:rPr>
              <a:t> 外存数据未受到破坏；</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latin typeface="宋体" panose="02010600030101010101" pitchFamily="2" charset="-122"/>
              </a:rPr>
              <a:t>③</a:t>
            </a:r>
            <a:r>
              <a:rPr lang="zh-CN" altLang="en-US" sz="2800" dirty="0">
                <a:solidFill>
                  <a:schemeClr val="tx1"/>
                </a:solidFill>
              </a:rPr>
              <a:t> 一些尚未完成事务的更新结果</a:t>
            </a:r>
            <a:r>
              <a:rPr lang="zh-CN" altLang="en-US" sz="2800" dirty="0">
                <a:solidFill>
                  <a:srgbClr val="FF0000"/>
                </a:solidFill>
              </a:rPr>
              <a:t>可能已写入</a:t>
            </a:r>
            <a:r>
              <a:rPr lang="zh-CN" altLang="en-US" sz="2800" dirty="0">
                <a:solidFill>
                  <a:schemeClr val="tx1"/>
                </a:solidFill>
              </a:rPr>
              <a:t>数据库存储介质；</a:t>
            </a:r>
            <a:endParaRPr lang="zh-CN" altLang="en-US" sz="2800" dirty="0">
              <a:solidFill>
                <a:schemeClr val="tx1"/>
              </a:solidFill>
            </a:endParaRPr>
          </a:p>
          <a:p>
            <a:pPr marL="0" lvl="0" indent="0">
              <a:spcBef>
                <a:spcPct val="50000"/>
              </a:spcBef>
              <a:buClrTx/>
              <a:buFontTx/>
              <a:buNone/>
            </a:pPr>
            <a:r>
              <a:rPr lang="zh-CN" altLang="en-US" sz="2800" dirty="0">
                <a:solidFill>
                  <a:schemeClr val="tx1"/>
                </a:solidFill>
                <a:latin typeface="宋体" panose="02010600030101010101" pitchFamily="2" charset="-122"/>
              </a:rPr>
              <a:t>④</a:t>
            </a:r>
            <a:r>
              <a:rPr lang="zh-CN" altLang="en-US" sz="2800" dirty="0">
                <a:solidFill>
                  <a:schemeClr val="tx1"/>
                </a:solidFill>
              </a:rPr>
              <a:t> 已完成事务的更新结果</a:t>
            </a:r>
            <a:r>
              <a:rPr lang="zh-CN" altLang="en-US" sz="2800" dirty="0">
                <a:solidFill>
                  <a:srgbClr val="FF0000"/>
                </a:solidFill>
              </a:rPr>
              <a:t>可能部分还未写入</a:t>
            </a:r>
            <a:r>
              <a:rPr lang="zh-CN" altLang="en-US" sz="2800" dirty="0">
                <a:solidFill>
                  <a:schemeClr val="tx1"/>
                </a:solidFill>
              </a:rPr>
              <a:t>数据库（数据文件，也可能正处于提交过程之中）；</a:t>
            </a:r>
            <a:endParaRPr lang="en-US" altLang="zh-CN" sz="2800" dirty="0">
              <a:solidFill>
                <a:schemeClr val="tx1"/>
              </a:solidFill>
            </a:endParaRPr>
          </a:p>
          <a:p>
            <a:pPr marL="0" lvl="0" indent="0">
              <a:spcBef>
                <a:spcPct val="50000"/>
              </a:spcBef>
              <a:buClrTx/>
              <a:buFontTx/>
              <a:buNone/>
            </a:pPr>
            <a:r>
              <a:rPr lang="en-US" altLang="zh-CN" sz="2800" dirty="0">
                <a:solidFill>
                  <a:schemeClr val="tx1"/>
                </a:solidFill>
                <a:latin typeface="宋体" panose="02010600030101010101" pitchFamily="2" charset="-122"/>
              </a:rPr>
              <a:t>⑤</a:t>
            </a:r>
            <a:r>
              <a:rPr lang="en-US" altLang="zh-CN" sz="2800" dirty="0">
                <a:solidFill>
                  <a:schemeClr val="tx1"/>
                </a:solidFill>
              </a:rPr>
              <a:t> </a:t>
            </a:r>
            <a:r>
              <a:rPr lang="zh-CN" altLang="en-US" sz="2800" dirty="0">
                <a:solidFill>
                  <a:schemeClr val="tx1"/>
                </a:solidFill>
              </a:rPr>
              <a:t>已完成事务的结果</a:t>
            </a:r>
            <a:r>
              <a:rPr lang="zh-CN" altLang="en-US" sz="2800" dirty="0">
                <a:solidFill>
                  <a:srgbClr val="FF0000"/>
                </a:solidFill>
              </a:rPr>
              <a:t>可能全部未写入</a:t>
            </a:r>
            <a:r>
              <a:rPr lang="zh-CN" altLang="en-US" sz="2800" dirty="0">
                <a:solidFill>
                  <a:schemeClr val="tx1"/>
                </a:solidFill>
              </a:rPr>
              <a:t>数据库（例如正在等待检查点）。</a:t>
            </a:r>
            <a:endParaRPr lang="zh-CN" altLang="en-US" sz="2800" dirty="0">
              <a:solidFill>
                <a:schemeClr val="tx1"/>
              </a:solidFill>
            </a:endParaRPr>
          </a:p>
        </p:txBody>
      </p:sp>
      <p:sp>
        <p:nvSpPr>
          <p:cNvPr id="28676" name="AutoShape 3"/>
          <p:cNvSpPr/>
          <p:nvPr/>
        </p:nvSpPr>
        <p:spPr>
          <a:xfrm>
            <a:off x="8316913" y="3570288"/>
            <a:ext cx="431800" cy="358775"/>
          </a:xfrm>
          <a:prstGeom prst="star4">
            <a:avLst>
              <a:gd name="adj" fmla="val 12500"/>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endParaRPr lang="zh-CN" altLang="en-US" sz="1400" dirty="0">
              <a:solidFill>
                <a:schemeClr val="tx1"/>
              </a:solidFill>
            </a:endParaRPr>
          </a:p>
        </p:txBody>
      </p:sp>
      <p:sp>
        <p:nvSpPr>
          <p:cNvPr id="5" name="圆角矩形标注 4"/>
          <p:cNvSpPr/>
          <p:nvPr/>
        </p:nvSpPr>
        <p:spPr>
          <a:xfrm>
            <a:off x="706438" y="5805488"/>
            <a:ext cx="8329613" cy="1066800"/>
          </a:xfrm>
          <a:prstGeom prst="wedgeRoundRectCallout">
            <a:avLst>
              <a:gd name="adj1" fmla="val -10534"/>
              <a:gd name="adj2" fmla="val -107330"/>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marL="0" marR="0" lvl="0" indent="0" algn="l" defTabSz="914400" rtl="0" eaLnBrk="0" fontAlgn="base" latinLnBrk="0" hangingPunct="0">
              <a:lnSpc>
                <a:spcPct val="100000"/>
              </a:lnSpc>
              <a:spcBef>
                <a:spcPct val="50000"/>
              </a:spcBef>
              <a:spcAft>
                <a:spcPct val="0"/>
              </a:spcAft>
              <a:buClr>
                <a:srgbClr val="D34817"/>
              </a:buClr>
              <a:buSzPct val="85000"/>
              <a:buFontTx/>
              <a:buNone/>
              <a:defRPr/>
            </a:pPr>
            <a:r>
              <a:rPr kumimoji="1"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mn-ea"/>
                <a:cs typeface="+mn-cs"/>
              </a:rPr>
              <a:t>数据库的数据存储介质依然可靠，但是数据处于不正确或不一致状态</a:t>
            </a:r>
            <a:endParaRPr kumimoji="1" lang="zh-CN" altLang="en-US" sz="1400" b="1" i="0" u="none" strike="noStrike" kern="1200" cap="none" spc="0" normalizeH="0" baseline="0" noProof="0" dirty="0">
              <a:ln>
                <a:noFill/>
              </a:ln>
              <a:solidFill>
                <a:schemeClr val="dk1"/>
              </a:solidFill>
              <a:effectLst/>
              <a:uLnTx/>
              <a:uFillTx/>
              <a:latin typeface="宋体" panose="02010600030101010101" pitchFamily="2" charset="-122"/>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29699" name="Rectangle 2"/>
          <p:cNvSpPr>
            <a:spLocks noGrp="1"/>
          </p:cNvSpPr>
          <p:nvPr>
            <p:ph idx="1"/>
          </p:nvPr>
        </p:nvSpPr>
        <p:spPr>
          <a:xfrm>
            <a:off x="381000" y="914400"/>
            <a:ext cx="8458200" cy="5105400"/>
          </a:xfrm>
          <a:ln/>
        </p:spPr>
        <p:txBody>
          <a:bodyPr vert="horz" wrap="square" lIns="91440" tIns="45720" rIns="91440" bIns="45720" anchor="t" anchorCtr="0"/>
          <a:p>
            <a:pPr eaLnBrk="1" hangingPunct="1">
              <a:buNone/>
            </a:pPr>
            <a:r>
              <a:rPr lang="zh-CN" altLang="en-US" dirty="0">
                <a:solidFill>
                  <a:srgbClr val="0000CC"/>
                </a:solidFill>
              </a:rPr>
              <a:t>二、系统故障的恢复</a:t>
            </a:r>
            <a:endParaRPr lang="zh-CN" altLang="en-US" sz="2800" dirty="0">
              <a:solidFill>
                <a:srgbClr val="0000CC"/>
              </a:solidFill>
            </a:endParaRPr>
          </a:p>
          <a:p>
            <a:pPr eaLnBrk="1" hangingPunct="1"/>
            <a:r>
              <a:rPr lang="zh-CN" altLang="en-US" sz="2800" dirty="0"/>
              <a:t>清除尚未完成的事务对数据库的所有修改</a:t>
            </a:r>
            <a:endParaRPr lang="zh-CN" altLang="en-US" sz="2800" dirty="0"/>
          </a:p>
          <a:p>
            <a:pPr lvl="1" eaLnBrk="1" hangingPunct="1"/>
            <a:r>
              <a:rPr lang="zh-CN" altLang="en-US" dirty="0"/>
              <a:t>系统</a:t>
            </a:r>
            <a:r>
              <a:rPr lang="zh-CN" altLang="en-US" dirty="0">
                <a:solidFill>
                  <a:schemeClr val="accent2"/>
                </a:solidFill>
              </a:rPr>
              <a:t>重新启动时</a:t>
            </a:r>
            <a:r>
              <a:rPr lang="zh-CN" altLang="en-US" dirty="0"/>
              <a:t>，恢复程序要强行撤消（</a:t>
            </a:r>
            <a:r>
              <a:rPr lang="en-US" altLang="zh-CN" dirty="0"/>
              <a:t>UNDO</a:t>
            </a:r>
            <a:r>
              <a:rPr lang="zh-CN" altLang="en-US" dirty="0"/>
              <a:t>）所有未完成事务</a:t>
            </a:r>
            <a:endParaRPr lang="zh-CN" altLang="en-US" sz="2400" dirty="0"/>
          </a:p>
          <a:p>
            <a:pPr eaLnBrk="1" hangingPunct="1"/>
            <a:r>
              <a:rPr lang="zh-CN" altLang="en-US" sz="2800" dirty="0"/>
              <a:t>将缓冲区中已完成事务提交的结果写入数据库</a:t>
            </a:r>
            <a:endParaRPr lang="zh-CN" altLang="en-US" sz="2800" dirty="0"/>
          </a:p>
          <a:p>
            <a:pPr lvl="1" eaLnBrk="1" hangingPunct="1"/>
            <a:r>
              <a:rPr lang="zh-CN" altLang="en-US" dirty="0"/>
              <a:t>系统</a:t>
            </a:r>
            <a:r>
              <a:rPr lang="zh-CN" altLang="en-US" dirty="0">
                <a:solidFill>
                  <a:schemeClr val="accent2"/>
                </a:solidFill>
              </a:rPr>
              <a:t>重新启动时</a:t>
            </a:r>
            <a:r>
              <a:rPr lang="zh-CN" altLang="en-US" dirty="0"/>
              <a:t>，恢复程序需要重做（</a:t>
            </a:r>
            <a:r>
              <a:rPr lang="en-US" altLang="zh-CN" dirty="0"/>
              <a:t>REDO</a:t>
            </a:r>
            <a:r>
              <a:rPr lang="zh-CN" altLang="en-US" dirty="0"/>
              <a:t>）所有已提交的事务</a:t>
            </a:r>
            <a:endParaRPr lang="zh-CN" altLang="en-US" dirty="0"/>
          </a:p>
        </p:txBody>
      </p:sp>
      <p:sp>
        <p:nvSpPr>
          <p:cNvPr id="29700" name="Rectangle 3"/>
          <p:cNvSpPr>
            <a:spLocks noGrp="1"/>
          </p:cNvSpPr>
          <p:nvPr>
            <p:ph type="title"/>
          </p:nvPr>
        </p:nvSpPr>
        <p:spPr>
          <a:xfrm>
            <a:off x="1042988" y="71438"/>
            <a:ext cx="7415212"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0723" name="Rectangle 2"/>
          <p:cNvSpPr>
            <a:spLocks noGrp="1"/>
          </p:cNvSpPr>
          <p:nvPr>
            <p:ph idx="1"/>
          </p:nvPr>
        </p:nvSpPr>
        <p:spPr>
          <a:xfrm>
            <a:off x="381000" y="914400"/>
            <a:ext cx="8458200" cy="5105400"/>
          </a:xfrm>
          <a:ln/>
        </p:spPr>
        <p:txBody>
          <a:bodyPr vert="horz" wrap="square" lIns="91440" tIns="45720" rIns="91440" bIns="45720" anchor="t" anchorCtr="0"/>
          <a:p>
            <a:pPr eaLnBrk="1" hangingPunct="1">
              <a:buNone/>
            </a:pPr>
            <a:r>
              <a:rPr lang="zh-CN" altLang="en-US" dirty="0"/>
              <a:t>三、介质故障</a:t>
            </a:r>
            <a:endParaRPr lang="zh-CN" altLang="en-US" dirty="0"/>
          </a:p>
          <a:p>
            <a:pPr lvl="1" eaLnBrk="1" hangingPunct="1">
              <a:lnSpc>
                <a:spcPct val="110000"/>
              </a:lnSpc>
              <a:spcBef>
                <a:spcPct val="60000"/>
              </a:spcBef>
            </a:pPr>
            <a:r>
              <a:rPr lang="zh-CN" altLang="en-US" sz="3200" dirty="0"/>
              <a:t>硬件故障使存储在外存中的数据部分丢失或全部丢失</a:t>
            </a:r>
            <a:endParaRPr lang="zh-CN" altLang="en-US" sz="3200" dirty="0"/>
          </a:p>
          <a:p>
            <a:pPr lvl="1" eaLnBrk="1" hangingPunct="1">
              <a:lnSpc>
                <a:spcPct val="110000"/>
              </a:lnSpc>
              <a:spcBef>
                <a:spcPct val="60000"/>
              </a:spcBef>
            </a:pPr>
            <a:r>
              <a:rPr lang="zh-CN" altLang="en-US" sz="3200" dirty="0"/>
              <a:t>介质故障比前两类故障的可能性小得多，但破坏性大得多</a:t>
            </a:r>
            <a:endParaRPr lang="zh-CN" altLang="en-US" sz="3200" dirty="0"/>
          </a:p>
        </p:txBody>
      </p:sp>
      <p:sp>
        <p:nvSpPr>
          <p:cNvPr id="30724" name="Rectangle 3"/>
          <p:cNvSpPr>
            <a:spLocks noGrp="1"/>
          </p:cNvSpPr>
          <p:nvPr>
            <p:ph type="title"/>
          </p:nvPr>
        </p:nvSpPr>
        <p:spPr>
          <a:xfrm>
            <a:off x="1258888" y="71438"/>
            <a:ext cx="7197725"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1747" name="Rectangle 2"/>
          <p:cNvSpPr>
            <a:spLocks noGrp="1"/>
          </p:cNvSpPr>
          <p:nvPr>
            <p:ph idx="1"/>
          </p:nvPr>
        </p:nvSpPr>
        <p:spPr>
          <a:xfrm>
            <a:off x="381000" y="706438"/>
            <a:ext cx="8458200" cy="5105400"/>
          </a:xfrm>
          <a:ln/>
        </p:spPr>
        <p:txBody>
          <a:bodyPr vert="horz" wrap="square" lIns="91440" tIns="45720" rIns="91440" bIns="45720" anchor="t" anchorCtr="0"/>
          <a:p>
            <a:pPr eaLnBrk="1" hangingPunct="1">
              <a:buNone/>
            </a:pPr>
            <a:r>
              <a:rPr lang="zh-CN" altLang="en-US" dirty="0"/>
              <a:t>三、介质故障分类</a:t>
            </a:r>
            <a:endParaRPr lang="zh-CN" altLang="en-US" dirty="0"/>
          </a:p>
        </p:txBody>
      </p:sp>
      <p:sp>
        <p:nvSpPr>
          <p:cNvPr id="31748" name="Rectangle 3"/>
          <p:cNvSpPr>
            <a:spLocks noGrp="1"/>
          </p:cNvSpPr>
          <p:nvPr>
            <p:ph type="title"/>
          </p:nvPr>
        </p:nvSpPr>
        <p:spPr>
          <a:xfrm>
            <a:off x="1258888" y="71438"/>
            <a:ext cx="7197725"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
        <p:nvSpPr>
          <p:cNvPr id="31749" name="Text Box 2"/>
          <p:cNvSpPr txBox="1"/>
          <p:nvPr/>
        </p:nvSpPr>
        <p:spPr>
          <a:xfrm>
            <a:off x="381000" y="1703388"/>
            <a:ext cx="8637588" cy="28781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50000"/>
              </a:spcBef>
              <a:buClrTx/>
              <a:buFontTx/>
              <a:buNone/>
            </a:pPr>
            <a:r>
              <a:rPr lang="zh-CN" altLang="en-US" dirty="0">
                <a:solidFill>
                  <a:schemeClr val="tx1"/>
                </a:solidFill>
                <a:latin typeface="宋体" panose="02010600030101010101" pitchFamily="2" charset="-122"/>
              </a:rPr>
              <a:t>①</a:t>
            </a:r>
            <a:r>
              <a:rPr lang="zh-CN" altLang="en-US" dirty="0">
                <a:solidFill>
                  <a:schemeClr val="tx1"/>
                </a:solidFill>
              </a:rPr>
              <a:t> 磁盘故障</a:t>
            </a:r>
            <a:endParaRPr lang="zh-CN" altLang="en-US" dirty="0">
              <a:solidFill>
                <a:schemeClr val="tx1"/>
              </a:solidFill>
            </a:endParaRPr>
          </a:p>
          <a:p>
            <a:pPr marL="0" lvl="0" indent="0">
              <a:spcBef>
                <a:spcPct val="50000"/>
              </a:spcBef>
              <a:buClrTx/>
              <a:buFontTx/>
              <a:buNone/>
            </a:pPr>
            <a:r>
              <a:rPr lang="zh-CN" altLang="en-US" dirty="0">
                <a:solidFill>
                  <a:schemeClr val="tx1"/>
                </a:solidFill>
              </a:rPr>
              <a:t>     磁盘损坏（磁道、扇区、分区、文件分配信息。。。），</a:t>
            </a:r>
            <a:endParaRPr lang="en-US" altLang="zh-CN" dirty="0">
              <a:solidFill>
                <a:schemeClr val="tx1"/>
              </a:solidFill>
            </a:endParaRPr>
          </a:p>
          <a:p>
            <a:pPr marL="0" lvl="0" indent="0">
              <a:spcBef>
                <a:spcPct val="50000"/>
              </a:spcBef>
              <a:buClrTx/>
              <a:buFontTx/>
              <a:buNone/>
            </a:pPr>
            <a:r>
              <a:rPr lang="en-US" altLang="zh-CN" dirty="0">
                <a:solidFill>
                  <a:schemeClr val="tx1"/>
                </a:solidFill>
              </a:rPr>
              <a:t>     </a:t>
            </a:r>
            <a:r>
              <a:rPr lang="zh-CN" altLang="en-US" dirty="0">
                <a:solidFill>
                  <a:schemeClr val="tx1"/>
                </a:solidFill>
              </a:rPr>
              <a:t>磁盘读写装置损坏（磁头、电机。。。）。</a:t>
            </a:r>
            <a:endParaRPr lang="zh-CN" altLang="en-US" dirty="0">
              <a:solidFill>
                <a:schemeClr val="tx1"/>
              </a:solidFill>
            </a:endParaRPr>
          </a:p>
          <a:p>
            <a:pPr marL="0" lvl="0" indent="0">
              <a:spcBef>
                <a:spcPct val="50000"/>
              </a:spcBef>
              <a:buClrTx/>
              <a:buFontTx/>
              <a:buNone/>
            </a:pPr>
            <a:r>
              <a:rPr lang="zh-CN" altLang="en-US" sz="1400" dirty="0">
                <a:solidFill>
                  <a:schemeClr val="tx1"/>
                </a:solidFill>
              </a:rPr>
              <a:t>。</a:t>
            </a:r>
            <a:endParaRPr lang="zh-CN" altLang="en-US" sz="1400" dirty="0">
              <a:solidFill>
                <a:schemeClr val="tx1"/>
              </a:solidFill>
            </a:endParaRPr>
          </a:p>
        </p:txBody>
      </p:sp>
      <p:sp>
        <p:nvSpPr>
          <p:cNvPr id="7" name="内容占位符 3"/>
          <p:cNvSpPr txBox="1"/>
          <p:nvPr/>
        </p:nvSpPr>
        <p:spPr bwMode="auto">
          <a:xfrm>
            <a:off x="323850" y="4724400"/>
            <a:ext cx="8229600" cy="280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b="1">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vl6pPr marL="25146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6pPr>
            <a:lvl7pPr marL="29718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7pPr>
            <a:lvl8pPr marL="34290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8pPr>
            <a:lvl9pPr marL="3886200" indent="-228600" algn="l" rtl="0" fontAlgn="base">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9pPr>
          </a:lstStyle>
          <a:p>
            <a:pPr marL="0" marR="0" lvl="0" indent="0" algn="l" defTabSz="914400" rtl="0" eaLnBrk="0" fontAlgn="base" latinLnBrk="0" hangingPunct="0">
              <a:lnSpc>
                <a:spcPct val="100000"/>
              </a:lnSpc>
              <a:spcBef>
                <a:spcPct val="50000"/>
              </a:spcBef>
              <a:spcAft>
                <a:spcPct val="0"/>
              </a:spcAft>
              <a:buClr>
                <a:srgbClr val="FF3300"/>
              </a:buClr>
              <a:buSzTx/>
              <a:buFont typeface="Wingdings" panose="05000000000000000000" pitchFamily="2" charset="2"/>
              <a:buNone/>
              <a:defRPr/>
            </a:pPr>
            <a:r>
              <a:rPr kumimoji="1" lang="zh-CN" altLang="en-US" sz="3200" b="1" i="0" u="none" strike="noStrike" kern="0" cap="none" spc="0" normalizeH="0" baseline="0" noProof="0" dirty="0" smtClean="0">
                <a:ln>
                  <a:noFill/>
                </a:ln>
                <a:solidFill>
                  <a:schemeClr val="tx1"/>
                </a:solidFill>
                <a:effectLst/>
                <a:uLnTx/>
                <a:uFillTx/>
                <a:latin typeface="宋体" panose="02010600030101010101" pitchFamily="2" charset="-122"/>
                <a:ea typeface="+mn-ea"/>
                <a:cs typeface="+mn-cs"/>
              </a:rPr>
              <a:t>②</a:t>
            </a:r>
            <a:r>
              <a:rPr kumimoji="1" lang="zh-CN" altLang="en-US" sz="3200" b="1" i="0" u="none" strike="noStrike" kern="0" cap="none" spc="0" normalizeH="0" baseline="0" noProof="0" dirty="0" smtClean="0">
                <a:ln>
                  <a:noFill/>
                </a:ln>
                <a:solidFill>
                  <a:schemeClr val="tx1"/>
                </a:solidFill>
                <a:effectLst/>
                <a:uLnTx/>
                <a:uFillTx/>
                <a:latin typeface="+mn-lt"/>
                <a:ea typeface="+mn-ea"/>
                <a:cs typeface="+mn-cs"/>
              </a:rPr>
              <a:t> 外界干扰</a:t>
            </a:r>
            <a:endParaRPr kumimoji="1"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50000"/>
              </a:spcBef>
              <a:spcAft>
                <a:spcPct val="0"/>
              </a:spcAft>
              <a:buClr>
                <a:srgbClr val="FF3300"/>
              </a:buClr>
              <a:buSzTx/>
              <a:buFont typeface="Wingdings" panose="05000000000000000000" pitchFamily="2" charset="2"/>
              <a:buNone/>
              <a:defRPr/>
            </a:pPr>
            <a:r>
              <a:rPr kumimoji="1" lang="zh-CN" altLang="en-US" sz="3200" b="1" i="0" u="none" strike="noStrike" kern="0" cap="none" spc="0" normalizeH="0" baseline="0" noProof="0" dirty="0" smtClean="0">
                <a:ln>
                  <a:noFill/>
                </a:ln>
                <a:solidFill>
                  <a:schemeClr val="tx1"/>
                </a:solidFill>
                <a:effectLst/>
                <a:uLnTx/>
                <a:uFillTx/>
                <a:latin typeface="+mn-lt"/>
                <a:ea typeface="+mn-ea"/>
                <a:cs typeface="+mn-cs"/>
              </a:rPr>
              <a:t>      强磁场干扰（磁性数据被清洗），灾害。</a:t>
            </a:r>
            <a:endParaRPr kumimoji="1" lang="zh-CN" altLang="en-US"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2771" name="Rectangle 2"/>
          <p:cNvSpPr>
            <a:spLocks noGrp="1"/>
          </p:cNvSpPr>
          <p:nvPr>
            <p:ph idx="1"/>
          </p:nvPr>
        </p:nvSpPr>
        <p:spPr>
          <a:xfrm>
            <a:off x="381000" y="914400"/>
            <a:ext cx="8458200" cy="5105400"/>
          </a:xfrm>
          <a:ln/>
        </p:spPr>
        <p:txBody>
          <a:bodyPr vert="horz" wrap="square" lIns="91440" tIns="45720" rIns="91440" bIns="45720" anchor="t" anchorCtr="0"/>
          <a:p>
            <a:pPr eaLnBrk="1" hangingPunct="1">
              <a:buNone/>
            </a:pPr>
            <a:r>
              <a:rPr lang="zh-CN" altLang="en-US" dirty="0">
                <a:solidFill>
                  <a:srgbClr val="0000CC"/>
                </a:solidFill>
              </a:rPr>
              <a:t>介质故障的恢复</a:t>
            </a:r>
            <a:endParaRPr lang="zh-CN" altLang="en-US" sz="2800" dirty="0">
              <a:solidFill>
                <a:srgbClr val="0000CC"/>
              </a:solidFill>
            </a:endParaRPr>
          </a:p>
          <a:p>
            <a:pPr eaLnBrk="1" hangingPunct="1">
              <a:lnSpc>
                <a:spcPct val="110000"/>
              </a:lnSpc>
              <a:spcBef>
                <a:spcPct val="60000"/>
              </a:spcBef>
            </a:pPr>
            <a:r>
              <a:rPr lang="zh-CN" altLang="en-US" dirty="0"/>
              <a:t>装入</a:t>
            </a:r>
            <a:r>
              <a:rPr lang="zh-CN" altLang="en-US" dirty="0">
                <a:solidFill>
                  <a:schemeClr val="tx1"/>
                </a:solidFill>
              </a:rPr>
              <a:t>数据库发生介质故障前某个时刻的数据</a:t>
            </a:r>
            <a:r>
              <a:rPr lang="zh-CN" altLang="en-US" dirty="0"/>
              <a:t>副本</a:t>
            </a:r>
            <a:endParaRPr lang="zh-CN" altLang="en-US" dirty="0"/>
          </a:p>
          <a:p>
            <a:pPr eaLnBrk="1" hangingPunct="1">
              <a:lnSpc>
                <a:spcPct val="110000"/>
              </a:lnSpc>
              <a:spcBef>
                <a:spcPct val="60000"/>
              </a:spcBef>
            </a:pPr>
            <a:r>
              <a:rPr lang="zh-CN" altLang="en-US" dirty="0"/>
              <a:t>重做</a:t>
            </a:r>
            <a:r>
              <a:rPr lang="zh-CN" altLang="en-US" dirty="0">
                <a:solidFill>
                  <a:schemeClr val="tx1"/>
                </a:solidFill>
              </a:rPr>
              <a:t>自此时始的所有</a:t>
            </a:r>
            <a:r>
              <a:rPr lang="zh-CN" altLang="en-US" dirty="0"/>
              <a:t>成功事务</a:t>
            </a:r>
            <a:r>
              <a:rPr lang="zh-CN" altLang="en-US" dirty="0">
                <a:solidFill>
                  <a:schemeClr val="tx1"/>
                </a:solidFill>
              </a:rPr>
              <a:t>，将这些事务已提交的结果重新记入数据库</a:t>
            </a:r>
            <a:endParaRPr lang="zh-CN" altLang="en-US" dirty="0">
              <a:solidFill>
                <a:schemeClr val="tx1"/>
              </a:solidFill>
            </a:endParaRPr>
          </a:p>
        </p:txBody>
      </p:sp>
      <p:sp>
        <p:nvSpPr>
          <p:cNvPr id="32772" name="Rectangle 3"/>
          <p:cNvSpPr>
            <a:spLocks noGrp="1"/>
          </p:cNvSpPr>
          <p:nvPr>
            <p:ph type="title"/>
          </p:nvPr>
        </p:nvSpPr>
        <p:spPr>
          <a:xfrm>
            <a:off x="1116013" y="0"/>
            <a:ext cx="7340600"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3795" name="Rectangle 2"/>
          <p:cNvSpPr>
            <a:spLocks noGrp="1"/>
          </p:cNvSpPr>
          <p:nvPr>
            <p:ph idx="1"/>
          </p:nvPr>
        </p:nvSpPr>
        <p:spPr>
          <a:xfrm>
            <a:off x="381000" y="914400"/>
            <a:ext cx="8458200" cy="5394325"/>
          </a:xfrm>
          <a:ln/>
        </p:spPr>
        <p:txBody>
          <a:bodyPr vert="horz" wrap="square" lIns="91440" tIns="45720" rIns="91440" bIns="45720" anchor="t" anchorCtr="0"/>
          <a:p>
            <a:pPr eaLnBrk="1" hangingPunct="1">
              <a:lnSpc>
                <a:spcPct val="120000"/>
              </a:lnSpc>
            </a:pPr>
            <a:r>
              <a:rPr lang="zh-CN" altLang="en-US" dirty="0">
                <a:solidFill>
                  <a:schemeClr val="tx1"/>
                </a:solidFill>
              </a:rPr>
              <a:t>恢复操作的基本原理：</a:t>
            </a:r>
            <a:r>
              <a:rPr lang="zh-CN" altLang="en-US" dirty="0"/>
              <a:t>冗余</a:t>
            </a:r>
            <a:endParaRPr lang="zh-CN" altLang="en-US" dirty="0"/>
          </a:p>
          <a:p>
            <a:pPr lvl="1" eaLnBrk="1" hangingPunct="1">
              <a:lnSpc>
                <a:spcPct val="120000"/>
              </a:lnSpc>
            </a:pPr>
            <a:r>
              <a:rPr lang="zh-CN" altLang="en-US" sz="3200" dirty="0"/>
              <a:t>利用存储在系统其它地方的</a:t>
            </a:r>
            <a:r>
              <a:rPr lang="zh-CN" altLang="en-US" sz="3200" dirty="0">
                <a:solidFill>
                  <a:srgbClr val="FF3300"/>
                </a:solidFill>
              </a:rPr>
              <a:t>冗余数据</a:t>
            </a:r>
            <a:r>
              <a:rPr lang="zh-CN" altLang="en-US" sz="3200" dirty="0"/>
              <a:t>来重建数据库中已被破坏或不正确的那部分数据</a:t>
            </a:r>
            <a:endParaRPr lang="zh-CN" altLang="en-US" sz="3200" dirty="0"/>
          </a:p>
          <a:p>
            <a:pPr lvl="1" eaLnBrk="1" hangingPunct="1">
              <a:lnSpc>
                <a:spcPct val="120000"/>
              </a:lnSpc>
            </a:pPr>
            <a:r>
              <a:rPr lang="zh-CN" altLang="en-US" sz="3200" dirty="0"/>
              <a:t>冗余的数据：备份、日志、镜像</a:t>
            </a:r>
            <a:endParaRPr lang="zh-CN" altLang="en-US" sz="3200" dirty="0"/>
          </a:p>
          <a:p>
            <a:pPr eaLnBrk="1" hangingPunct="1">
              <a:lnSpc>
                <a:spcPct val="120000"/>
              </a:lnSpc>
            </a:pPr>
            <a:r>
              <a:rPr lang="zh-CN" altLang="en-US" dirty="0">
                <a:solidFill>
                  <a:schemeClr val="tx1"/>
                </a:solidFill>
              </a:rPr>
              <a:t>恢复的实现技术：复杂</a:t>
            </a:r>
            <a:endParaRPr lang="zh-CN" altLang="en-US" dirty="0">
              <a:solidFill>
                <a:schemeClr val="tx1"/>
              </a:solidFill>
            </a:endParaRPr>
          </a:p>
          <a:p>
            <a:pPr lvl="1" eaLnBrk="1" hangingPunct="1">
              <a:lnSpc>
                <a:spcPct val="120000"/>
              </a:lnSpc>
            </a:pPr>
            <a:r>
              <a:rPr lang="zh-CN" altLang="en-US" sz="3200" dirty="0"/>
              <a:t>一个大型数据库产品，恢复子系统的代码要占全部代码的</a:t>
            </a:r>
            <a:r>
              <a:rPr lang="en-US" altLang="zh-CN" sz="3200" dirty="0"/>
              <a:t>10%</a:t>
            </a:r>
            <a:r>
              <a:rPr lang="zh-CN" altLang="en-US" sz="3200" dirty="0"/>
              <a:t>以上</a:t>
            </a:r>
            <a:endParaRPr lang="zh-CN" altLang="en-US" sz="3200" dirty="0"/>
          </a:p>
        </p:txBody>
      </p:sp>
      <p:sp>
        <p:nvSpPr>
          <p:cNvPr id="33796" name="Rectangle 3"/>
          <p:cNvSpPr>
            <a:spLocks noGrp="1"/>
          </p:cNvSpPr>
          <p:nvPr>
            <p:ph type="title"/>
          </p:nvPr>
        </p:nvSpPr>
        <p:spPr>
          <a:xfrm>
            <a:off x="1476375" y="0"/>
            <a:ext cx="6980238"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4819" name="Rectangle 2"/>
          <p:cNvSpPr>
            <a:spLocks noGrp="1"/>
          </p:cNvSpPr>
          <p:nvPr>
            <p:ph idx="1"/>
          </p:nvPr>
        </p:nvSpPr>
        <p:spPr>
          <a:xfrm>
            <a:off x="381000" y="914400"/>
            <a:ext cx="8458200" cy="3090863"/>
          </a:xfrm>
          <a:ln/>
        </p:spPr>
        <p:txBody>
          <a:bodyPr vert="horz" wrap="square" lIns="91440" tIns="45720" rIns="91440" bIns="45720" anchor="t" anchorCtr="0"/>
          <a:p>
            <a:pPr eaLnBrk="1" hangingPunct="1">
              <a:buNone/>
            </a:pPr>
            <a:r>
              <a:rPr lang="zh-CN" altLang="en-US" dirty="0"/>
              <a:t>四、计算机病毒</a:t>
            </a:r>
            <a:endParaRPr lang="zh-CN" altLang="en-US" dirty="0"/>
          </a:p>
        </p:txBody>
      </p:sp>
      <p:sp>
        <p:nvSpPr>
          <p:cNvPr id="34820" name="Rectangle 3"/>
          <p:cNvSpPr>
            <a:spLocks noGrp="1"/>
          </p:cNvSpPr>
          <p:nvPr>
            <p:ph type="title"/>
          </p:nvPr>
        </p:nvSpPr>
        <p:spPr>
          <a:xfrm>
            <a:off x="1258888" y="71438"/>
            <a:ext cx="7197725"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
        <p:nvSpPr>
          <p:cNvPr id="34821" name="内容占位符 2"/>
          <p:cNvSpPr txBox="1"/>
          <p:nvPr/>
        </p:nvSpPr>
        <p:spPr>
          <a:xfrm>
            <a:off x="539750" y="1477963"/>
            <a:ext cx="7775575" cy="5380037"/>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50000"/>
              </a:spcBef>
              <a:buClr>
                <a:srgbClr val="0BD0D9"/>
              </a:buClr>
              <a:buSzPct val="95000"/>
              <a:buFont typeface="Wingdings 2" panose="05020102010507070707" pitchFamily="18" charset="2"/>
              <a:buNone/>
            </a:pPr>
            <a:r>
              <a:rPr lang="en-US" altLang="zh-CN" sz="2600" dirty="0">
                <a:solidFill>
                  <a:schemeClr val="tx1"/>
                </a:solidFill>
                <a:latin typeface="Verdana" panose="020B0604030504040204" pitchFamily="34" charset="0"/>
              </a:rPr>
              <a:t>1</a:t>
            </a:r>
            <a:r>
              <a:rPr lang="zh-CN" altLang="en-US" sz="2600" dirty="0">
                <a:solidFill>
                  <a:schemeClr val="tx1"/>
                </a:solidFill>
              </a:rPr>
              <a:t>）特征</a:t>
            </a:r>
            <a:endParaRPr lang="zh-CN" altLang="en-US" sz="2600" dirty="0">
              <a:solidFill>
                <a:schemeClr val="tx1"/>
              </a:solidFill>
              <a:latin typeface="Verdana" panose="020B0604030504040204" pitchFamily="34" charset="0"/>
            </a:endParaRPr>
          </a:p>
          <a:p>
            <a:pPr marL="0" lvl="0" indent="0">
              <a:spcBef>
                <a:spcPct val="50000"/>
              </a:spcBef>
              <a:buClr>
                <a:srgbClr val="0BD0D9"/>
              </a:buClr>
              <a:buSzPct val="95000"/>
              <a:buFont typeface="Wingdings 2" panose="05020102010507070707" pitchFamily="18" charset="2"/>
              <a:buNone/>
            </a:pPr>
            <a:r>
              <a:rPr lang="zh-CN" altLang="en-US" sz="2600" dirty="0">
                <a:solidFill>
                  <a:schemeClr val="tx1"/>
                </a:solidFill>
                <a:latin typeface="Verdana" panose="020B0604030504040204" pitchFamily="34" charset="0"/>
              </a:rPr>
              <a:t>     计算机病毒是一种人为造成的技术故障或破坏，含有非法或者恶意企图，在执行某个功能时启动病毒代码，可能造成对数据库系统的危害。</a:t>
            </a:r>
            <a:endParaRPr lang="en-US" altLang="zh-CN" sz="2600" dirty="0">
              <a:solidFill>
                <a:schemeClr val="tx1"/>
              </a:solidFill>
              <a:latin typeface="Verdana" panose="020B0604030504040204" pitchFamily="34" charset="0"/>
            </a:endParaRPr>
          </a:p>
          <a:p>
            <a:pPr marL="0" lvl="0" indent="0">
              <a:buClr>
                <a:srgbClr val="0BD0D9"/>
              </a:buClr>
              <a:buSzPct val="95000"/>
              <a:buFont typeface="Wingdings 2" panose="05020102010507070707" pitchFamily="18" charset="2"/>
              <a:buNone/>
            </a:pPr>
            <a:r>
              <a:rPr lang="en-US" altLang="zh-CN" sz="2600" dirty="0">
                <a:solidFill>
                  <a:schemeClr val="tx1"/>
                </a:solidFill>
                <a:latin typeface="Verdana" panose="020B0604030504040204" pitchFamily="34" charset="0"/>
              </a:rPr>
              <a:t>2</a:t>
            </a:r>
            <a:r>
              <a:rPr lang="zh-CN" altLang="en-US" sz="2600" dirty="0">
                <a:solidFill>
                  <a:schemeClr val="tx1"/>
                </a:solidFill>
                <a:latin typeface="Verdana" panose="020B0604030504040204" pitchFamily="34" charset="0"/>
              </a:rPr>
              <a:t>）表现形式</a:t>
            </a:r>
            <a:endParaRPr lang="en-US" altLang="zh-CN" sz="2600" dirty="0">
              <a:solidFill>
                <a:schemeClr val="tx1"/>
              </a:solidFill>
              <a:latin typeface="Verdana" panose="020B0604030504040204" pitchFamily="34" charset="0"/>
            </a:endParaRPr>
          </a:p>
          <a:p>
            <a:pPr marL="0" lvl="0" indent="0">
              <a:spcBef>
                <a:spcPct val="50000"/>
              </a:spcBef>
              <a:buClr>
                <a:srgbClr val="0BD0D9"/>
              </a:buClr>
              <a:buSzPct val="95000"/>
              <a:buFont typeface="Wingdings 2" panose="05020102010507070707" pitchFamily="18" charset="2"/>
              <a:buNone/>
            </a:pPr>
            <a:r>
              <a:rPr lang="zh-CN" altLang="en-US" sz="2600" dirty="0">
                <a:solidFill>
                  <a:schemeClr val="tx1"/>
                </a:solidFill>
                <a:latin typeface="宋体" panose="02010600030101010101" pitchFamily="2" charset="-122"/>
              </a:rPr>
              <a:t>①</a:t>
            </a:r>
            <a:r>
              <a:rPr lang="zh-CN" altLang="en-US" sz="2600" dirty="0">
                <a:solidFill>
                  <a:schemeClr val="tx1"/>
                </a:solidFill>
                <a:latin typeface="Verdana" panose="020B0604030504040204" pitchFamily="34" charset="0"/>
              </a:rPr>
              <a:t> 消耗资源：</a:t>
            </a:r>
            <a:r>
              <a:rPr lang="zh-CN" altLang="en-US" sz="2600" dirty="0">
                <a:solidFill>
                  <a:schemeClr val="tx1"/>
                </a:solidFill>
                <a:latin typeface="宋体" panose="02010600030101010101" pitchFamily="2" charset="-122"/>
              </a:rPr>
              <a:t>内存、磁盘、网络端口，破坏系统正常运行</a:t>
            </a:r>
            <a:endParaRPr lang="en-US" altLang="zh-CN" sz="2600" dirty="0">
              <a:solidFill>
                <a:schemeClr val="tx1"/>
              </a:solidFill>
              <a:latin typeface="宋体" panose="02010600030101010101" pitchFamily="2" charset="-122"/>
            </a:endParaRPr>
          </a:p>
          <a:p>
            <a:pPr marL="0" lvl="0" indent="0">
              <a:spcBef>
                <a:spcPct val="50000"/>
              </a:spcBef>
              <a:buClr>
                <a:srgbClr val="0BD0D9"/>
              </a:buClr>
              <a:buSzPct val="95000"/>
              <a:buFont typeface="Wingdings 2" panose="05020102010507070707" pitchFamily="18" charset="2"/>
              <a:buNone/>
            </a:pPr>
            <a:r>
              <a:rPr lang="zh-CN" altLang="en-US" sz="2600" dirty="0">
                <a:solidFill>
                  <a:schemeClr val="tx1"/>
                </a:solidFill>
                <a:latin typeface="宋体" panose="02010600030101010101" pitchFamily="2" charset="-122"/>
              </a:rPr>
              <a:t>②</a:t>
            </a:r>
            <a:r>
              <a:rPr lang="zh-CN" altLang="en-US" sz="2600" dirty="0">
                <a:solidFill>
                  <a:schemeClr val="tx1"/>
                </a:solidFill>
                <a:latin typeface="Verdana" panose="020B0604030504040204" pitchFamily="34" charset="0"/>
              </a:rPr>
              <a:t> 泄露信息：系统信息、数据库信息</a:t>
            </a:r>
            <a:endParaRPr lang="en-US" altLang="zh-CN" sz="2600" dirty="0">
              <a:solidFill>
                <a:schemeClr val="tx1"/>
              </a:solidFill>
              <a:latin typeface="Verdana" panose="020B0604030504040204" pitchFamily="34" charset="0"/>
            </a:endParaRPr>
          </a:p>
          <a:p>
            <a:pPr marL="0" lvl="0" indent="0">
              <a:spcBef>
                <a:spcPct val="50000"/>
              </a:spcBef>
              <a:buClr>
                <a:srgbClr val="0BD0D9"/>
              </a:buClr>
              <a:buSzPct val="95000"/>
              <a:buFont typeface="Wingdings 2" panose="05020102010507070707" pitchFamily="18" charset="2"/>
              <a:buNone/>
            </a:pPr>
            <a:r>
              <a:rPr lang="zh-CN" altLang="en-US" sz="2600" dirty="0">
                <a:solidFill>
                  <a:schemeClr val="tx1"/>
                </a:solidFill>
                <a:latin typeface="宋体" panose="02010600030101010101" pitchFamily="2" charset="-122"/>
              </a:rPr>
              <a:t>③</a:t>
            </a:r>
            <a:r>
              <a:rPr lang="zh-CN" altLang="en-US" sz="2600" dirty="0">
                <a:solidFill>
                  <a:schemeClr val="tx1"/>
                </a:solidFill>
                <a:latin typeface="Verdana" panose="020B0604030504040204" pitchFamily="34" charset="0"/>
              </a:rPr>
              <a:t> 篡改数据：数据库信息</a:t>
            </a:r>
            <a:endParaRPr lang="en-US" altLang="zh-CN" sz="2600" dirty="0">
              <a:solidFill>
                <a:schemeClr val="tx1"/>
              </a:solidFill>
              <a:latin typeface="Verdana" panose="020B0604030504040204" pitchFamily="34" charset="0"/>
            </a:endParaRPr>
          </a:p>
          <a:p>
            <a:pPr marL="0" lvl="0" indent="0">
              <a:spcBef>
                <a:spcPct val="50000"/>
              </a:spcBef>
              <a:buClr>
                <a:srgbClr val="0BD0D9"/>
              </a:buClr>
              <a:buSzPct val="95000"/>
              <a:buFont typeface="Wingdings 2" panose="05020102010507070707" pitchFamily="18" charset="2"/>
              <a:buNone/>
            </a:pPr>
            <a:r>
              <a:rPr lang="zh-CN" altLang="en-US" sz="2600" dirty="0">
                <a:solidFill>
                  <a:schemeClr val="tx1"/>
                </a:solidFill>
                <a:latin typeface="宋体" panose="02010600030101010101" pitchFamily="2" charset="-122"/>
              </a:rPr>
              <a:t>④</a:t>
            </a:r>
            <a:r>
              <a:rPr lang="zh-CN" altLang="en-US" sz="2600" dirty="0">
                <a:solidFill>
                  <a:schemeClr val="tx1"/>
                </a:solidFill>
                <a:latin typeface="Verdana" panose="020B0604030504040204" pitchFamily="34" charset="0"/>
              </a:rPr>
              <a:t> 篡改程序 ：植入木马，埋下隐患</a:t>
            </a:r>
            <a:endParaRPr lang="en-US" altLang="zh-CN" sz="2600" dirty="0">
              <a:solidFill>
                <a:schemeClr val="tx1"/>
              </a:solidFill>
              <a:latin typeface="Verdana" panose="020B060403050404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5843" name="Rectangle 2"/>
          <p:cNvSpPr>
            <a:spLocks noGrp="1"/>
          </p:cNvSpPr>
          <p:nvPr>
            <p:ph idx="1"/>
          </p:nvPr>
        </p:nvSpPr>
        <p:spPr>
          <a:xfrm>
            <a:off x="381000" y="914400"/>
            <a:ext cx="8458200" cy="3090863"/>
          </a:xfrm>
          <a:ln/>
        </p:spPr>
        <p:txBody>
          <a:bodyPr vert="horz" wrap="square" lIns="91440" tIns="45720" rIns="91440" bIns="45720" anchor="t" anchorCtr="0"/>
          <a:p>
            <a:pPr eaLnBrk="1" hangingPunct="1">
              <a:buNone/>
            </a:pPr>
            <a:r>
              <a:rPr lang="zh-CN" altLang="en-US" dirty="0"/>
              <a:t>四、计算机病毒</a:t>
            </a:r>
            <a:endParaRPr lang="zh-CN" altLang="en-US" dirty="0"/>
          </a:p>
          <a:p>
            <a:pPr lvl="1" eaLnBrk="1" hangingPunct="1">
              <a:lnSpc>
                <a:spcPct val="110000"/>
              </a:lnSpc>
              <a:spcBef>
                <a:spcPct val="60000"/>
              </a:spcBef>
              <a:buNone/>
            </a:pPr>
            <a:r>
              <a:rPr lang="zh-CN" altLang="en-US" sz="3200" dirty="0"/>
              <a:t>总体归类为：</a:t>
            </a:r>
            <a:endParaRPr lang="zh-CN" altLang="en-US" sz="3200" dirty="0"/>
          </a:p>
          <a:p>
            <a:pPr lvl="1" eaLnBrk="1" hangingPunct="1">
              <a:lnSpc>
                <a:spcPct val="110000"/>
              </a:lnSpc>
              <a:spcBef>
                <a:spcPct val="60000"/>
              </a:spcBef>
            </a:pPr>
            <a:r>
              <a:rPr lang="zh-CN" altLang="en-US" sz="3200" dirty="0"/>
              <a:t>系统故障</a:t>
            </a:r>
            <a:r>
              <a:rPr lang="en-US" altLang="zh-CN" sz="3200" dirty="0"/>
              <a:t>(</a:t>
            </a:r>
            <a:r>
              <a:rPr lang="zh-CN" altLang="en-US" sz="3200" dirty="0"/>
              <a:t>软故障，仅系统崩溃</a:t>
            </a:r>
            <a:r>
              <a:rPr lang="en-US" altLang="zh-CN" sz="3200" dirty="0"/>
              <a:t>)</a:t>
            </a:r>
            <a:endParaRPr lang="en-US" altLang="zh-CN" sz="3200" dirty="0"/>
          </a:p>
          <a:p>
            <a:pPr lvl="1" eaLnBrk="1" hangingPunct="1">
              <a:lnSpc>
                <a:spcPct val="110000"/>
              </a:lnSpc>
              <a:spcBef>
                <a:spcPct val="60000"/>
              </a:spcBef>
            </a:pPr>
            <a:r>
              <a:rPr lang="zh-CN" altLang="en-US" sz="3200" dirty="0"/>
              <a:t>介质故障</a:t>
            </a:r>
            <a:r>
              <a:rPr lang="en-US" altLang="zh-CN" sz="3200" dirty="0"/>
              <a:t>(</a:t>
            </a:r>
            <a:r>
              <a:rPr lang="zh-CN" altLang="en-US" sz="3200" dirty="0"/>
              <a:t>硬故障，数据库文件被删</a:t>
            </a:r>
            <a:r>
              <a:rPr lang="en-US" altLang="zh-CN" sz="3200" dirty="0"/>
              <a:t>)</a:t>
            </a:r>
            <a:endParaRPr lang="en-US" altLang="zh-CN" sz="3200" dirty="0"/>
          </a:p>
        </p:txBody>
      </p:sp>
      <p:sp>
        <p:nvSpPr>
          <p:cNvPr id="35844" name="Rectangle 3"/>
          <p:cNvSpPr>
            <a:spLocks noGrp="1"/>
          </p:cNvSpPr>
          <p:nvPr>
            <p:ph type="title"/>
          </p:nvPr>
        </p:nvSpPr>
        <p:spPr>
          <a:xfrm>
            <a:off x="1258888" y="71438"/>
            <a:ext cx="7197725" cy="609600"/>
          </a:xfrm>
          <a:ln/>
        </p:spPr>
        <p:txBody>
          <a:bodyPr vert="horz" wrap="square" lIns="91440" tIns="45720" rIns="91440" bIns="45720" anchor="ctr" anchorCtr="0"/>
          <a:p>
            <a:pPr eaLnBrk="1" hangingPunct="1"/>
            <a:r>
              <a:rPr lang="en-US" altLang="zh-CN" sz="3200" dirty="0"/>
              <a:t>10.3  </a:t>
            </a:r>
            <a:r>
              <a:rPr lang="zh-CN" altLang="en-US" sz="3200" dirty="0"/>
              <a:t>故障的种类</a:t>
            </a:r>
            <a:endParaRPr lang="zh-CN" altLang="en-US" sz="3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6867" name="Rectangle 2"/>
          <p:cNvSpPr/>
          <p:nvPr/>
        </p:nvSpPr>
        <p:spPr>
          <a:xfrm>
            <a:off x="609600" y="2935288"/>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36868"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bg1"/>
                </a:solidFill>
              </a:rPr>
              <a:t>10.4  </a:t>
            </a:r>
            <a:r>
              <a:rPr lang="zh-CN" altLang="en-US" dirty="0">
                <a:solidFill>
                  <a:schemeClr val="bg1"/>
                </a:solidFill>
              </a:rPr>
              <a:t>恢复的实现技术</a:t>
            </a:r>
            <a:endParaRPr lang="zh-CN" altLang="en-US" dirty="0">
              <a:solidFill>
                <a:schemeClr val="bg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36869"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7891" name="Rectangle 2"/>
          <p:cNvSpPr>
            <a:spLocks noGrp="1"/>
          </p:cNvSpPr>
          <p:nvPr>
            <p:ph idx="1"/>
          </p:nvPr>
        </p:nvSpPr>
        <p:spPr>
          <a:xfrm>
            <a:off x="381000" y="914400"/>
            <a:ext cx="8458200" cy="5105400"/>
          </a:xfrm>
          <a:ln/>
        </p:spPr>
        <p:txBody>
          <a:bodyPr vert="horz" wrap="square" lIns="91440" tIns="45720" rIns="91440" bIns="45720" anchor="t" anchorCtr="0"/>
          <a:p>
            <a:pPr eaLnBrk="1" hangingPunct="1">
              <a:lnSpc>
                <a:spcPct val="120000"/>
              </a:lnSpc>
              <a:buNone/>
            </a:pPr>
            <a:r>
              <a:rPr lang="zh-CN" altLang="en-US" dirty="0"/>
              <a:t>恢复机制涉及的关键问题</a:t>
            </a:r>
            <a:endParaRPr lang="zh-CN" altLang="en-US" dirty="0"/>
          </a:p>
          <a:p>
            <a:pPr lvl="1" eaLnBrk="1" hangingPunct="1">
              <a:lnSpc>
                <a:spcPct val="120000"/>
              </a:lnSpc>
              <a:buNone/>
            </a:pPr>
            <a:r>
              <a:rPr lang="en-US" altLang="zh-CN" sz="3200" dirty="0"/>
              <a:t>1. </a:t>
            </a:r>
            <a:r>
              <a:rPr lang="zh-CN" altLang="en-US" sz="3200" dirty="0"/>
              <a:t>如何建立冗余数据</a:t>
            </a:r>
            <a:endParaRPr lang="zh-CN" altLang="en-US" sz="3200" dirty="0"/>
          </a:p>
          <a:p>
            <a:pPr lvl="2" eaLnBrk="1" hangingPunct="1">
              <a:lnSpc>
                <a:spcPct val="120000"/>
              </a:lnSpc>
              <a:buClr>
                <a:srgbClr val="0000CC"/>
              </a:buClr>
              <a:buFont typeface="Wingdings" panose="05000000000000000000" pitchFamily="2" charset="2"/>
              <a:buChar char="§"/>
            </a:pPr>
            <a:r>
              <a:rPr lang="zh-CN" altLang="en-US" sz="3200" dirty="0">
                <a:latin typeface="宋体" panose="02010600030101010101" pitchFamily="2" charset="-122"/>
                <a:ea typeface="宋体" panose="02010600030101010101" pitchFamily="2" charset="-122"/>
              </a:rPr>
              <a:t>数据转储</a:t>
            </a:r>
            <a:r>
              <a:rPr lang="zh-CN" altLang="en-US" sz="3200" dirty="0">
                <a:ea typeface="宋体" panose="02010600030101010101" pitchFamily="2" charset="-122"/>
              </a:rPr>
              <a:t>（</a:t>
            </a:r>
            <a:r>
              <a:rPr lang="en-US" altLang="zh-CN" sz="3200" dirty="0">
                <a:ea typeface="宋体" panose="02010600030101010101" pitchFamily="2" charset="-122"/>
              </a:rPr>
              <a:t>backup</a:t>
            </a:r>
            <a:r>
              <a:rPr lang="zh-CN" altLang="en-US" sz="3200" dirty="0">
                <a:ea typeface="宋体" panose="02010600030101010101" pitchFamily="2" charset="-122"/>
              </a:rPr>
              <a:t>）</a:t>
            </a:r>
            <a:r>
              <a:rPr lang="en-US" altLang="zh-CN" sz="3200" dirty="0">
                <a:latin typeface="宋体" panose="02010600030101010101" pitchFamily="2" charset="-122"/>
                <a:ea typeface="宋体" panose="02010600030101010101" pitchFamily="2" charset="-122"/>
              </a:rPr>
              <a:t>-</a:t>
            </a:r>
            <a:r>
              <a:rPr lang="zh-CN" altLang="en-US" sz="3200" dirty="0">
                <a:latin typeface="宋体" panose="02010600030101010101" pitchFamily="2" charset="-122"/>
                <a:ea typeface="宋体" panose="02010600030101010101" pitchFamily="2" charset="-122"/>
              </a:rPr>
              <a:t>备份</a:t>
            </a:r>
            <a:endParaRPr lang="zh-CN" altLang="en-US" sz="3200" dirty="0">
              <a:latin typeface="宋体" panose="02010600030101010101" pitchFamily="2" charset="-122"/>
              <a:ea typeface="宋体" panose="02010600030101010101" pitchFamily="2" charset="-122"/>
            </a:endParaRPr>
          </a:p>
          <a:p>
            <a:pPr lvl="2" eaLnBrk="1" hangingPunct="1">
              <a:lnSpc>
                <a:spcPct val="120000"/>
              </a:lnSpc>
              <a:buClr>
                <a:srgbClr val="0000CC"/>
              </a:buClr>
              <a:buFont typeface="Wingdings" panose="05000000000000000000" pitchFamily="2" charset="2"/>
              <a:buChar char="§"/>
            </a:pPr>
            <a:r>
              <a:rPr lang="zh-CN" altLang="en-US" sz="3200" dirty="0">
                <a:latin typeface="宋体" panose="02010600030101010101" pitchFamily="2" charset="-122"/>
                <a:ea typeface="宋体" panose="02010600030101010101" pitchFamily="2" charset="-122"/>
              </a:rPr>
              <a:t>登记日志文件</a:t>
            </a:r>
            <a:r>
              <a:rPr lang="zh-CN" altLang="en-US" sz="3200" dirty="0">
                <a:ea typeface="宋体" panose="02010600030101010101" pitchFamily="2" charset="-122"/>
              </a:rPr>
              <a:t>（</a:t>
            </a:r>
            <a:r>
              <a:rPr lang="en-US" altLang="zh-CN" sz="3200" dirty="0">
                <a:ea typeface="宋体" panose="02010600030101010101" pitchFamily="2" charset="-122"/>
              </a:rPr>
              <a:t>logging</a:t>
            </a:r>
            <a:r>
              <a:rPr lang="zh-CN" altLang="en-US" sz="3200" dirty="0">
                <a:ea typeface="宋体" panose="02010600030101010101" pitchFamily="2" charset="-122"/>
              </a:rPr>
              <a:t>）</a:t>
            </a:r>
            <a:endParaRPr lang="zh-CN" altLang="en-US" sz="3200" dirty="0">
              <a:ea typeface="宋体" panose="02010600030101010101" pitchFamily="2" charset="-122"/>
            </a:endParaRPr>
          </a:p>
          <a:p>
            <a:pPr lvl="1" eaLnBrk="1" hangingPunct="1">
              <a:lnSpc>
                <a:spcPct val="120000"/>
              </a:lnSpc>
              <a:buNone/>
            </a:pPr>
            <a:r>
              <a:rPr lang="en-US" altLang="zh-CN" sz="3200" dirty="0"/>
              <a:t>2. </a:t>
            </a:r>
            <a:r>
              <a:rPr lang="zh-CN" altLang="en-US" sz="3200" dirty="0"/>
              <a:t>如何利用这些冗余数据实施数据库恢复</a:t>
            </a:r>
            <a:endParaRPr lang="zh-CN" altLang="en-US" sz="3200" dirty="0"/>
          </a:p>
          <a:p>
            <a:pPr lvl="1" eaLnBrk="1" hangingPunct="1">
              <a:lnSpc>
                <a:spcPct val="120000"/>
              </a:lnSpc>
              <a:buNone/>
            </a:pPr>
            <a:r>
              <a:rPr lang="zh-CN" altLang="en-US" sz="3200" dirty="0"/>
              <a:t>　　</a:t>
            </a:r>
            <a:endParaRPr lang="zh-CN" altLang="en-US" sz="3200" dirty="0"/>
          </a:p>
        </p:txBody>
      </p:sp>
      <p:sp>
        <p:nvSpPr>
          <p:cNvPr id="37892" name="Rectangle 3"/>
          <p:cNvSpPr>
            <a:spLocks noGrp="1"/>
          </p:cNvSpPr>
          <p:nvPr>
            <p:ph type="title"/>
          </p:nvPr>
        </p:nvSpPr>
        <p:spPr>
          <a:xfrm>
            <a:off x="1157288" y="103188"/>
            <a:ext cx="7058025" cy="506412"/>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8915" name="Rectangle 2"/>
          <p:cNvSpPr>
            <a:spLocks noGrp="1"/>
          </p:cNvSpPr>
          <p:nvPr>
            <p:ph idx="1"/>
          </p:nvPr>
        </p:nvSpPr>
        <p:spPr>
          <a:xfrm>
            <a:off x="506413" y="1641475"/>
            <a:ext cx="8458200" cy="3714750"/>
          </a:xfrm>
          <a:ln/>
        </p:spPr>
        <p:txBody>
          <a:bodyPr vert="horz" wrap="square" lIns="91440" tIns="45720" rIns="91440" bIns="45720" anchor="t" anchorCtr="0"/>
          <a:p>
            <a:pPr eaLnBrk="1" hangingPunct="1">
              <a:lnSpc>
                <a:spcPct val="120000"/>
              </a:lnSpc>
              <a:buNone/>
            </a:pPr>
            <a:r>
              <a:rPr lang="en-US" altLang="zh-CN" sz="3600" dirty="0"/>
              <a:t>10.4.1 </a:t>
            </a:r>
            <a:r>
              <a:rPr lang="zh-CN" altLang="en-US" sz="3600" dirty="0"/>
              <a:t>数据转储</a:t>
            </a:r>
            <a:endParaRPr lang="zh-CN" altLang="en-US" sz="3600" dirty="0"/>
          </a:p>
          <a:p>
            <a:pPr eaLnBrk="1" hangingPunct="1">
              <a:lnSpc>
                <a:spcPct val="120000"/>
              </a:lnSpc>
              <a:buNone/>
            </a:pPr>
            <a:r>
              <a:rPr lang="en-US" altLang="zh-CN" sz="3600" dirty="0">
                <a:solidFill>
                  <a:schemeClr val="tx1"/>
                </a:solidFill>
              </a:rPr>
              <a:t>10.4.2 </a:t>
            </a:r>
            <a:r>
              <a:rPr lang="zh-CN" altLang="en-US" sz="3600" dirty="0">
                <a:solidFill>
                  <a:schemeClr val="tx1"/>
                </a:solidFill>
              </a:rPr>
              <a:t>登记日志文件</a:t>
            </a:r>
            <a:endParaRPr lang="zh-CN" altLang="en-US" sz="3600" dirty="0">
              <a:solidFill>
                <a:schemeClr val="tx1"/>
              </a:solidFill>
            </a:endParaRPr>
          </a:p>
          <a:p>
            <a:pPr lvl="1" eaLnBrk="1" hangingPunct="1">
              <a:lnSpc>
                <a:spcPct val="120000"/>
              </a:lnSpc>
              <a:buNone/>
            </a:pPr>
            <a:r>
              <a:rPr lang="zh-CN" altLang="en-US" sz="3600" dirty="0"/>
              <a:t>　　</a:t>
            </a:r>
            <a:endParaRPr lang="zh-CN" altLang="en-US" sz="3600" dirty="0"/>
          </a:p>
        </p:txBody>
      </p:sp>
      <p:sp>
        <p:nvSpPr>
          <p:cNvPr id="38916" name="Rectangle 3"/>
          <p:cNvSpPr>
            <a:spLocks noGrp="1"/>
          </p:cNvSpPr>
          <p:nvPr>
            <p:ph type="title"/>
          </p:nvPr>
        </p:nvSpPr>
        <p:spPr>
          <a:xfrm>
            <a:off x="1042988" y="0"/>
            <a:ext cx="7485062"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39939" name="Rectangle 2"/>
          <p:cNvSpPr>
            <a:spLocks noGrp="1"/>
          </p:cNvSpPr>
          <p:nvPr>
            <p:ph idx="1"/>
          </p:nvPr>
        </p:nvSpPr>
        <p:spPr>
          <a:xfrm>
            <a:off x="381000" y="914400"/>
            <a:ext cx="8458200" cy="4403725"/>
          </a:xfrm>
          <a:ln/>
        </p:spPr>
        <p:txBody>
          <a:bodyPr vert="horz" wrap="square" lIns="91440" tIns="45720" rIns="91440" bIns="45720" anchor="t" anchorCtr="0"/>
          <a:p>
            <a:pPr eaLnBrk="1" hangingPunct="1">
              <a:lnSpc>
                <a:spcPct val="140000"/>
              </a:lnSpc>
              <a:buNone/>
            </a:pPr>
            <a:r>
              <a:rPr lang="zh-CN" altLang="en-US" dirty="0"/>
              <a:t>转储</a:t>
            </a:r>
            <a:r>
              <a:rPr lang="en-US" altLang="zh-CN" dirty="0"/>
              <a:t>(</a:t>
            </a:r>
            <a:r>
              <a:rPr lang="zh-CN" altLang="en-US" dirty="0"/>
              <a:t>备份</a:t>
            </a:r>
            <a:r>
              <a:rPr lang="en-US" altLang="zh-CN" dirty="0"/>
              <a:t>)</a:t>
            </a:r>
            <a:r>
              <a:rPr lang="zh-CN" altLang="en-US" dirty="0"/>
              <a:t>技术</a:t>
            </a:r>
            <a:endParaRPr lang="zh-CN" altLang="en-US" dirty="0"/>
          </a:p>
          <a:p>
            <a:pPr eaLnBrk="1" hangingPunct="1">
              <a:lnSpc>
                <a:spcPct val="140000"/>
              </a:lnSpc>
              <a:buNone/>
            </a:pPr>
            <a:r>
              <a:rPr lang="en-US" altLang="zh-CN" dirty="0">
                <a:solidFill>
                  <a:schemeClr val="tx1"/>
                </a:solidFill>
              </a:rPr>
              <a:t>1</a:t>
            </a:r>
            <a:r>
              <a:rPr lang="zh-CN" altLang="en-US" dirty="0">
                <a:solidFill>
                  <a:schemeClr val="tx1"/>
                </a:solidFill>
              </a:rPr>
              <a:t>．静态转储与动态转储</a:t>
            </a:r>
            <a:endParaRPr lang="zh-CN" altLang="en-US" dirty="0">
              <a:solidFill>
                <a:schemeClr val="tx1"/>
              </a:solidFill>
            </a:endParaRPr>
          </a:p>
          <a:p>
            <a:pPr eaLnBrk="1" hangingPunct="1">
              <a:lnSpc>
                <a:spcPct val="140000"/>
              </a:lnSpc>
              <a:buNone/>
            </a:pPr>
            <a:r>
              <a:rPr lang="en-US" altLang="zh-CN" dirty="0">
                <a:solidFill>
                  <a:schemeClr val="tx1"/>
                </a:solidFill>
              </a:rPr>
              <a:t>2</a:t>
            </a:r>
            <a:r>
              <a:rPr lang="zh-CN" altLang="en-US" dirty="0">
                <a:solidFill>
                  <a:schemeClr val="tx1"/>
                </a:solidFill>
              </a:rPr>
              <a:t>．海量转储与增量转储</a:t>
            </a:r>
            <a:endParaRPr lang="zh-CN" altLang="en-US" dirty="0">
              <a:solidFill>
                <a:schemeClr val="tx1"/>
              </a:solidFill>
            </a:endParaRPr>
          </a:p>
          <a:p>
            <a:pPr eaLnBrk="1" hangingPunct="1">
              <a:lnSpc>
                <a:spcPct val="140000"/>
              </a:lnSpc>
              <a:buNone/>
            </a:pPr>
            <a:r>
              <a:rPr lang="en-US" altLang="zh-CN" dirty="0">
                <a:solidFill>
                  <a:schemeClr val="tx1"/>
                </a:solidFill>
              </a:rPr>
              <a:t>3</a:t>
            </a:r>
            <a:r>
              <a:rPr lang="zh-CN" altLang="en-US" dirty="0">
                <a:solidFill>
                  <a:schemeClr val="tx1"/>
                </a:solidFill>
              </a:rPr>
              <a:t>．转储方法小结</a:t>
            </a:r>
            <a:endParaRPr lang="zh-CN" altLang="en-US" dirty="0">
              <a:solidFill>
                <a:schemeClr val="tx1"/>
              </a:solidFill>
            </a:endParaRPr>
          </a:p>
          <a:p>
            <a:pPr eaLnBrk="1" hangingPunct="1">
              <a:lnSpc>
                <a:spcPct val="140000"/>
              </a:lnSpc>
              <a:buNone/>
            </a:pPr>
            <a:endParaRPr lang="zh-CN" altLang="en-US" sz="2800" dirty="0">
              <a:solidFill>
                <a:schemeClr val="tx1"/>
              </a:solidFill>
            </a:endParaRPr>
          </a:p>
          <a:p>
            <a:pPr lvl="1" eaLnBrk="1" hangingPunct="1">
              <a:lnSpc>
                <a:spcPct val="120000"/>
              </a:lnSpc>
              <a:buNone/>
            </a:pPr>
            <a:r>
              <a:rPr lang="zh-CN" altLang="en-US" sz="2400" dirty="0"/>
              <a:t>　　</a:t>
            </a:r>
            <a:endParaRPr lang="zh-CN" altLang="en-US" sz="2400" dirty="0"/>
          </a:p>
        </p:txBody>
      </p:sp>
      <p:sp>
        <p:nvSpPr>
          <p:cNvPr id="39940" name="Rectangle 3"/>
          <p:cNvSpPr>
            <a:spLocks noGrp="1"/>
          </p:cNvSpPr>
          <p:nvPr>
            <p:ph type="title"/>
          </p:nvPr>
        </p:nvSpPr>
        <p:spPr>
          <a:xfrm>
            <a:off x="1187450" y="71438"/>
            <a:ext cx="7269163"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0963" name="Rectangle 2"/>
          <p:cNvSpPr>
            <a:spLocks noGrp="1"/>
          </p:cNvSpPr>
          <p:nvPr>
            <p:ph idx="1"/>
          </p:nvPr>
        </p:nvSpPr>
        <p:spPr>
          <a:xfrm>
            <a:off x="381000" y="914400"/>
            <a:ext cx="8458200" cy="5694363"/>
          </a:xfrm>
          <a:ln/>
        </p:spPr>
        <p:txBody>
          <a:bodyPr vert="horz" wrap="square" lIns="91440" tIns="45720" rIns="91440" bIns="45720" anchor="t" anchorCtr="0"/>
          <a:p>
            <a:pPr eaLnBrk="1" hangingPunct="1">
              <a:lnSpc>
                <a:spcPct val="120000"/>
              </a:lnSpc>
              <a:buNone/>
            </a:pPr>
            <a:r>
              <a:rPr lang="zh-CN" altLang="en-US" dirty="0"/>
              <a:t>静态转储</a:t>
            </a:r>
            <a:endParaRPr lang="zh-CN" altLang="en-US" dirty="0"/>
          </a:p>
          <a:p>
            <a:pPr eaLnBrk="1" hangingPunct="1"/>
            <a:r>
              <a:rPr lang="zh-CN" altLang="en-US" sz="2800" dirty="0">
                <a:solidFill>
                  <a:schemeClr val="tx1"/>
                </a:solidFill>
              </a:rPr>
              <a:t>在系统中无运行事务时进行转储</a:t>
            </a:r>
            <a:endParaRPr lang="zh-CN" altLang="en-US" sz="2800" dirty="0">
              <a:solidFill>
                <a:schemeClr val="tx1"/>
              </a:solidFill>
            </a:endParaRPr>
          </a:p>
          <a:p>
            <a:pPr eaLnBrk="1" hangingPunct="1"/>
            <a:r>
              <a:rPr lang="zh-CN" altLang="en-US" dirty="0">
                <a:solidFill>
                  <a:schemeClr val="tx1"/>
                </a:solidFill>
              </a:rPr>
              <a:t>转储开始时数据库处于一致性状态</a:t>
            </a:r>
            <a:endParaRPr lang="zh-CN" altLang="en-US" dirty="0">
              <a:solidFill>
                <a:schemeClr val="tx1"/>
              </a:solidFill>
            </a:endParaRPr>
          </a:p>
          <a:p>
            <a:pPr eaLnBrk="1" hangingPunct="1"/>
            <a:r>
              <a:rPr lang="zh-CN" altLang="en-US" dirty="0">
                <a:solidFill>
                  <a:schemeClr val="tx1"/>
                </a:solidFill>
              </a:rPr>
              <a:t>转储期间不允许对数据库任何存取、修改活动</a:t>
            </a:r>
            <a:endParaRPr lang="zh-CN" altLang="en-US" dirty="0">
              <a:solidFill>
                <a:schemeClr val="tx1"/>
              </a:solidFill>
            </a:endParaRPr>
          </a:p>
          <a:p>
            <a:pPr eaLnBrk="1" hangingPunct="1"/>
            <a:r>
              <a:rPr lang="zh-CN" altLang="en-US" sz="2800" dirty="0">
                <a:solidFill>
                  <a:schemeClr val="tx1"/>
                </a:solidFill>
              </a:rPr>
              <a:t>优点：</a:t>
            </a:r>
            <a:r>
              <a:rPr lang="zh-CN" altLang="en-US" dirty="0">
                <a:solidFill>
                  <a:schemeClr val="tx1"/>
                </a:solidFill>
              </a:rPr>
              <a:t>实现简单</a:t>
            </a:r>
            <a:endParaRPr lang="zh-CN" altLang="en-US" dirty="0">
              <a:solidFill>
                <a:schemeClr val="tx1"/>
              </a:solidFill>
            </a:endParaRPr>
          </a:p>
          <a:p>
            <a:pPr eaLnBrk="1" hangingPunct="1"/>
            <a:r>
              <a:rPr lang="zh-CN" altLang="en-US" sz="2800" dirty="0">
                <a:solidFill>
                  <a:schemeClr val="tx1"/>
                </a:solidFill>
              </a:rPr>
              <a:t>缺点：</a:t>
            </a:r>
            <a:r>
              <a:rPr lang="zh-CN" altLang="en-US" dirty="0">
                <a:solidFill>
                  <a:schemeClr val="tx1"/>
                </a:solidFill>
              </a:rPr>
              <a:t>降低了数据库的可用性</a:t>
            </a:r>
            <a:endParaRPr lang="zh-CN" altLang="en-US" dirty="0">
              <a:solidFill>
                <a:schemeClr val="tx1"/>
              </a:solidFill>
            </a:endParaRPr>
          </a:p>
          <a:p>
            <a:pPr lvl="1" eaLnBrk="1" hangingPunct="1"/>
            <a:r>
              <a:rPr lang="zh-CN" altLang="en-US" sz="2400" dirty="0"/>
              <a:t>转储必须等用户事务结束</a:t>
            </a:r>
            <a:endParaRPr lang="zh-CN" altLang="en-US" sz="2400" dirty="0"/>
          </a:p>
          <a:p>
            <a:pPr lvl="1" eaLnBrk="1" hangingPunct="1"/>
            <a:r>
              <a:rPr lang="zh-CN" altLang="en-US" sz="2400" dirty="0"/>
              <a:t>新的事务必须等转储结束</a:t>
            </a:r>
            <a:endParaRPr lang="zh-CN" altLang="en-US" sz="3200" dirty="0"/>
          </a:p>
          <a:p>
            <a:pPr lvl="1" eaLnBrk="1" hangingPunct="1">
              <a:lnSpc>
                <a:spcPct val="120000"/>
              </a:lnSpc>
              <a:buNone/>
            </a:pPr>
            <a:r>
              <a:rPr lang="zh-CN" altLang="en-US" sz="2000" dirty="0"/>
              <a:t>　　</a:t>
            </a:r>
            <a:endParaRPr lang="zh-CN" altLang="en-US" sz="2000" dirty="0"/>
          </a:p>
        </p:txBody>
      </p:sp>
      <p:sp>
        <p:nvSpPr>
          <p:cNvPr id="40964" name="Rectangle 3"/>
          <p:cNvSpPr>
            <a:spLocks noGrp="1"/>
          </p:cNvSpPr>
          <p:nvPr>
            <p:ph type="title"/>
          </p:nvPr>
        </p:nvSpPr>
        <p:spPr>
          <a:xfrm>
            <a:off x="1116013" y="71438"/>
            <a:ext cx="72009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1987" name="Rectangle 2"/>
          <p:cNvSpPr>
            <a:spLocks noGrp="1"/>
          </p:cNvSpPr>
          <p:nvPr>
            <p:ph idx="1"/>
          </p:nvPr>
        </p:nvSpPr>
        <p:spPr>
          <a:xfrm>
            <a:off x="381000" y="914400"/>
            <a:ext cx="8458200" cy="5638800"/>
          </a:xfrm>
          <a:ln/>
        </p:spPr>
        <p:txBody>
          <a:bodyPr vert="horz" wrap="square" lIns="91440" tIns="45720" rIns="91440" bIns="45720" anchor="t" anchorCtr="0"/>
          <a:p>
            <a:pPr eaLnBrk="1" hangingPunct="1">
              <a:lnSpc>
                <a:spcPct val="110000"/>
              </a:lnSpc>
              <a:buNone/>
            </a:pPr>
            <a:r>
              <a:rPr lang="zh-CN" altLang="en-US" dirty="0"/>
              <a:t>动态转储</a:t>
            </a:r>
            <a:endParaRPr lang="zh-CN" altLang="en-US" sz="2800" dirty="0"/>
          </a:p>
          <a:p>
            <a:pPr eaLnBrk="1" hangingPunct="1">
              <a:lnSpc>
                <a:spcPct val="110000"/>
              </a:lnSpc>
            </a:pPr>
            <a:r>
              <a:rPr lang="zh-CN" altLang="en-US" dirty="0">
                <a:solidFill>
                  <a:schemeClr val="tx1"/>
                </a:solidFill>
              </a:rPr>
              <a:t>转储操作与用户事务并发进行</a:t>
            </a:r>
            <a:endParaRPr lang="zh-CN" altLang="en-US" dirty="0">
              <a:solidFill>
                <a:schemeClr val="tx1"/>
              </a:solidFill>
            </a:endParaRPr>
          </a:p>
          <a:p>
            <a:pPr eaLnBrk="1" hangingPunct="1">
              <a:lnSpc>
                <a:spcPct val="110000"/>
              </a:lnSpc>
            </a:pPr>
            <a:r>
              <a:rPr lang="zh-CN" altLang="en-US" dirty="0">
                <a:solidFill>
                  <a:schemeClr val="tx1"/>
                </a:solidFill>
              </a:rPr>
              <a:t>转储期间允许对数据库进行存取或修改</a:t>
            </a:r>
            <a:endParaRPr lang="zh-CN" altLang="en-US" dirty="0">
              <a:solidFill>
                <a:schemeClr val="tx1"/>
              </a:solidFill>
            </a:endParaRPr>
          </a:p>
          <a:p>
            <a:pPr eaLnBrk="1" hangingPunct="1">
              <a:lnSpc>
                <a:spcPct val="110000"/>
              </a:lnSpc>
            </a:pPr>
            <a:r>
              <a:rPr lang="zh-CN" altLang="en-US" dirty="0">
                <a:solidFill>
                  <a:schemeClr val="tx1"/>
                </a:solidFill>
              </a:rPr>
              <a:t>优点</a:t>
            </a:r>
            <a:endParaRPr lang="zh-CN" altLang="en-US" dirty="0">
              <a:solidFill>
                <a:schemeClr val="tx1"/>
              </a:solidFill>
            </a:endParaRPr>
          </a:p>
          <a:p>
            <a:pPr lvl="1" eaLnBrk="1" hangingPunct="1">
              <a:lnSpc>
                <a:spcPct val="110000"/>
              </a:lnSpc>
            </a:pPr>
            <a:r>
              <a:rPr lang="zh-CN" altLang="en-US" sz="3200" dirty="0"/>
              <a:t>不用等待正在运行的用户事务结束</a:t>
            </a:r>
            <a:endParaRPr lang="zh-CN" altLang="en-US" sz="3200" dirty="0"/>
          </a:p>
          <a:p>
            <a:pPr lvl="1" eaLnBrk="1" hangingPunct="1">
              <a:lnSpc>
                <a:spcPct val="110000"/>
              </a:lnSpc>
            </a:pPr>
            <a:r>
              <a:rPr lang="zh-CN" altLang="en-US" sz="3200" dirty="0"/>
              <a:t>不会影响新事务的运行</a:t>
            </a:r>
            <a:endParaRPr lang="zh-CN" altLang="en-US" dirty="0"/>
          </a:p>
          <a:p>
            <a:pPr eaLnBrk="1" hangingPunct="1">
              <a:lnSpc>
                <a:spcPct val="110000"/>
              </a:lnSpc>
            </a:pPr>
            <a:r>
              <a:rPr lang="zh-CN" altLang="en-US" dirty="0">
                <a:solidFill>
                  <a:schemeClr val="tx1"/>
                </a:solidFill>
              </a:rPr>
              <a:t>动态转储的缺点</a:t>
            </a:r>
            <a:endParaRPr lang="zh-CN" altLang="en-US" dirty="0">
              <a:solidFill>
                <a:schemeClr val="tx1"/>
              </a:solidFill>
            </a:endParaRPr>
          </a:p>
          <a:p>
            <a:pPr lvl="1" eaLnBrk="1" hangingPunct="1">
              <a:lnSpc>
                <a:spcPct val="110000"/>
              </a:lnSpc>
            </a:pPr>
            <a:r>
              <a:rPr lang="zh-CN" altLang="en-US" sz="3200" dirty="0"/>
              <a:t>不能保证副本中的数据正确有效，</a:t>
            </a:r>
            <a:r>
              <a:rPr lang="zh-CN" altLang="en-US" sz="3200" dirty="0">
                <a:solidFill>
                  <a:srgbClr val="FF0000"/>
                </a:solidFill>
              </a:rPr>
              <a:t>怎么办？</a:t>
            </a:r>
            <a:endParaRPr lang="zh-CN" altLang="en-US" sz="3200" dirty="0">
              <a:solidFill>
                <a:srgbClr val="FF0000"/>
              </a:solidFill>
            </a:endParaRPr>
          </a:p>
          <a:p>
            <a:pPr lvl="1" eaLnBrk="1" hangingPunct="1">
              <a:lnSpc>
                <a:spcPct val="110000"/>
              </a:lnSpc>
              <a:buNone/>
            </a:pPr>
            <a:r>
              <a:rPr lang="zh-CN" altLang="en-US" sz="2400" dirty="0"/>
              <a:t>　　</a:t>
            </a:r>
            <a:endParaRPr lang="zh-CN" altLang="en-US" sz="2400" dirty="0"/>
          </a:p>
        </p:txBody>
      </p:sp>
      <p:sp>
        <p:nvSpPr>
          <p:cNvPr id="41988" name="Rectangle 3"/>
          <p:cNvSpPr>
            <a:spLocks noGrp="1"/>
          </p:cNvSpPr>
          <p:nvPr>
            <p:ph type="title"/>
          </p:nvPr>
        </p:nvSpPr>
        <p:spPr>
          <a:xfrm>
            <a:off x="1116013" y="71438"/>
            <a:ext cx="7056437"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3011" name="Rectangle 2"/>
          <p:cNvSpPr>
            <a:spLocks noGrp="1"/>
          </p:cNvSpPr>
          <p:nvPr>
            <p:ph idx="1"/>
          </p:nvPr>
        </p:nvSpPr>
        <p:spPr>
          <a:xfrm>
            <a:off x="152400" y="838200"/>
            <a:ext cx="8596313" cy="4876800"/>
          </a:xfrm>
          <a:ln/>
        </p:spPr>
        <p:txBody>
          <a:bodyPr vert="horz" wrap="square" lIns="91440" tIns="45720" rIns="91440" bIns="45720" anchor="t" anchorCtr="0"/>
          <a:p>
            <a:pPr lvl="1" eaLnBrk="1" hangingPunct="1">
              <a:lnSpc>
                <a:spcPct val="110000"/>
              </a:lnSpc>
              <a:spcBef>
                <a:spcPct val="60000"/>
              </a:spcBef>
            </a:pPr>
            <a:r>
              <a:rPr lang="zh-CN" altLang="en-US" sz="3200" dirty="0"/>
              <a:t>利用动态转储得到的副本进行故障恢复需要把动态转储期间各事务对数据库的修改活动登记下来，建立日志文件</a:t>
            </a:r>
            <a:endParaRPr lang="zh-CN" altLang="en-US" sz="3200" dirty="0"/>
          </a:p>
          <a:p>
            <a:pPr lvl="1" eaLnBrk="1" hangingPunct="1">
              <a:lnSpc>
                <a:spcPct val="110000"/>
              </a:lnSpc>
              <a:spcBef>
                <a:spcPct val="60000"/>
              </a:spcBef>
            </a:pPr>
            <a:r>
              <a:rPr lang="zh-CN" altLang="en-US" sz="3200" dirty="0"/>
              <a:t>后备副本加上日志文件才能把数据库恢复到某一时刻的正确状态</a:t>
            </a:r>
            <a:endParaRPr lang="zh-CN" altLang="en-US" sz="3200" dirty="0"/>
          </a:p>
        </p:txBody>
      </p:sp>
      <p:sp>
        <p:nvSpPr>
          <p:cNvPr id="43012" name="Rectangle 3"/>
          <p:cNvSpPr>
            <a:spLocks noGrp="1"/>
          </p:cNvSpPr>
          <p:nvPr>
            <p:ph type="title"/>
          </p:nvPr>
        </p:nvSpPr>
        <p:spPr>
          <a:xfrm>
            <a:off x="1116013" y="71438"/>
            <a:ext cx="7056437"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4035" name="Rectangle 2"/>
          <p:cNvSpPr>
            <a:spLocks noGrp="1"/>
          </p:cNvSpPr>
          <p:nvPr>
            <p:ph idx="1"/>
          </p:nvPr>
        </p:nvSpPr>
        <p:spPr>
          <a:xfrm>
            <a:off x="381000" y="914400"/>
            <a:ext cx="8458200" cy="4876800"/>
          </a:xfrm>
          <a:ln/>
        </p:spPr>
        <p:txBody>
          <a:bodyPr vert="horz" wrap="square" lIns="91440" tIns="45720" rIns="91440" bIns="45720" anchor="t" anchorCtr="0"/>
          <a:p>
            <a:pPr eaLnBrk="1" hangingPunct="1">
              <a:lnSpc>
                <a:spcPct val="110000"/>
              </a:lnSpc>
              <a:spcBef>
                <a:spcPct val="60000"/>
              </a:spcBef>
              <a:buNone/>
            </a:pPr>
            <a:r>
              <a:rPr lang="zh-CN" altLang="en-US" dirty="0"/>
              <a:t>海量转储与增量转储</a:t>
            </a:r>
            <a:endParaRPr lang="zh-CN" altLang="en-US" dirty="0"/>
          </a:p>
          <a:p>
            <a:pPr eaLnBrk="1" hangingPunct="1"/>
            <a:r>
              <a:rPr lang="zh-CN" altLang="en-US" sz="2800" dirty="0">
                <a:solidFill>
                  <a:srgbClr val="0000CC"/>
                </a:solidFill>
              </a:rPr>
              <a:t>海量转储</a:t>
            </a:r>
            <a:r>
              <a:rPr lang="en-US" altLang="zh-CN" sz="2800" dirty="0">
                <a:solidFill>
                  <a:srgbClr val="0000CC"/>
                </a:solidFill>
              </a:rPr>
              <a:t>: </a:t>
            </a:r>
            <a:r>
              <a:rPr lang="zh-CN" altLang="en-US" sz="2800" dirty="0">
                <a:solidFill>
                  <a:srgbClr val="0000CC"/>
                </a:solidFill>
              </a:rPr>
              <a:t>每次转储全部数据库</a:t>
            </a:r>
            <a:endParaRPr lang="zh-CN" altLang="en-US" sz="4000" dirty="0">
              <a:solidFill>
                <a:srgbClr val="0000CC"/>
              </a:solidFill>
            </a:endParaRPr>
          </a:p>
          <a:p>
            <a:pPr eaLnBrk="1" hangingPunct="1"/>
            <a:r>
              <a:rPr lang="zh-CN" altLang="en-US" sz="2800" dirty="0">
                <a:solidFill>
                  <a:srgbClr val="0000CC"/>
                </a:solidFill>
              </a:rPr>
              <a:t>增量转储</a:t>
            </a:r>
            <a:r>
              <a:rPr lang="en-US" altLang="zh-CN" sz="2800" dirty="0">
                <a:solidFill>
                  <a:srgbClr val="0000CC"/>
                </a:solidFill>
              </a:rPr>
              <a:t>: </a:t>
            </a:r>
            <a:r>
              <a:rPr lang="zh-CN" altLang="en-US" sz="2800" dirty="0">
                <a:solidFill>
                  <a:srgbClr val="0000CC"/>
                </a:solidFill>
              </a:rPr>
              <a:t>只转储上次转储后更新过的数据</a:t>
            </a:r>
            <a:endParaRPr lang="zh-CN" altLang="en-US" sz="2800" dirty="0">
              <a:solidFill>
                <a:srgbClr val="0000CC"/>
              </a:solidFill>
            </a:endParaRPr>
          </a:p>
          <a:p>
            <a:pPr eaLnBrk="1" hangingPunct="1"/>
            <a:r>
              <a:rPr lang="zh-CN" altLang="en-US" sz="2800" dirty="0">
                <a:solidFill>
                  <a:srgbClr val="0000CC"/>
                </a:solidFill>
              </a:rPr>
              <a:t>海量转储与增量转储比较</a:t>
            </a:r>
            <a:endParaRPr lang="zh-CN" altLang="en-US" sz="2800" dirty="0">
              <a:solidFill>
                <a:srgbClr val="0000CC"/>
              </a:solidFill>
            </a:endParaRPr>
          </a:p>
          <a:p>
            <a:pPr lvl="1" eaLnBrk="1" hangingPunct="1"/>
            <a:r>
              <a:rPr lang="zh-CN" altLang="en-US" dirty="0"/>
              <a:t>从恢复角度看，使用海量转储得到的后备副本进行恢复往往更方便</a:t>
            </a:r>
            <a:endParaRPr lang="zh-CN" altLang="en-US" dirty="0"/>
          </a:p>
          <a:p>
            <a:pPr lvl="1" eaLnBrk="1" hangingPunct="1"/>
            <a:r>
              <a:rPr lang="zh-CN" altLang="en-US" dirty="0"/>
              <a:t>但如果数据库很大，事务处理又十分频繁，则增量转储方式更实用更有效</a:t>
            </a:r>
            <a:endParaRPr lang="zh-CN" altLang="en-US" dirty="0"/>
          </a:p>
        </p:txBody>
      </p:sp>
      <p:sp>
        <p:nvSpPr>
          <p:cNvPr id="44036" name="Rectangle 3"/>
          <p:cNvSpPr>
            <a:spLocks noGrp="1"/>
          </p:cNvSpPr>
          <p:nvPr>
            <p:ph type="title"/>
          </p:nvPr>
        </p:nvSpPr>
        <p:spPr>
          <a:xfrm>
            <a:off x="1187450" y="85725"/>
            <a:ext cx="69850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5059" name="Rectangle 2"/>
          <p:cNvSpPr>
            <a:spLocks noGrp="1"/>
          </p:cNvSpPr>
          <p:nvPr>
            <p:ph type="title"/>
          </p:nvPr>
        </p:nvSpPr>
        <p:spPr>
          <a:xfrm>
            <a:off x="1187450" y="71438"/>
            <a:ext cx="7129463"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graphicFrame>
        <p:nvGraphicFramePr>
          <p:cNvPr id="41987" name="Group 3"/>
          <p:cNvGraphicFramePr>
            <a:graphicFrameLocks noGrp="1"/>
          </p:cNvGraphicFramePr>
          <p:nvPr/>
        </p:nvGraphicFramePr>
        <p:xfrm>
          <a:off x="646113" y="1685925"/>
          <a:ext cx="8001000" cy="4064000"/>
        </p:xfrm>
        <a:graphic>
          <a:graphicData uri="http://schemas.openxmlformats.org/drawingml/2006/table">
            <a:tbl>
              <a:tblPr/>
              <a:tblGrid>
                <a:gridCol w="1019175"/>
                <a:gridCol w="1647825"/>
                <a:gridCol w="2589212"/>
                <a:gridCol w="2744788"/>
              </a:tblGrid>
              <a:tr h="1016000">
                <a:tc rowSpan="2" grid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endParaRPr kumimoji="1" lang="en-US"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cPr/>
                </a:tc>
                <a:tc grid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转储状态</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1016000">
                <a:tc vMerge="1" gridSpan="2">
                  <a:tcPr/>
                </a:tc>
                <a:tc vMerge="1" hMerge="1">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动态转储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静态转储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6000">
                <a:tc rowSpan="2">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ctr"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转储方式</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海量转储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动态海量转储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静态海量转储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6000">
                <a:tc vMerge="1">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增量转储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动态增量转储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rgbClr val="FF3300"/>
                        </a:buClr>
                        <a:buFont typeface="Wingdings" panose="05000000000000000000" pitchFamily="2" charset="2"/>
                        <a:defRPr kumimoji="1" sz="2800" b="1">
                          <a:solidFill>
                            <a:srgbClr val="FF3300"/>
                          </a:solidFill>
                          <a:latin typeface="Times New Roman" panose="02020603050405020304" pitchFamily="18" charset="0"/>
                          <a:ea typeface="宋体" panose="02010600030101010101" pitchFamily="2" charset="-122"/>
                        </a:defRPr>
                      </a:lvl1pPr>
                      <a:lvl2pPr algn="l">
                        <a:spcBef>
                          <a:spcPct val="20000"/>
                        </a:spcBef>
                        <a:buClr>
                          <a:schemeClr val="accent2"/>
                        </a:buClr>
                        <a:buFont typeface="Wingdings" panose="05000000000000000000" pitchFamily="2" charset="2"/>
                        <a:defRPr kumimoji="1" sz="2400" b="1">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b="1">
                          <a:solidFill>
                            <a:schemeClr val="tx1"/>
                          </a:solidFill>
                          <a:latin typeface="Times New Roman" panose="02020603050405020304" pitchFamily="18" charset="0"/>
                          <a:ea typeface="楷体_GB2312" pitchFamily="49" charset="-122"/>
                        </a:defRPr>
                      </a:lvl3pPr>
                      <a:lvl4pPr algn="l">
                        <a:spcBef>
                          <a:spcPct val="20000"/>
                        </a:spcBef>
                        <a:buSzPct val="60000"/>
                        <a:defRPr kumimoji="1" b="1">
                          <a:solidFill>
                            <a:schemeClr val="tx1"/>
                          </a:solidFill>
                          <a:latin typeface="Times New Roman" panose="02020603050405020304" pitchFamily="18" charset="0"/>
                          <a:ea typeface="宋体" panose="02010600030101010101" pitchFamily="2" charset="-122"/>
                        </a:defRPr>
                      </a:lvl4pPr>
                      <a:lvl5pPr algn="l">
                        <a:spcBef>
                          <a:spcPct val="20000"/>
                        </a:spcBef>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5pPr>
                      <a:lvl6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6pPr>
                      <a:lvl7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7pPr>
                      <a:lvl8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8pPr>
                      <a:lvl9pPr fontAlgn="base">
                        <a:spcBef>
                          <a:spcPct val="20000"/>
                        </a:spcBef>
                        <a:spcAft>
                          <a:spcPct val="0"/>
                        </a:spcAft>
                        <a:buSzPct val="60000"/>
                        <a:buFont typeface="Wingdings" panose="05000000000000000000" pitchFamily="2" charset="2"/>
                        <a:defRPr kumimoji="1" b="1">
                          <a:solidFill>
                            <a:schemeClr val="tx1"/>
                          </a:solidFill>
                          <a:latin typeface="Times New Roman" panose="02020603050405020304" pitchFamily="18" charset="0"/>
                          <a:ea typeface="仿宋_GB2312" pitchFamily="49" charset="-122"/>
                        </a:defRPr>
                      </a:lvl9pPr>
                    </a:lstStyle>
                    <a:p>
                      <a:pPr marL="0" marR="0" lvl="0" indent="0" algn="l" defTabSz="914400" rtl="0" eaLnBrk="1" fontAlgn="base" latinLnBrk="0" hangingPunct="1">
                        <a:lnSpc>
                          <a:spcPct val="100000"/>
                        </a:lnSpc>
                        <a:spcBef>
                          <a:spcPct val="20000"/>
                        </a:spcBef>
                        <a:spcAft>
                          <a:spcPct val="0"/>
                        </a:spcAft>
                        <a:buClr>
                          <a:srgbClr val="FF3300"/>
                        </a:buClr>
                        <a:buSzTx/>
                        <a:buFont typeface="Wingdings" panose="05000000000000000000" pitchFamily="2" charset="2"/>
                        <a:buNone/>
                      </a:pPr>
                      <a:r>
                        <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静态增量转储</a:t>
                      </a:r>
                      <a:endPara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6083" name="Rectangle 2"/>
          <p:cNvSpPr>
            <a:spLocks noGrp="1"/>
          </p:cNvSpPr>
          <p:nvPr>
            <p:ph idx="1"/>
          </p:nvPr>
        </p:nvSpPr>
        <p:spPr>
          <a:xfrm>
            <a:off x="506413" y="1641475"/>
            <a:ext cx="8458200" cy="3714750"/>
          </a:xfrm>
          <a:ln/>
        </p:spPr>
        <p:txBody>
          <a:bodyPr vert="horz" wrap="square" lIns="91440" tIns="45720" rIns="91440" bIns="45720" anchor="t" anchorCtr="0"/>
          <a:p>
            <a:pPr eaLnBrk="1" hangingPunct="1">
              <a:lnSpc>
                <a:spcPct val="120000"/>
              </a:lnSpc>
              <a:buNone/>
            </a:pPr>
            <a:r>
              <a:rPr lang="en-US" altLang="zh-CN" sz="3600" dirty="0">
                <a:solidFill>
                  <a:schemeClr val="tx1"/>
                </a:solidFill>
              </a:rPr>
              <a:t>10.4.1 </a:t>
            </a:r>
            <a:r>
              <a:rPr lang="zh-CN" altLang="en-US" sz="3600" dirty="0">
                <a:solidFill>
                  <a:schemeClr val="tx1"/>
                </a:solidFill>
              </a:rPr>
              <a:t>数据转储</a:t>
            </a:r>
            <a:endParaRPr lang="zh-CN" altLang="en-US" sz="3600" dirty="0">
              <a:solidFill>
                <a:schemeClr val="tx1"/>
              </a:solidFill>
            </a:endParaRPr>
          </a:p>
          <a:p>
            <a:pPr eaLnBrk="1" hangingPunct="1">
              <a:lnSpc>
                <a:spcPct val="120000"/>
              </a:lnSpc>
              <a:buNone/>
            </a:pPr>
            <a:r>
              <a:rPr lang="en-US" altLang="zh-CN" sz="3600" dirty="0"/>
              <a:t>10.4.2 </a:t>
            </a:r>
            <a:r>
              <a:rPr lang="zh-CN" altLang="en-US" sz="3600" dirty="0"/>
              <a:t>登记日志文件</a:t>
            </a:r>
            <a:endParaRPr lang="zh-CN" altLang="en-US" sz="3600" dirty="0"/>
          </a:p>
          <a:p>
            <a:pPr lvl="1" eaLnBrk="1" hangingPunct="1">
              <a:lnSpc>
                <a:spcPct val="120000"/>
              </a:lnSpc>
              <a:buNone/>
            </a:pPr>
            <a:r>
              <a:rPr lang="zh-CN" altLang="en-US" sz="3600" dirty="0"/>
              <a:t>　　</a:t>
            </a:r>
            <a:endParaRPr lang="zh-CN" altLang="en-US" sz="3600" dirty="0"/>
          </a:p>
        </p:txBody>
      </p:sp>
      <p:sp>
        <p:nvSpPr>
          <p:cNvPr id="46084" name="Rectangle 3"/>
          <p:cNvSpPr>
            <a:spLocks noGrp="1"/>
          </p:cNvSpPr>
          <p:nvPr>
            <p:ph type="title"/>
          </p:nvPr>
        </p:nvSpPr>
        <p:spPr>
          <a:xfrm>
            <a:off x="1187450" y="71438"/>
            <a:ext cx="72009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7107" name="Rectangle 2"/>
          <p:cNvSpPr>
            <a:spLocks noGrp="1"/>
          </p:cNvSpPr>
          <p:nvPr>
            <p:ph idx="1"/>
          </p:nvPr>
        </p:nvSpPr>
        <p:spPr>
          <a:xfrm>
            <a:off x="381000" y="914400"/>
            <a:ext cx="8458200" cy="4403725"/>
          </a:xfrm>
          <a:ln/>
        </p:spPr>
        <p:txBody>
          <a:bodyPr vert="horz" wrap="square" lIns="91440" tIns="45720" rIns="91440" bIns="45720" anchor="t" anchorCtr="0"/>
          <a:p>
            <a:pPr eaLnBrk="1" hangingPunct="1">
              <a:lnSpc>
                <a:spcPct val="140000"/>
              </a:lnSpc>
              <a:buNone/>
            </a:pPr>
            <a:r>
              <a:rPr lang="zh-CN" altLang="en-US" dirty="0"/>
              <a:t>日志文件</a:t>
            </a:r>
            <a:endParaRPr lang="zh-CN" altLang="en-US" dirty="0"/>
          </a:p>
          <a:p>
            <a:pPr eaLnBrk="1" hangingPunct="1">
              <a:lnSpc>
                <a:spcPct val="140000"/>
              </a:lnSpc>
              <a:buNone/>
            </a:pPr>
            <a:r>
              <a:rPr lang="en-US" altLang="zh-CN" dirty="0">
                <a:solidFill>
                  <a:schemeClr val="tx1"/>
                </a:solidFill>
              </a:rPr>
              <a:t>1</a:t>
            </a:r>
            <a:r>
              <a:rPr lang="zh-CN" altLang="en-US" dirty="0">
                <a:solidFill>
                  <a:schemeClr val="tx1"/>
                </a:solidFill>
              </a:rPr>
              <a:t>．日志文件的内容</a:t>
            </a:r>
            <a:endParaRPr lang="zh-CN" altLang="en-US" dirty="0">
              <a:solidFill>
                <a:schemeClr val="tx1"/>
              </a:solidFill>
            </a:endParaRPr>
          </a:p>
          <a:p>
            <a:pPr eaLnBrk="1" hangingPunct="1">
              <a:lnSpc>
                <a:spcPct val="140000"/>
              </a:lnSpc>
              <a:buNone/>
            </a:pPr>
            <a:r>
              <a:rPr lang="en-US" altLang="zh-CN" dirty="0">
                <a:solidFill>
                  <a:schemeClr val="tx1"/>
                </a:solidFill>
              </a:rPr>
              <a:t>2</a:t>
            </a:r>
            <a:r>
              <a:rPr lang="zh-CN" altLang="en-US" dirty="0">
                <a:solidFill>
                  <a:schemeClr val="tx1"/>
                </a:solidFill>
              </a:rPr>
              <a:t>．日志文件的用途</a:t>
            </a:r>
            <a:endParaRPr lang="zh-CN" altLang="en-US" dirty="0">
              <a:solidFill>
                <a:schemeClr val="tx1"/>
              </a:solidFill>
            </a:endParaRPr>
          </a:p>
          <a:p>
            <a:pPr eaLnBrk="1" hangingPunct="1">
              <a:lnSpc>
                <a:spcPct val="140000"/>
              </a:lnSpc>
              <a:buNone/>
            </a:pPr>
            <a:r>
              <a:rPr lang="en-US" altLang="zh-CN" dirty="0">
                <a:solidFill>
                  <a:schemeClr val="tx1"/>
                </a:solidFill>
              </a:rPr>
              <a:t>3</a:t>
            </a:r>
            <a:r>
              <a:rPr lang="zh-CN" altLang="en-US" dirty="0">
                <a:solidFill>
                  <a:schemeClr val="tx1"/>
                </a:solidFill>
              </a:rPr>
              <a:t>．登记日志文件的原则</a:t>
            </a:r>
            <a:endParaRPr lang="zh-CN" altLang="en-US" dirty="0">
              <a:solidFill>
                <a:schemeClr val="tx1"/>
              </a:solidFill>
            </a:endParaRPr>
          </a:p>
          <a:p>
            <a:pPr eaLnBrk="1" hangingPunct="1">
              <a:lnSpc>
                <a:spcPct val="140000"/>
              </a:lnSpc>
              <a:buNone/>
            </a:pPr>
            <a:endParaRPr lang="zh-CN" altLang="en-US" sz="2800" dirty="0">
              <a:solidFill>
                <a:schemeClr val="tx1"/>
              </a:solidFill>
            </a:endParaRPr>
          </a:p>
          <a:p>
            <a:pPr lvl="1" eaLnBrk="1" hangingPunct="1">
              <a:lnSpc>
                <a:spcPct val="120000"/>
              </a:lnSpc>
              <a:buNone/>
            </a:pPr>
            <a:r>
              <a:rPr lang="zh-CN" altLang="en-US" sz="2400" dirty="0"/>
              <a:t>　　</a:t>
            </a:r>
            <a:endParaRPr lang="zh-CN" altLang="en-US" sz="2400" dirty="0"/>
          </a:p>
        </p:txBody>
      </p:sp>
      <p:sp>
        <p:nvSpPr>
          <p:cNvPr id="47108" name="Rectangle 3"/>
          <p:cNvSpPr>
            <a:spLocks noGrp="1"/>
          </p:cNvSpPr>
          <p:nvPr>
            <p:ph type="title"/>
          </p:nvPr>
        </p:nvSpPr>
        <p:spPr>
          <a:xfrm>
            <a:off x="1258888" y="71438"/>
            <a:ext cx="72009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8131" name="Rectangle 2"/>
          <p:cNvSpPr>
            <a:spLocks noGrp="1"/>
          </p:cNvSpPr>
          <p:nvPr>
            <p:ph idx="1"/>
          </p:nvPr>
        </p:nvSpPr>
        <p:spPr>
          <a:xfrm>
            <a:off x="381000" y="914400"/>
            <a:ext cx="8458200" cy="5294313"/>
          </a:xfrm>
          <a:ln/>
        </p:spPr>
        <p:txBody>
          <a:bodyPr vert="horz" wrap="square" lIns="91440" tIns="45720" rIns="91440" bIns="45720" anchor="t" anchorCtr="0"/>
          <a:p>
            <a:pPr eaLnBrk="1" hangingPunct="1">
              <a:lnSpc>
                <a:spcPct val="140000"/>
              </a:lnSpc>
              <a:buNone/>
            </a:pPr>
            <a:r>
              <a:rPr lang="zh-CN" altLang="en-US" dirty="0"/>
              <a:t>一、日志文件的内容</a:t>
            </a:r>
            <a:endParaRPr lang="zh-CN" altLang="en-US" dirty="0"/>
          </a:p>
          <a:p>
            <a:pPr eaLnBrk="1" hangingPunct="1">
              <a:lnSpc>
                <a:spcPct val="90000"/>
              </a:lnSpc>
              <a:buNone/>
            </a:pPr>
            <a:r>
              <a:rPr lang="en-US" altLang="zh-CN" dirty="0">
                <a:solidFill>
                  <a:srgbClr val="0000CC"/>
                </a:solidFill>
              </a:rPr>
              <a:t>1. </a:t>
            </a:r>
            <a:r>
              <a:rPr lang="zh-CN" altLang="en-US" dirty="0">
                <a:solidFill>
                  <a:srgbClr val="0000CC"/>
                </a:solidFill>
              </a:rPr>
              <a:t>什么是日志文件</a:t>
            </a:r>
            <a:endParaRPr lang="zh-CN" altLang="en-US" sz="2800" dirty="0">
              <a:solidFill>
                <a:srgbClr val="0000CC"/>
              </a:solidFill>
            </a:endParaRPr>
          </a:p>
          <a:p>
            <a:pPr eaLnBrk="1" hangingPunct="1">
              <a:lnSpc>
                <a:spcPct val="90000"/>
              </a:lnSpc>
              <a:buNone/>
            </a:pPr>
            <a:r>
              <a:rPr lang="zh-CN" altLang="en-US" dirty="0"/>
              <a:t>	</a:t>
            </a:r>
            <a:r>
              <a:rPr lang="zh-CN" altLang="en-US" dirty="0">
                <a:solidFill>
                  <a:schemeClr val="tx1"/>
                </a:solidFill>
              </a:rPr>
              <a:t>日志文件</a:t>
            </a:r>
            <a:r>
              <a:rPr lang="en-US" altLang="zh-CN" dirty="0">
                <a:solidFill>
                  <a:schemeClr val="tx1"/>
                </a:solidFill>
              </a:rPr>
              <a:t>(log)</a:t>
            </a:r>
            <a:r>
              <a:rPr lang="zh-CN" altLang="en-US" dirty="0">
                <a:solidFill>
                  <a:schemeClr val="tx1"/>
                </a:solidFill>
              </a:rPr>
              <a:t>是用来记录事务对数据库的更新操作的文件</a:t>
            </a:r>
            <a:endParaRPr lang="zh-CN" altLang="en-US" dirty="0">
              <a:solidFill>
                <a:schemeClr val="tx1"/>
              </a:solidFill>
            </a:endParaRPr>
          </a:p>
          <a:p>
            <a:pPr lvl="1" eaLnBrk="1" hangingPunct="1">
              <a:lnSpc>
                <a:spcPct val="90000"/>
              </a:lnSpc>
              <a:buNone/>
            </a:pPr>
            <a:endParaRPr lang="zh-CN" altLang="en-US" sz="2400" dirty="0"/>
          </a:p>
          <a:p>
            <a:pPr eaLnBrk="1" hangingPunct="1">
              <a:lnSpc>
                <a:spcPct val="90000"/>
              </a:lnSpc>
              <a:buNone/>
            </a:pPr>
            <a:r>
              <a:rPr lang="en-US" altLang="zh-CN" dirty="0">
                <a:solidFill>
                  <a:srgbClr val="0000CC"/>
                </a:solidFill>
              </a:rPr>
              <a:t>2. </a:t>
            </a:r>
            <a:r>
              <a:rPr lang="zh-CN" altLang="en-US" dirty="0">
                <a:solidFill>
                  <a:srgbClr val="0000CC"/>
                </a:solidFill>
              </a:rPr>
              <a:t>日志文件的格式</a:t>
            </a:r>
            <a:endParaRPr lang="zh-CN" altLang="en-US" dirty="0">
              <a:solidFill>
                <a:srgbClr val="0000CC"/>
              </a:solidFill>
            </a:endParaRPr>
          </a:p>
          <a:p>
            <a:pPr lvl="1" eaLnBrk="1" hangingPunct="1">
              <a:lnSpc>
                <a:spcPct val="120000"/>
              </a:lnSpc>
              <a:buNone/>
            </a:pPr>
            <a:r>
              <a:rPr lang="zh-CN" altLang="en-US" dirty="0"/>
              <a:t>以记录为单位的日志文件</a:t>
            </a:r>
            <a:endParaRPr lang="zh-CN" altLang="en-US" dirty="0"/>
          </a:p>
          <a:p>
            <a:pPr lvl="1" eaLnBrk="1" hangingPunct="1">
              <a:lnSpc>
                <a:spcPct val="130000"/>
              </a:lnSpc>
              <a:buNone/>
            </a:pPr>
            <a:r>
              <a:rPr lang="zh-CN" altLang="en-US" dirty="0"/>
              <a:t>以数据块为单位的日志文件</a:t>
            </a:r>
            <a:r>
              <a:rPr lang="zh-CN" altLang="en-US" sz="2400" dirty="0"/>
              <a:t>　</a:t>
            </a:r>
            <a:endParaRPr lang="zh-CN" altLang="en-US" sz="2400" dirty="0"/>
          </a:p>
        </p:txBody>
      </p:sp>
      <p:sp>
        <p:nvSpPr>
          <p:cNvPr id="48132" name="Rectangle 3"/>
          <p:cNvSpPr>
            <a:spLocks noGrp="1"/>
          </p:cNvSpPr>
          <p:nvPr>
            <p:ph type="title"/>
          </p:nvPr>
        </p:nvSpPr>
        <p:spPr>
          <a:xfrm>
            <a:off x="1187450" y="85725"/>
            <a:ext cx="6913563"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49155" name="Rectangle 2"/>
          <p:cNvSpPr>
            <a:spLocks noGrp="1"/>
          </p:cNvSpPr>
          <p:nvPr>
            <p:ph idx="1"/>
          </p:nvPr>
        </p:nvSpPr>
        <p:spPr>
          <a:xfrm>
            <a:off x="381000" y="914400"/>
            <a:ext cx="8458200" cy="5294313"/>
          </a:xfrm>
          <a:ln/>
        </p:spPr>
        <p:txBody>
          <a:bodyPr vert="horz" wrap="square" lIns="91440" tIns="45720" rIns="91440" bIns="45720" anchor="t" anchorCtr="0"/>
          <a:p>
            <a:pPr eaLnBrk="1" hangingPunct="1">
              <a:lnSpc>
                <a:spcPct val="120000"/>
              </a:lnSpc>
              <a:buNone/>
            </a:pPr>
            <a:r>
              <a:rPr lang="en-US" altLang="zh-CN" dirty="0">
                <a:solidFill>
                  <a:srgbClr val="0000CC"/>
                </a:solidFill>
              </a:rPr>
              <a:t>3. </a:t>
            </a:r>
            <a:r>
              <a:rPr lang="zh-CN" altLang="en-US" dirty="0">
                <a:solidFill>
                  <a:srgbClr val="0000CC"/>
                </a:solidFill>
              </a:rPr>
              <a:t>日志文件的内容</a:t>
            </a:r>
            <a:endParaRPr lang="zh-CN" altLang="en-US" sz="2800" dirty="0">
              <a:solidFill>
                <a:srgbClr val="0000CC"/>
              </a:solidFill>
            </a:endParaRPr>
          </a:p>
          <a:p>
            <a:pPr lvl="1" eaLnBrk="1" hangingPunct="1">
              <a:lnSpc>
                <a:spcPct val="120000"/>
              </a:lnSpc>
            </a:pPr>
            <a:r>
              <a:rPr lang="zh-CN" altLang="en-US" dirty="0"/>
              <a:t>各个事务的开始标记</a:t>
            </a:r>
            <a:r>
              <a:rPr lang="en-US" altLang="zh-CN" dirty="0"/>
              <a:t>(BEGIN TRANSACTION)</a:t>
            </a:r>
            <a:endParaRPr lang="en-US" altLang="zh-CN" dirty="0"/>
          </a:p>
          <a:p>
            <a:pPr lvl="1" eaLnBrk="1" hangingPunct="1">
              <a:lnSpc>
                <a:spcPct val="120000"/>
              </a:lnSpc>
            </a:pPr>
            <a:r>
              <a:rPr lang="zh-CN" altLang="en-US" dirty="0"/>
              <a:t>各个事务的结束标记</a:t>
            </a:r>
            <a:r>
              <a:rPr lang="en-US" altLang="zh-CN" dirty="0"/>
              <a:t>(COMMIT</a:t>
            </a:r>
            <a:r>
              <a:rPr lang="zh-CN" altLang="en-US" dirty="0"/>
              <a:t>或</a:t>
            </a:r>
            <a:r>
              <a:rPr lang="en-US" altLang="zh-CN" dirty="0"/>
              <a:t>ROLLBACK)</a:t>
            </a:r>
            <a:endParaRPr lang="en-US" altLang="zh-CN" dirty="0"/>
          </a:p>
          <a:p>
            <a:pPr lvl="1" eaLnBrk="1" hangingPunct="1">
              <a:lnSpc>
                <a:spcPct val="120000"/>
              </a:lnSpc>
            </a:pPr>
            <a:r>
              <a:rPr lang="zh-CN" altLang="en-US" dirty="0"/>
              <a:t>各个事务的所有更新操作</a:t>
            </a:r>
            <a:endParaRPr lang="zh-CN" altLang="en-US" dirty="0"/>
          </a:p>
          <a:p>
            <a:pPr lvl="1" eaLnBrk="1" hangingPunct="1">
              <a:lnSpc>
                <a:spcPct val="120000"/>
              </a:lnSpc>
            </a:pPr>
            <a:r>
              <a:rPr lang="zh-CN" altLang="zh-CN" dirty="0"/>
              <a:t>与</a:t>
            </a:r>
            <a:r>
              <a:rPr lang="zh-CN" altLang="en-US" dirty="0"/>
              <a:t>事务有关的内部更新操作</a:t>
            </a:r>
            <a:endParaRPr lang="zh-CN" altLang="en-US" dirty="0"/>
          </a:p>
          <a:p>
            <a:pPr eaLnBrk="1" hangingPunct="1">
              <a:lnSpc>
                <a:spcPct val="120000"/>
              </a:lnSpc>
              <a:buNone/>
            </a:pPr>
            <a:r>
              <a:rPr lang="zh-CN" altLang="en-US" sz="2800" dirty="0"/>
              <a:t>	</a:t>
            </a:r>
            <a:r>
              <a:rPr lang="zh-CN" altLang="en-US" sz="2800" dirty="0">
                <a:solidFill>
                  <a:schemeClr val="tx1"/>
                </a:solidFill>
              </a:rPr>
              <a:t>作为日志文件中的一个</a:t>
            </a:r>
            <a:r>
              <a:rPr lang="zh-CN" altLang="en-US" sz="2800" dirty="0"/>
              <a:t>日志记录</a:t>
            </a:r>
            <a:r>
              <a:rPr lang="zh-CN" altLang="en-US" sz="2800" dirty="0">
                <a:solidFill>
                  <a:schemeClr val="tx1"/>
                </a:solidFill>
              </a:rPr>
              <a:t> </a:t>
            </a:r>
            <a:r>
              <a:rPr lang="en-US" altLang="zh-CN" sz="2800" dirty="0">
                <a:solidFill>
                  <a:schemeClr val="tx1"/>
                </a:solidFill>
              </a:rPr>
              <a:t>(log  record)</a:t>
            </a:r>
            <a:endParaRPr lang="en-US" altLang="zh-CN" sz="2800" dirty="0">
              <a:solidFill>
                <a:schemeClr val="tx1"/>
              </a:solidFill>
            </a:endParaRPr>
          </a:p>
        </p:txBody>
      </p:sp>
      <p:sp>
        <p:nvSpPr>
          <p:cNvPr id="49156" name="Rectangle 3"/>
          <p:cNvSpPr>
            <a:spLocks noGrp="1"/>
          </p:cNvSpPr>
          <p:nvPr>
            <p:ph type="title"/>
          </p:nvPr>
        </p:nvSpPr>
        <p:spPr>
          <a:xfrm>
            <a:off x="1258888" y="0"/>
            <a:ext cx="69850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0179" name="Rectangle 2"/>
          <p:cNvSpPr>
            <a:spLocks noGrp="1"/>
          </p:cNvSpPr>
          <p:nvPr>
            <p:ph idx="1"/>
          </p:nvPr>
        </p:nvSpPr>
        <p:spPr>
          <a:xfrm>
            <a:off x="168275" y="914400"/>
            <a:ext cx="8758238" cy="5608638"/>
          </a:xfrm>
          <a:ln/>
        </p:spPr>
        <p:txBody>
          <a:bodyPr vert="horz" wrap="square" lIns="91440" tIns="45720" rIns="91440" bIns="45720" anchor="t" anchorCtr="0"/>
          <a:p>
            <a:pPr eaLnBrk="1" hangingPunct="1">
              <a:lnSpc>
                <a:spcPct val="120000"/>
              </a:lnSpc>
              <a:buNone/>
            </a:pPr>
            <a:r>
              <a:rPr lang="en-US" altLang="zh-CN" sz="2800" dirty="0">
                <a:solidFill>
                  <a:srgbClr val="0000CC"/>
                </a:solidFill>
              </a:rPr>
              <a:t>4. </a:t>
            </a:r>
            <a:r>
              <a:rPr lang="zh-CN" altLang="en-US" sz="2800" dirty="0">
                <a:solidFill>
                  <a:srgbClr val="0000CC"/>
                </a:solidFill>
              </a:rPr>
              <a:t>基于记录的日志文件</a:t>
            </a:r>
            <a:endParaRPr lang="zh-CN" altLang="en-US" sz="2400" dirty="0">
              <a:solidFill>
                <a:srgbClr val="0000CC"/>
              </a:solidFill>
            </a:endParaRPr>
          </a:p>
          <a:p>
            <a:pPr eaLnBrk="1" hangingPunct="1">
              <a:lnSpc>
                <a:spcPct val="120000"/>
              </a:lnSpc>
              <a:buNone/>
            </a:pPr>
            <a:r>
              <a:rPr lang="zh-CN" altLang="en-US" sz="2800" dirty="0"/>
              <a:t>	</a:t>
            </a:r>
            <a:r>
              <a:rPr lang="zh-CN" altLang="en-US" sz="2800" dirty="0">
                <a:solidFill>
                  <a:schemeClr val="tx1"/>
                </a:solidFill>
              </a:rPr>
              <a:t>每条日志记录的内容</a:t>
            </a:r>
            <a:endParaRPr lang="zh-CN" altLang="en-US" sz="2800" dirty="0">
              <a:solidFill>
                <a:schemeClr val="tx1"/>
              </a:solidFill>
            </a:endParaRPr>
          </a:p>
          <a:p>
            <a:pPr lvl="1" eaLnBrk="1" hangingPunct="1">
              <a:lnSpc>
                <a:spcPct val="120000"/>
              </a:lnSpc>
            </a:pPr>
            <a:r>
              <a:rPr lang="zh-CN" altLang="en-US" dirty="0"/>
              <a:t>事务标识</a:t>
            </a:r>
            <a:endParaRPr lang="zh-CN" altLang="en-US" dirty="0"/>
          </a:p>
          <a:p>
            <a:pPr lvl="1" eaLnBrk="1" hangingPunct="1">
              <a:lnSpc>
                <a:spcPct val="120000"/>
              </a:lnSpc>
            </a:pPr>
            <a:r>
              <a:rPr lang="zh-CN" altLang="en-US" dirty="0"/>
              <a:t>操作类型（插入、删除或修改）</a:t>
            </a:r>
            <a:endParaRPr lang="zh-CN" altLang="en-US" dirty="0"/>
          </a:p>
          <a:p>
            <a:pPr lvl="1" eaLnBrk="1" hangingPunct="1">
              <a:lnSpc>
                <a:spcPct val="120000"/>
              </a:lnSpc>
            </a:pPr>
            <a:r>
              <a:rPr lang="zh-CN" altLang="en-US" dirty="0"/>
              <a:t>操作对象（记录</a:t>
            </a:r>
            <a:r>
              <a:rPr lang="en-US" altLang="zh-CN" dirty="0"/>
              <a:t>ID</a:t>
            </a:r>
            <a:r>
              <a:rPr lang="zh-CN" altLang="en-US" dirty="0"/>
              <a:t>、</a:t>
            </a:r>
            <a:r>
              <a:rPr lang="en-US" altLang="zh-CN" dirty="0"/>
              <a:t>Block NO.</a:t>
            </a:r>
            <a:r>
              <a:rPr lang="zh-CN" altLang="en-US" dirty="0"/>
              <a:t>）</a:t>
            </a:r>
            <a:endParaRPr lang="zh-CN" altLang="en-US" dirty="0"/>
          </a:p>
          <a:p>
            <a:pPr lvl="1" eaLnBrk="1" hangingPunct="1">
              <a:lnSpc>
                <a:spcPct val="120000"/>
              </a:lnSpc>
            </a:pPr>
            <a:r>
              <a:rPr lang="zh-CN" altLang="en-US" dirty="0"/>
              <a:t>更新前数据的旧值（对插入操作而言</a:t>
            </a:r>
            <a:r>
              <a:rPr lang="en-US" altLang="zh-CN" dirty="0"/>
              <a:t>,</a:t>
            </a:r>
            <a:r>
              <a:rPr lang="zh-CN" altLang="en-US" dirty="0"/>
              <a:t>此项为空值）</a:t>
            </a:r>
            <a:endParaRPr lang="zh-CN" altLang="en-US" dirty="0"/>
          </a:p>
          <a:p>
            <a:pPr lvl="1" eaLnBrk="1" hangingPunct="1">
              <a:lnSpc>
                <a:spcPct val="120000"/>
              </a:lnSpc>
            </a:pPr>
            <a:r>
              <a:rPr lang="zh-CN" altLang="en-US" dirty="0"/>
              <a:t>更新后数据的新值（对删除操作而言</a:t>
            </a:r>
            <a:r>
              <a:rPr lang="en-US" altLang="zh-CN" dirty="0"/>
              <a:t>, </a:t>
            </a:r>
            <a:r>
              <a:rPr lang="zh-CN" altLang="en-US" dirty="0"/>
              <a:t>此项为空值）</a:t>
            </a:r>
            <a:endParaRPr lang="zh-CN" altLang="en-US" dirty="0"/>
          </a:p>
        </p:txBody>
      </p:sp>
      <p:sp>
        <p:nvSpPr>
          <p:cNvPr id="50180" name="Rectangle 3"/>
          <p:cNvSpPr>
            <a:spLocks noGrp="1"/>
          </p:cNvSpPr>
          <p:nvPr>
            <p:ph type="title"/>
          </p:nvPr>
        </p:nvSpPr>
        <p:spPr>
          <a:xfrm>
            <a:off x="1331913" y="71438"/>
            <a:ext cx="71247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1203" name="Rectangle 2"/>
          <p:cNvSpPr>
            <a:spLocks noGrp="1"/>
          </p:cNvSpPr>
          <p:nvPr>
            <p:ph idx="1"/>
          </p:nvPr>
        </p:nvSpPr>
        <p:spPr>
          <a:xfrm>
            <a:off x="168275" y="914400"/>
            <a:ext cx="8758238" cy="5608638"/>
          </a:xfrm>
          <a:ln/>
        </p:spPr>
        <p:txBody>
          <a:bodyPr vert="horz" wrap="square" lIns="91440" tIns="45720" rIns="91440" bIns="45720" anchor="t" anchorCtr="0"/>
          <a:p>
            <a:pPr eaLnBrk="1" hangingPunct="1">
              <a:lnSpc>
                <a:spcPct val="120000"/>
              </a:lnSpc>
              <a:buNone/>
            </a:pPr>
            <a:r>
              <a:rPr lang="en-US" altLang="zh-CN" dirty="0">
                <a:solidFill>
                  <a:srgbClr val="0000CC"/>
                </a:solidFill>
              </a:rPr>
              <a:t>5. </a:t>
            </a:r>
            <a:r>
              <a:rPr lang="zh-CN" altLang="en-US" dirty="0">
                <a:solidFill>
                  <a:srgbClr val="0000CC"/>
                </a:solidFill>
              </a:rPr>
              <a:t>基于数据块的日志文件</a:t>
            </a:r>
            <a:endParaRPr lang="zh-CN" altLang="en-US" sz="2800" dirty="0">
              <a:solidFill>
                <a:srgbClr val="0000CC"/>
              </a:solidFill>
            </a:endParaRPr>
          </a:p>
          <a:p>
            <a:pPr eaLnBrk="1" hangingPunct="1">
              <a:lnSpc>
                <a:spcPct val="120000"/>
              </a:lnSpc>
              <a:buNone/>
            </a:pPr>
            <a:r>
              <a:rPr lang="zh-CN" altLang="en-US" dirty="0"/>
              <a:t>	</a:t>
            </a:r>
            <a:r>
              <a:rPr lang="zh-CN" altLang="en-US" dirty="0">
                <a:solidFill>
                  <a:schemeClr val="tx1"/>
                </a:solidFill>
              </a:rPr>
              <a:t>每条日志记录的内容</a:t>
            </a:r>
            <a:endParaRPr lang="zh-CN" altLang="en-US" dirty="0">
              <a:solidFill>
                <a:schemeClr val="tx1"/>
              </a:solidFill>
            </a:endParaRPr>
          </a:p>
          <a:p>
            <a:pPr lvl="1" eaLnBrk="1" hangingPunct="1">
              <a:spcBef>
                <a:spcPct val="60000"/>
              </a:spcBef>
            </a:pPr>
            <a:r>
              <a:rPr lang="zh-CN" altLang="en-US" dirty="0"/>
              <a:t>事务标识（标明是那个事务）</a:t>
            </a:r>
            <a:endParaRPr lang="zh-CN" altLang="en-US" dirty="0"/>
          </a:p>
          <a:p>
            <a:pPr lvl="1" eaLnBrk="1" hangingPunct="1">
              <a:spcBef>
                <a:spcPct val="60000"/>
              </a:spcBef>
            </a:pPr>
            <a:r>
              <a:rPr lang="zh-CN" altLang="en-US" sz="2400" dirty="0"/>
              <a:t>操作对象（记录</a:t>
            </a:r>
            <a:r>
              <a:rPr lang="en-US" altLang="zh-CN" sz="2400" dirty="0"/>
              <a:t>ID</a:t>
            </a:r>
            <a:r>
              <a:rPr lang="zh-CN" altLang="en-US" sz="2400" dirty="0"/>
              <a:t>、</a:t>
            </a:r>
            <a:r>
              <a:rPr lang="en-US" altLang="zh-CN" sz="2400" dirty="0"/>
              <a:t>Block NO.</a:t>
            </a:r>
            <a:r>
              <a:rPr lang="zh-CN" altLang="en-US" sz="2400" dirty="0"/>
              <a:t>）</a:t>
            </a:r>
            <a:endParaRPr lang="zh-CN" altLang="en-US" dirty="0"/>
          </a:p>
          <a:p>
            <a:pPr lvl="1" eaLnBrk="1" hangingPunct="1">
              <a:spcBef>
                <a:spcPct val="60000"/>
              </a:spcBef>
            </a:pPr>
            <a:r>
              <a:rPr lang="zh-CN" altLang="en-US" dirty="0"/>
              <a:t>更新前数据所在的整个数据块的值（对插入操作而言，此项为空值）</a:t>
            </a:r>
            <a:endParaRPr lang="zh-CN" altLang="en-US" dirty="0"/>
          </a:p>
          <a:p>
            <a:pPr lvl="1" eaLnBrk="1" hangingPunct="1">
              <a:spcBef>
                <a:spcPct val="60000"/>
              </a:spcBef>
            </a:pPr>
            <a:r>
              <a:rPr lang="zh-CN" altLang="en-US" dirty="0"/>
              <a:t>更新后整个数据块的值（对删除操作而言</a:t>
            </a:r>
            <a:r>
              <a:rPr lang="en-US" altLang="zh-CN" dirty="0"/>
              <a:t>, </a:t>
            </a:r>
            <a:r>
              <a:rPr lang="zh-CN" altLang="en-US" dirty="0"/>
              <a:t>此项为空值）</a:t>
            </a:r>
            <a:endParaRPr lang="zh-CN" altLang="en-US" sz="3200" dirty="0"/>
          </a:p>
        </p:txBody>
      </p:sp>
      <p:sp>
        <p:nvSpPr>
          <p:cNvPr id="51204" name="Rectangle 3"/>
          <p:cNvSpPr>
            <a:spLocks noGrp="1"/>
          </p:cNvSpPr>
          <p:nvPr>
            <p:ph type="title"/>
          </p:nvPr>
        </p:nvSpPr>
        <p:spPr>
          <a:xfrm>
            <a:off x="1258888" y="85725"/>
            <a:ext cx="6481762"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2227" name="Rectangle 2"/>
          <p:cNvSpPr>
            <a:spLocks noGrp="1"/>
          </p:cNvSpPr>
          <p:nvPr>
            <p:ph idx="1"/>
          </p:nvPr>
        </p:nvSpPr>
        <p:spPr>
          <a:xfrm>
            <a:off x="381000" y="914400"/>
            <a:ext cx="8458200" cy="5294313"/>
          </a:xfrm>
          <a:ln/>
        </p:spPr>
        <p:txBody>
          <a:bodyPr vert="horz" wrap="square" lIns="91440" tIns="45720" rIns="91440" bIns="45720" anchor="t" anchorCtr="0"/>
          <a:p>
            <a:pPr eaLnBrk="1" hangingPunct="1">
              <a:lnSpc>
                <a:spcPct val="140000"/>
              </a:lnSpc>
              <a:buNone/>
            </a:pPr>
            <a:r>
              <a:rPr lang="zh-CN" altLang="en-US" dirty="0"/>
              <a:t>二、日志文件的作用</a:t>
            </a:r>
            <a:endParaRPr lang="zh-CN" altLang="en-US" dirty="0"/>
          </a:p>
          <a:p>
            <a:pPr eaLnBrk="1" hangingPunct="1">
              <a:lnSpc>
                <a:spcPct val="130000"/>
              </a:lnSpc>
              <a:buNone/>
            </a:pPr>
            <a:r>
              <a:rPr lang="en-US" altLang="zh-CN" sz="2800" dirty="0"/>
              <a:t>1. </a:t>
            </a:r>
            <a:r>
              <a:rPr lang="zh-CN" altLang="en-US" sz="2800" dirty="0"/>
              <a:t>用途</a:t>
            </a:r>
            <a:endParaRPr lang="zh-CN" altLang="en-US" sz="2800" dirty="0"/>
          </a:p>
          <a:p>
            <a:pPr lvl="1" eaLnBrk="1" hangingPunct="1">
              <a:lnSpc>
                <a:spcPct val="130000"/>
              </a:lnSpc>
            </a:pPr>
            <a:r>
              <a:rPr lang="zh-CN" altLang="en-US" dirty="0"/>
              <a:t>进行事务故障恢复</a:t>
            </a:r>
            <a:endParaRPr lang="zh-CN" altLang="en-US" dirty="0"/>
          </a:p>
          <a:p>
            <a:pPr lvl="1" eaLnBrk="1" hangingPunct="1">
              <a:lnSpc>
                <a:spcPct val="130000"/>
              </a:lnSpc>
            </a:pPr>
            <a:r>
              <a:rPr lang="zh-CN" altLang="en-US" dirty="0"/>
              <a:t>进行系统故障恢复</a:t>
            </a:r>
            <a:endParaRPr lang="zh-CN" altLang="en-US" dirty="0"/>
          </a:p>
          <a:p>
            <a:pPr lvl="1" eaLnBrk="1" hangingPunct="1">
              <a:lnSpc>
                <a:spcPct val="130000"/>
              </a:lnSpc>
            </a:pPr>
            <a:r>
              <a:rPr lang="zh-CN" altLang="en-US" dirty="0"/>
              <a:t>协助后备副本进行介质故障恢复</a:t>
            </a:r>
            <a:endParaRPr lang="zh-CN" altLang="en-US" dirty="0"/>
          </a:p>
        </p:txBody>
      </p:sp>
      <p:sp>
        <p:nvSpPr>
          <p:cNvPr id="52228" name="Rectangle 3"/>
          <p:cNvSpPr>
            <a:spLocks noGrp="1"/>
          </p:cNvSpPr>
          <p:nvPr>
            <p:ph type="title"/>
          </p:nvPr>
        </p:nvSpPr>
        <p:spPr>
          <a:xfrm>
            <a:off x="1116013" y="71438"/>
            <a:ext cx="7200900"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3251" name="Rectangle 2"/>
          <p:cNvSpPr>
            <a:spLocks noGrp="1"/>
          </p:cNvSpPr>
          <p:nvPr>
            <p:ph idx="1"/>
          </p:nvPr>
        </p:nvSpPr>
        <p:spPr>
          <a:xfrm>
            <a:off x="381000" y="914400"/>
            <a:ext cx="8458200" cy="5294313"/>
          </a:xfrm>
          <a:ln/>
        </p:spPr>
        <p:txBody>
          <a:bodyPr vert="horz" wrap="square" lIns="91440" tIns="45720" rIns="91440" bIns="45720" anchor="t" anchorCtr="0"/>
          <a:p>
            <a:pPr eaLnBrk="1" hangingPunct="1">
              <a:buNone/>
            </a:pPr>
            <a:r>
              <a:rPr lang="en-US" altLang="zh-CN" sz="2800" dirty="0"/>
              <a:t>2.</a:t>
            </a:r>
            <a:r>
              <a:rPr lang="zh-CN" altLang="en-US" sz="2800" dirty="0"/>
              <a:t>介质故障恢复：与静态转储后备副本配合进行</a:t>
            </a:r>
            <a:endParaRPr lang="zh-CN" altLang="en-US" sz="2800" dirty="0"/>
          </a:p>
          <a:p>
            <a:pPr lvl="1" eaLnBrk="1" hangingPunct="1"/>
            <a:r>
              <a:rPr lang="zh-CN" altLang="en-US" dirty="0"/>
              <a:t>静态转储的数据已是一致性的数据</a:t>
            </a:r>
            <a:endParaRPr lang="zh-CN" altLang="en-US" dirty="0"/>
          </a:p>
          <a:p>
            <a:pPr lvl="1" eaLnBrk="1" hangingPunct="1"/>
            <a:r>
              <a:rPr lang="zh-CN" altLang="en-US" dirty="0"/>
              <a:t>如果静态转储完成后，仍能定期转储日志文件，则在出现介质故障重装数据副本后，可以利用这些日志文件副本对已完成的事务进行重做处理</a:t>
            </a:r>
            <a:endParaRPr lang="zh-CN" altLang="en-US" dirty="0"/>
          </a:p>
          <a:p>
            <a:pPr lvl="1" eaLnBrk="1" hangingPunct="1"/>
            <a:r>
              <a:rPr lang="zh-CN" altLang="en-US" dirty="0"/>
              <a:t>这样不必重新运行那些已完成的事务程序就可把数据库恢复到故障前某一时刻的正确状态</a:t>
            </a:r>
            <a:endParaRPr lang="zh-CN" altLang="en-US" dirty="0"/>
          </a:p>
        </p:txBody>
      </p:sp>
      <p:sp>
        <p:nvSpPr>
          <p:cNvPr id="53252" name="Rectangle 3"/>
          <p:cNvSpPr>
            <a:spLocks noGrp="1"/>
          </p:cNvSpPr>
          <p:nvPr>
            <p:ph type="title"/>
          </p:nvPr>
        </p:nvSpPr>
        <p:spPr>
          <a:xfrm>
            <a:off x="1258888" y="71438"/>
            <a:ext cx="7199312"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4275" name="Rectangle 2"/>
          <p:cNvSpPr>
            <a:spLocks noGrp="1"/>
          </p:cNvSpPr>
          <p:nvPr>
            <p:ph idx="1"/>
          </p:nvPr>
        </p:nvSpPr>
        <p:spPr>
          <a:xfrm>
            <a:off x="381000" y="914400"/>
            <a:ext cx="8458200" cy="5294313"/>
          </a:xfrm>
          <a:ln/>
        </p:spPr>
        <p:txBody>
          <a:bodyPr vert="horz" wrap="square" lIns="91440" tIns="45720" rIns="91440" bIns="45720" anchor="t" anchorCtr="0"/>
          <a:p>
            <a:pPr eaLnBrk="1" hangingPunct="1">
              <a:lnSpc>
                <a:spcPct val="140000"/>
              </a:lnSpc>
              <a:buNone/>
            </a:pPr>
            <a:r>
              <a:rPr lang="en-US" altLang="zh-CN" dirty="0"/>
              <a:t>3.</a:t>
            </a:r>
            <a:r>
              <a:rPr lang="zh-CN" altLang="en-US" sz="2800" dirty="0"/>
              <a:t>介质故障恢复：</a:t>
            </a:r>
            <a:r>
              <a:rPr lang="en-US" altLang="zh-CN" dirty="0"/>
              <a:t>LOG FILE + </a:t>
            </a:r>
            <a:r>
              <a:rPr lang="zh-CN" altLang="en-US" sz="2800" dirty="0"/>
              <a:t>动态转储后备副本</a:t>
            </a:r>
            <a:endParaRPr lang="zh-CN" altLang="en-US" sz="2800" dirty="0"/>
          </a:p>
          <a:p>
            <a:pPr lvl="1" eaLnBrk="1" hangingPunct="1">
              <a:lnSpc>
                <a:spcPct val="140000"/>
              </a:lnSpc>
            </a:pPr>
            <a:r>
              <a:rPr lang="zh-CN" altLang="en-US" dirty="0"/>
              <a:t>动态转储数据库：同时转储同一时点的日志文件</a:t>
            </a:r>
            <a:endParaRPr lang="zh-CN" altLang="en-US" dirty="0"/>
          </a:p>
          <a:p>
            <a:pPr lvl="1" eaLnBrk="1" hangingPunct="1">
              <a:lnSpc>
                <a:spcPct val="140000"/>
              </a:lnSpc>
            </a:pPr>
            <a:r>
              <a:rPr lang="zh-CN" altLang="en-US" dirty="0"/>
              <a:t>后备副本与该日志文件结合起来才能将数据库恢复到一致性状态。</a:t>
            </a:r>
            <a:endParaRPr lang="zh-CN" altLang="en-US" dirty="0"/>
          </a:p>
          <a:p>
            <a:pPr lvl="1" eaLnBrk="1" hangingPunct="1">
              <a:lnSpc>
                <a:spcPct val="140000"/>
              </a:lnSpc>
            </a:pPr>
            <a:r>
              <a:rPr lang="zh-CN" altLang="en-US" dirty="0"/>
              <a:t>利用这些日志文件副本进一步恢复事务，避免重新运行事务程序。</a:t>
            </a:r>
            <a:endParaRPr lang="zh-CN" altLang="en-US" dirty="0"/>
          </a:p>
        </p:txBody>
      </p:sp>
      <p:sp>
        <p:nvSpPr>
          <p:cNvPr id="54276" name="Rectangle 3"/>
          <p:cNvSpPr>
            <a:spLocks noGrp="1"/>
          </p:cNvSpPr>
          <p:nvPr>
            <p:ph type="title"/>
          </p:nvPr>
        </p:nvSpPr>
        <p:spPr>
          <a:xfrm>
            <a:off x="1331913" y="71438"/>
            <a:ext cx="7126287"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5299" name="Rectangle 2"/>
          <p:cNvSpPr>
            <a:spLocks noGrp="1"/>
          </p:cNvSpPr>
          <p:nvPr>
            <p:ph idx="1"/>
          </p:nvPr>
        </p:nvSpPr>
        <p:spPr>
          <a:xfrm>
            <a:off x="381000" y="914400"/>
            <a:ext cx="8458200" cy="4556125"/>
          </a:xfrm>
          <a:ln/>
        </p:spPr>
        <p:txBody>
          <a:bodyPr vert="horz" wrap="square" lIns="91440" tIns="45720" rIns="91440" bIns="45720" anchor="t" anchorCtr="0"/>
          <a:p>
            <a:pPr eaLnBrk="1" hangingPunct="1">
              <a:lnSpc>
                <a:spcPct val="140000"/>
              </a:lnSpc>
              <a:buNone/>
            </a:pPr>
            <a:r>
              <a:rPr lang="zh-CN" altLang="en-US" dirty="0"/>
              <a:t>三、登录日志文件的原则</a:t>
            </a:r>
            <a:endParaRPr lang="zh-CN" altLang="en-US" dirty="0"/>
          </a:p>
          <a:p>
            <a:pPr lvl="1" eaLnBrk="1" hangingPunct="1">
              <a:lnSpc>
                <a:spcPct val="120000"/>
              </a:lnSpc>
              <a:spcBef>
                <a:spcPct val="40000"/>
              </a:spcBef>
            </a:pPr>
            <a:r>
              <a:rPr lang="zh-CN" altLang="en-US" dirty="0"/>
              <a:t>登记的次序严格按并行事务执行的时间次序</a:t>
            </a:r>
            <a:endParaRPr lang="zh-CN" altLang="en-US" dirty="0"/>
          </a:p>
          <a:p>
            <a:pPr lvl="1" eaLnBrk="1" hangingPunct="1">
              <a:lnSpc>
                <a:spcPct val="120000"/>
              </a:lnSpc>
              <a:spcBef>
                <a:spcPct val="40000"/>
              </a:spcBef>
            </a:pPr>
            <a:r>
              <a:rPr lang="zh-CN" altLang="en-US" dirty="0"/>
              <a:t>必须先写日志文件，后写数据库</a:t>
            </a:r>
            <a:endParaRPr lang="zh-CN" altLang="en-US" dirty="0"/>
          </a:p>
        </p:txBody>
      </p:sp>
      <p:sp>
        <p:nvSpPr>
          <p:cNvPr id="55300" name="Rectangle 3"/>
          <p:cNvSpPr>
            <a:spLocks noGrp="1"/>
          </p:cNvSpPr>
          <p:nvPr>
            <p:ph type="title"/>
          </p:nvPr>
        </p:nvSpPr>
        <p:spPr>
          <a:xfrm>
            <a:off x="1187450" y="100013"/>
            <a:ext cx="7056438" cy="609600"/>
          </a:xfrm>
          <a:ln/>
        </p:spPr>
        <p:txBody>
          <a:bodyPr vert="horz" wrap="square" lIns="91440" tIns="45720" rIns="91440" bIns="45720" anchor="ctr" anchorCtr="0"/>
          <a:p>
            <a:pPr eaLnBrk="1" hangingPunct="1"/>
            <a:r>
              <a:rPr lang="en-US" altLang="zh-CN" sz="3200" dirty="0"/>
              <a:t>10.4  </a:t>
            </a:r>
            <a:r>
              <a:rPr lang="zh-CN" altLang="en-US" sz="3200" dirty="0"/>
              <a:t>恢复的实现技术</a:t>
            </a:r>
            <a:endParaRPr lang="zh-CN" altLang="en-US" sz="3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6323" name="Rectangle 2"/>
          <p:cNvSpPr/>
          <p:nvPr/>
        </p:nvSpPr>
        <p:spPr>
          <a:xfrm>
            <a:off x="622300" y="35179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56324"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bg1"/>
                </a:solidFill>
              </a:rPr>
              <a:t>10.5  </a:t>
            </a:r>
            <a:r>
              <a:rPr lang="zh-CN" altLang="en-US" dirty="0">
                <a:solidFill>
                  <a:schemeClr val="bg1"/>
                </a:solidFill>
              </a:rPr>
              <a:t>恢复策略</a:t>
            </a:r>
            <a:endParaRPr lang="zh-CN" altLang="en-US" dirty="0">
              <a:solidFill>
                <a:schemeClr val="bg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56325"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7347" name="Rectangle 2"/>
          <p:cNvSpPr>
            <a:spLocks noGrp="1"/>
          </p:cNvSpPr>
          <p:nvPr>
            <p:ph idx="1"/>
          </p:nvPr>
        </p:nvSpPr>
        <p:spPr>
          <a:xfrm>
            <a:off x="393700" y="1441450"/>
            <a:ext cx="8458200" cy="4556125"/>
          </a:xfrm>
          <a:ln/>
        </p:spPr>
        <p:txBody>
          <a:bodyPr vert="horz" wrap="square" lIns="91440" tIns="45720" rIns="91440" bIns="45720" anchor="t" anchorCtr="0"/>
          <a:p>
            <a:pPr eaLnBrk="1" hangingPunct="1">
              <a:lnSpc>
                <a:spcPct val="140000"/>
              </a:lnSpc>
              <a:buNone/>
            </a:pPr>
            <a:r>
              <a:rPr lang="en-US" altLang="zh-CN" dirty="0"/>
              <a:t>10.5.1  </a:t>
            </a:r>
            <a:r>
              <a:rPr lang="zh-CN" altLang="en-US" dirty="0"/>
              <a:t>事务故障的恢复</a:t>
            </a:r>
            <a:endParaRPr lang="zh-CN" altLang="en-US" dirty="0"/>
          </a:p>
          <a:p>
            <a:pPr eaLnBrk="1" hangingPunct="1">
              <a:lnSpc>
                <a:spcPct val="140000"/>
              </a:lnSpc>
              <a:buNone/>
            </a:pPr>
            <a:r>
              <a:rPr lang="en-US" altLang="zh-CN" dirty="0">
                <a:solidFill>
                  <a:schemeClr val="tx1"/>
                </a:solidFill>
              </a:rPr>
              <a:t>10.5.2  </a:t>
            </a:r>
            <a:r>
              <a:rPr lang="zh-CN" altLang="en-US" dirty="0">
                <a:solidFill>
                  <a:schemeClr val="tx1"/>
                </a:solidFill>
              </a:rPr>
              <a:t>系统故障的恢复</a:t>
            </a:r>
            <a:endParaRPr lang="zh-CN" altLang="en-US" dirty="0">
              <a:solidFill>
                <a:schemeClr val="tx1"/>
              </a:solidFill>
            </a:endParaRPr>
          </a:p>
          <a:p>
            <a:pPr eaLnBrk="1" hangingPunct="1">
              <a:lnSpc>
                <a:spcPct val="140000"/>
              </a:lnSpc>
              <a:buNone/>
            </a:pPr>
            <a:r>
              <a:rPr lang="en-US" altLang="zh-CN" dirty="0">
                <a:solidFill>
                  <a:schemeClr val="tx1"/>
                </a:solidFill>
              </a:rPr>
              <a:t>10.5.3  </a:t>
            </a:r>
            <a:r>
              <a:rPr lang="zh-CN" altLang="en-US" dirty="0">
                <a:solidFill>
                  <a:schemeClr val="tx1"/>
                </a:solidFill>
              </a:rPr>
              <a:t>介质故障的恢复</a:t>
            </a:r>
            <a:endParaRPr lang="zh-CN" altLang="en-US" dirty="0">
              <a:solidFill>
                <a:schemeClr val="tx1"/>
              </a:solidFill>
            </a:endParaRPr>
          </a:p>
        </p:txBody>
      </p:sp>
      <p:sp>
        <p:nvSpPr>
          <p:cNvPr id="5734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8371" name="Rectangle 2"/>
          <p:cNvSpPr>
            <a:spLocks noGrp="1"/>
          </p:cNvSpPr>
          <p:nvPr>
            <p:ph idx="1"/>
          </p:nvPr>
        </p:nvSpPr>
        <p:spPr>
          <a:xfrm>
            <a:off x="268288" y="914400"/>
            <a:ext cx="8458200" cy="5545138"/>
          </a:xfrm>
          <a:ln/>
        </p:spPr>
        <p:txBody>
          <a:bodyPr vert="horz" wrap="square" lIns="91440" tIns="45720" rIns="91440" bIns="45720" anchor="t" anchorCtr="0"/>
          <a:p>
            <a:pPr eaLnBrk="1" hangingPunct="1">
              <a:lnSpc>
                <a:spcPct val="140000"/>
              </a:lnSpc>
              <a:buNone/>
            </a:pPr>
            <a:r>
              <a:rPr lang="en-US" altLang="zh-CN" dirty="0"/>
              <a:t>10.5.1  </a:t>
            </a:r>
            <a:r>
              <a:rPr lang="zh-CN" altLang="en-US" dirty="0"/>
              <a:t>事务故障的恢复</a:t>
            </a:r>
            <a:endParaRPr lang="zh-CN" altLang="en-US" dirty="0"/>
          </a:p>
          <a:p>
            <a:pPr eaLnBrk="1" hangingPunct="1">
              <a:lnSpc>
                <a:spcPct val="120000"/>
              </a:lnSpc>
            </a:pPr>
            <a:r>
              <a:rPr lang="zh-CN" altLang="en-US" sz="2800" dirty="0">
                <a:solidFill>
                  <a:schemeClr val="tx1"/>
                </a:solidFill>
              </a:rPr>
              <a:t>事务故障：事务在运行至正常终止点前被中止</a:t>
            </a:r>
            <a:endParaRPr lang="zh-CN" altLang="en-US" sz="2800" dirty="0">
              <a:solidFill>
                <a:schemeClr val="tx1"/>
              </a:solidFill>
            </a:endParaRPr>
          </a:p>
          <a:p>
            <a:pPr eaLnBrk="1" hangingPunct="1">
              <a:lnSpc>
                <a:spcPct val="120000"/>
              </a:lnSpc>
            </a:pPr>
            <a:r>
              <a:rPr lang="zh-CN" altLang="en-US" sz="2800" dirty="0">
                <a:solidFill>
                  <a:schemeClr val="tx1"/>
                </a:solidFill>
              </a:rPr>
              <a:t>恢复方法</a:t>
            </a:r>
            <a:endParaRPr lang="zh-CN" altLang="en-US" sz="2800" dirty="0">
              <a:solidFill>
                <a:schemeClr val="tx1"/>
              </a:solidFill>
            </a:endParaRPr>
          </a:p>
          <a:p>
            <a:pPr lvl="1" eaLnBrk="1" hangingPunct="1">
              <a:lnSpc>
                <a:spcPct val="120000"/>
              </a:lnSpc>
            </a:pPr>
            <a:r>
              <a:rPr lang="zh-CN" altLang="en-US" dirty="0"/>
              <a:t>由恢复子系统应利用日志文件撤消（</a:t>
            </a:r>
            <a:r>
              <a:rPr lang="en-US" altLang="zh-CN" dirty="0">
                <a:solidFill>
                  <a:srgbClr val="FF3300"/>
                </a:solidFill>
              </a:rPr>
              <a:t>UNDO</a:t>
            </a:r>
            <a:r>
              <a:rPr lang="zh-CN" altLang="en-US" dirty="0"/>
              <a:t>）此事务已对数据库进行的修改</a:t>
            </a:r>
            <a:endParaRPr lang="zh-CN" altLang="en-US" dirty="0"/>
          </a:p>
          <a:p>
            <a:pPr eaLnBrk="1" hangingPunct="1">
              <a:lnSpc>
                <a:spcPct val="120000"/>
              </a:lnSpc>
            </a:pPr>
            <a:r>
              <a:rPr lang="zh-CN" altLang="en-US" sz="2800" dirty="0">
                <a:solidFill>
                  <a:schemeClr val="tx1"/>
                </a:solidFill>
              </a:rPr>
              <a:t>事务故障的恢复由系统自动完成，不需要用户干预</a:t>
            </a:r>
            <a:endParaRPr lang="zh-CN" altLang="en-US" sz="2800" dirty="0">
              <a:solidFill>
                <a:schemeClr val="tx1"/>
              </a:solidFill>
            </a:endParaRPr>
          </a:p>
        </p:txBody>
      </p:sp>
      <p:sp>
        <p:nvSpPr>
          <p:cNvPr id="5837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59395" name="Rectangle 2"/>
          <p:cNvSpPr>
            <a:spLocks noGrp="1"/>
          </p:cNvSpPr>
          <p:nvPr>
            <p:ph idx="1"/>
          </p:nvPr>
        </p:nvSpPr>
        <p:spPr>
          <a:xfrm>
            <a:off x="268288" y="752475"/>
            <a:ext cx="8458200" cy="5932488"/>
          </a:xfrm>
          <a:ln/>
        </p:spPr>
        <p:txBody>
          <a:bodyPr vert="horz" wrap="square" lIns="91440" tIns="45720" rIns="91440" bIns="45720" anchor="t" anchorCtr="0"/>
          <a:p>
            <a:pPr eaLnBrk="1" hangingPunct="1">
              <a:lnSpc>
                <a:spcPct val="120000"/>
              </a:lnSpc>
              <a:buNone/>
            </a:pPr>
            <a:r>
              <a:rPr lang="zh-CN" altLang="en-US" dirty="0"/>
              <a:t>事务故障的恢复步骤</a:t>
            </a:r>
            <a:endParaRPr lang="zh-CN" altLang="en-US" dirty="0"/>
          </a:p>
          <a:p>
            <a:pPr eaLnBrk="1" hangingPunct="1">
              <a:lnSpc>
                <a:spcPct val="120000"/>
              </a:lnSpc>
              <a:buNone/>
            </a:pPr>
            <a:r>
              <a:rPr lang="en-US" altLang="zh-CN" dirty="0">
                <a:solidFill>
                  <a:schemeClr val="tx1"/>
                </a:solidFill>
              </a:rPr>
              <a:t>1. </a:t>
            </a:r>
            <a:r>
              <a:rPr lang="zh-CN" altLang="en-US" sz="2800" dirty="0">
                <a:solidFill>
                  <a:schemeClr val="tx1"/>
                </a:solidFill>
              </a:rPr>
              <a:t>反向扫描文件日志（即从最后向前扫描日志文件），查找该事务的更新操作。</a:t>
            </a:r>
            <a:endParaRPr lang="zh-CN" altLang="en-US" sz="2800" dirty="0">
              <a:solidFill>
                <a:schemeClr val="tx1"/>
              </a:solidFill>
            </a:endParaRPr>
          </a:p>
          <a:p>
            <a:pPr eaLnBrk="1" hangingPunct="1">
              <a:lnSpc>
                <a:spcPct val="120000"/>
              </a:lnSpc>
              <a:buNone/>
            </a:pPr>
            <a:r>
              <a:rPr lang="en-US" altLang="zh-CN" sz="2800" dirty="0">
                <a:solidFill>
                  <a:schemeClr val="tx1"/>
                </a:solidFill>
              </a:rPr>
              <a:t>2. </a:t>
            </a:r>
            <a:r>
              <a:rPr lang="zh-CN" altLang="en-US" sz="2800" dirty="0">
                <a:solidFill>
                  <a:schemeClr val="tx1"/>
                </a:solidFill>
              </a:rPr>
              <a:t>对该事务的更新操作执行逆操作。即将日志记录中“更新前的值”（</a:t>
            </a:r>
            <a:r>
              <a:rPr lang="en-US" altLang="zh-CN" sz="2800" dirty="0">
                <a:solidFill>
                  <a:schemeClr val="tx1"/>
                </a:solidFill>
              </a:rPr>
              <a:t>Befor Image, BI</a:t>
            </a:r>
            <a:r>
              <a:rPr lang="zh-CN" altLang="en-US" sz="2800" dirty="0">
                <a:solidFill>
                  <a:schemeClr val="tx1"/>
                </a:solidFill>
              </a:rPr>
              <a:t>）写入数据库。</a:t>
            </a:r>
            <a:endParaRPr lang="zh-CN" altLang="en-US" dirty="0">
              <a:solidFill>
                <a:schemeClr val="tx1"/>
              </a:solidFill>
            </a:endParaRPr>
          </a:p>
          <a:p>
            <a:pPr lvl="1" eaLnBrk="1" hangingPunct="1">
              <a:lnSpc>
                <a:spcPct val="120000"/>
              </a:lnSpc>
            </a:pPr>
            <a:r>
              <a:rPr lang="zh-CN" altLang="en-US" sz="2400" dirty="0"/>
              <a:t>插入操作， “更新前的值”为空，则相当于做删除操作</a:t>
            </a:r>
            <a:endParaRPr lang="zh-CN" altLang="en-US" sz="2400" dirty="0"/>
          </a:p>
          <a:p>
            <a:pPr lvl="1" eaLnBrk="1" hangingPunct="1">
              <a:lnSpc>
                <a:spcPct val="120000"/>
              </a:lnSpc>
            </a:pPr>
            <a:r>
              <a:rPr lang="zh-CN" altLang="en-US" sz="2400" dirty="0"/>
              <a:t>删除操作，“更新后的值”为空，则相当于做插入操作</a:t>
            </a:r>
            <a:endParaRPr lang="zh-CN" altLang="en-US" sz="2400" dirty="0"/>
          </a:p>
          <a:p>
            <a:pPr lvl="1" eaLnBrk="1" hangingPunct="1">
              <a:lnSpc>
                <a:spcPct val="120000"/>
              </a:lnSpc>
            </a:pPr>
            <a:r>
              <a:rPr lang="zh-CN" altLang="en-US" sz="2400" dirty="0"/>
              <a:t>若是修改操作，则用</a:t>
            </a:r>
            <a:r>
              <a:rPr lang="en-US" altLang="zh-CN" sz="2400" dirty="0"/>
              <a:t>BI </a:t>
            </a:r>
            <a:r>
              <a:rPr lang="zh-CN" altLang="en-US" sz="2400" dirty="0"/>
              <a:t>代替 </a:t>
            </a:r>
            <a:r>
              <a:rPr lang="en-US" altLang="zh-CN" sz="2400" dirty="0"/>
              <a:t>AI</a:t>
            </a:r>
            <a:r>
              <a:rPr lang="zh-CN" altLang="en-US" sz="2400" dirty="0"/>
              <a:t>（</a:t>
            </a:r>
            <a:r>
              <a:rPr lang="en-US" altLang="zh-CN" sz="2400" dirty="0"/>
              <a:t>After Image</a:t>
            </a:r>
            <a:r>
              <a:rPr lang="zh-CN" altLang="en-US" sz="2400" dirty="0"/>
              <a:t>）</a:t>
            </a:r>
            <a:endParaRPr lang="zh-CN" altLang="en-US" sz="2400" dirty="0"/>
          </a:p>
          <a:p>
            <a:pPr eaLnBrk="1" hangingPunct="1">
              <a:lnSpc>
                <a:spcPct val="120000"/>
              </a:lnSpc>
              <a:buNone/>
            </a:pPr>
            <a:r>
              <a:rPr lang="en-US" altLang="zh-CN" sz="2800" dirty="0">
                <a:solidFill>
                  <a:schemeClr val="tx1"/>
                </a:solidFill>
              </a:rPr>
              <a:t>3. </a:t>
            </a:r>
            <a:r>
              <a:rPr lang="zh-CN" altLang="en-US" sz="2800" dirty="0">
                <a:solidFill>
                  <a:schemeClr val="tx1"/>
                </a:solidFill>
              </a:rPr>
              <a:t>继续反扫描，对下一个更新操作作同样处理。</a:t>
            </a:r>
            <a:endParaRPr lang="zh-CN" altLang="en-US" sz="2800" dirty="0">
              <a:solidFill>
                <a:schemeClr val="tx1"/>
              </a:solidFill>
            </a:endParaRPr>
          </a:p>
          <a:p>
            <a:pPr eaLnBrk="1" hangingPunct="1">
              <a:lnSpc>
                <a:spcPct val="120000"/>
              </a:lnSpc>
              <a:buNone/>
            </a:pPr>
            <a:r>
              <a:rPr lang="en-US" altLang="zh-CN" sz="2800" dirty="0">
                <a:solidFill>
                  <a:schemeClr val="tx1"/>
                </a:solidFill>
              </a:rPr>
              <a:t>4. </a:t>
            </a:r>
            <a:r>
              <a:rPr lang="zh-CN" altLang="en-US" sz="2800" dirty="0">
                <a:solidFill>
                  <a:schemeClr val="tx1"/>
                </a:solidFill>
              </a:rPr>
              <a:t>只到读到此事务的开始标记。</a:t>
            </a:r>
            <a:endParaRPr lang="zh-CN" altLang="en-US" sz="2800" dirty="0">
              <a:solidFill>
                <a:schemeClr val="tx1"/>
              </a:solidFill>
            </a:endParaRPr>
          </a:p>
        </p:txBody>
      </p:sp>
      <p:sp>
        <p:nvSpPr>
          <p:cNvPr id="5939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0419" name="Rectangle 2"/>
          <p:cNvSpPr>
            <a:spLocks noGrp="1"/>
          </p:cNvSpPr>
          <p:nvPr>
            <p:ph idx="1"/>
          </p:nvPr>
        </p:nvSpPr>
        <p:spPr>
          <a:xfrm>
            <a:off x="268288" y="712788"/>
            <a:ext cx="8721725" cy="5746750"/>
          </a:xfrm>
          <a:ln/>
        </p:spPr>
        <p:txBody>
          <a:bodyPr vert="horz" wrap="square" lIns="91440" tIns="45720" rIns="91440" bIns="45720" anchor="t" anchorCtr="0"/>
          <a:p>
            <a:pPr eaLnBrk="1" hangingPunct="1">
              <a:lnSpc>
                <a:spcPct val="140000"/>
              </a:lnSpc>
              <a:buNone/>
            </a:pPr>
            <a:r>
              <a:rPr lang="en-US" altLang="zh-CN" dirty="0"/>
              <a:t>10.5.2  </a:t>
            </a:r>
            <a:r>
              <a:rPr lang="zh-CN" altLang="en-US" dirty="0"/>
              <a:t>系统故障的恢复</a:t>
            </a:r>
            <a:endParaRPr lang="zh-CN" altLang="en-US" dirty="0"/>
          </a:p>
          <a:p>
            <a:pPr eaLnBrk="1" hangingPunct="1"/>
            <a:r>
              <a:rPr lang="zh-CN" altLang="en-US" sz="2800" dirty="0">
                <a:solidFill>
                  <a:schemeClr val="tx1"/>
                </a:solidFill>
              </a:rPr>
              <a:t>系统故障造成数据库不一致状态的原因</a:t>
            </a:r>
            <a:endParaRPr lang="zh-CN" altLang="en-US" sz="2800" dirty="0">
              <a:solidFill>
                <a:schemeClr val="tx1"/>
              </a:solidFill>
            </a:endParaRPr>
          </a:p>
          <a:p>
            <a:pPr lvl="1" eaLnBrk="1" hangingPunct="1"/>
            <a:r>
              <a:rPr lang="zh-CN" altLang="en-US" dirty="0"/>
              <a:t>一些未完成事务对数据库的更新已写入数据库</a:t>
            </a:r>
            <a:endParaRPr lang="zh-CN" altLang="en-US" dirty="0"/>
          </a:p>
          <a:p>
            <a:pPr lvl="1" eaLnBrk="1" hangingPunct="1"/>
            <a:r>
              <a:rPr lang="zh-CN" altLang="en-US" dirty="0"/>
              <a:t>一些已提交事务对数据库的更新还留在缓冲区没来得及写入数据库</a:t>
            </a:r>
            <a:endParaRPr lang="zh-CN" altLang="en-US" dirty="0"/>
          </a:p>
          <a:p>
            <a:pPr eaLnBrk="1" hangingPunct="1"/>
            <a:r>
              <a:rPr lang="zh-CN" altLang="en-US" sz="2800" dirty="0">
                <a:solidFill>
                  <a:schemeClr val="tx1"/>
                </a:solidFill>
              </a:rPr>
              <a:t>恢复方法</a:t>
            </a:r>
            <a:endParaRPr lang="zh-CN" altLang="en-US" sz="2800" dirty="0">
              <a:solidFill>
                <a:schemeClr val="tx1"/>
              </a:solidFill>
            </a:endParaRPr>
          </a:p>
          <a:p>
            <a:pPr lvl="1" eaLnBrk="1" hangingPunct="1"/>
            <a:r>
              <a:rPr lang="en-US" altLang="zh-CN" dirty="0"/>
              <a:t>1. Undo </a:t>
            </a:r>
            <a:r>
              <a:rPr lang="zh-CN" altLang="en-US" dirty="0"/>
              <a:t>故障发生时未完成的事务</a:t>
            </a:r>
            <a:endParaRPr lang="zh-CN" altLang="en-US" dirty="0"/>
          </a:p>
          <a:p>
            <a:pPr lvl="1" eaLnBrk="1" hangingPunct="1"/>
            <a:r>
              <a:rPr lang="en-US" altLang="zh-CN" dirty="0"/>
              <a:t>2. Redo </a:t>
            </a:r>
            <a:r>
              <a:rPr lang="zh-CN" altLang="en-US" dirty="0"/>
              <a:t>已完成的事务</a:t>
            </a:r>
            <a:endParaRPr lang="zh-CN" altLang="en-US" dirty="0"/>
          </a:p>
          <a:p>
            <a:pPr eaLnBrk="1" hangingPunct="1"/>
            <a:r>
              <a:rPr lang="zh-CN" altLang="en-US" sz="2800" dirty="0">
                <a:solidFill>
                  <a:schemeClr val="tx1"/>
                </a:solidFill>
              </a:rPr>
              <a:t>系统故障的恢复由系统在</a:t>
            </a:r>
            <a:r>
              <a:rPr lang="zh-CN" altLang="en-US" sz="2800" u="sng" dirty="0">
                <a:solidFill>
                  <a:schemeClr val="tx1"/>
                </a:solidFill>
              </a:rPr>
              <a:t>重新启动时</a:t>
            </a:r>
            <a:r>
              <a:rPr lang="zh-CN" altLang="en-US" sz="2800" dirty="0">
                <a:solidFill>
                  <a:schemeClr val="tx1"/>
                </a:solidFill>
              </a:rPr>
              <a:t>自动完成，不需要用户干预</a:t>
            </a:r>
            <a:endParaRPr lang="zh-CN" altLang="en-US" sz="2800" dirty="0">
              <a:solidFill>
                <a:schemeClr val="tx1"/>
              </a:solidFill>
            </a:endParaRPr>
          </a:p>
        </p:txBody>
      </p:sp>
      <p:sp>
        <p:nvSpPr>
          <p:cNvPr id="6042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1443" name="Rectangle 2"/>
          <p:cNvSpPr>
            <a:spLocks noGrp="1"/>
          </p:cNvSpPr>
          <p:nvPr>
            <p:ph idx="1"/>
          </p:nvPr>
        </p:nvSpPr>
        <p:spPr>
          <a:xfrm>
            <a:off x="268288" y="712788"/>
            <a:ext cx="8721725" cy="5746750"/>
          </a:xfrm>
          <a:ln/>
        </p:spPr>
        <p:txBody>
          <a:bodyPr vert="horz" wrap="square" lIns="91440" tIns="45720" rIns="91440" bIns="45720" anchor="t" anchorCtr="0"/>
          <a:p>
            <a:pPr eaLnBrk="1" hangingPunct="1">
              <a:lnSpc>
                <a:spcPct val="140000"/>
              </a:lnSpc>
              <a:buNone/>
            </a:pPr>
            <a:r>
              <a:rPr lang="zh-CN" altLang="en-US" dirty="0"/>
              <a:t>系统故障的恢复步骤</a:t>
            </a:r>
            <a:endParaRPr lang="zh-CN" altLang="en-US" dirty="0"/>
          </a:p>
          <a:p>
            <a:pPr eaLnBrk="1" hangingPunct="1">
              <a:buNone/>
            </a:pPr>
            <a:r>
              <a:rPr lang="en-US" altLang="zh-CN" sz="2800" dirty="0">
                <a:solidFill>
                  <a:srgbClr val="0000CC"/>
                </a:solidFill>
              </a:rPr>
              <a:t>1.	</a:t>
            </a:r>
            <a:r>
              <a:rPr lang="zh-CN" altLang="en-US" sz="2800" dirty="0">
                <a:solidFill>
                  <a:srgbClr val="0000CC"/>
                </a:solidFill>
              </a:rPr>
              <a:t>正向扫描日志文件（即从头扫描日志文件）</a:t>
            </a:r>
            <a:endParaRPr lang="zh-CN" altLang="en-US" dirty="0">
              <a:solidFill>
                <a:srgbClr val="0000CC"/>
              </a:solidFill>
            </a:endParaRPr>
          </a:p>
          <a:p>
            <a:pPr lvl="1" eaLnBrk="1" hangingPunct="1"/>
            <a:r>
              <a:rPr lang="en-US" altLang="zh-CN" dirty="0"/>
              <a:t>Redo</a:t>
            </a:r>
            <a:r>
              <a:rPr lang="zh-CN" altLang="en-US" dirty="0"/>
              <a:t>队列</a:t>
            </a:r>
            <a:r>
              <a:rPr lang="en-US" altLang="zh-CN" dirty="0"/>
              <a:t>: </a:t>
            </a:r>
            <a:r>
              <a:rPr lang="zh-CN" altLang="en-US" dirty="0"/>
              <a:t>在故障发生前已经提交的事务</a:t>
            </a:r>
            <a:endParaRPr lang="zh-CN" altLang="en-US" dirty="0"/>
          </a:p>
          <a:p>
            <a:pPr lvl="1" eaLnBrk="1" hangingPunct="1"/>
            <a:r>
              <a:rPr lang="en-US" altLang="zh-CN" dirty="0"/>
              <a:t>Undo</a:t>
            </a:r>
            <a:r>
              <a:rPr lang="zh-CN" altLang="en-US" dirty="0"/>
              <a:t>队列</a:t>
            </a:r>
            <a:r>
              <a:rPr lang="en-US" altLang="zh-CN" dirty="0"/>
              <a:t>:</a:t>
            </a:r>
            <a:r>
              <a:rPr lang="zh-CN" altLang="en-US" dirty="0"/>
              <a:t>故障发生时尚未完成的事务</a:t>
            </a:r>
            <a:endParaRPr lang="zh-CN" altLang="en-US" dirty="0"/>
          </a:p>
          <a:p>
            <a:pPr eaLnBrk="1" hangingPunct="1">
              <a:lnSpc>
                <a:spcPct val="110000"/>
              </a:lnSpc>
              <a:buNone/>
            </a:pPr>
            <a:r>
              <a:rPr lang="en-US" altLang="zh-CN" sz="2800" dirty="0">
                <a:solidFill>
                  <a:srgbClr val="0000CC"/>
                </a:solidFill>
              </a:rPr>
              <a:t>2. </a:t>
            </a:r>
            <a:r>
              <a:rPr lang="zh-CN" altLang="en-US" sz="2800" dirty="0">
                <a:solidFill>
                  <a:srgbClr val="0000CC"/>
                </a:solidFill>
              </a:rPr>
              <a:t>对</a:t>
            </a:r>
            <a:r>
              <a:rPr lang="en-US" altLang="zh-CN" sz="2800" dirty="0">
                <a:solidFill>
                  <a:srgbClr val="0000CC"/>
                </a:solidFill>
              </a:rPr>
              <a:t>Undo</a:t>
            </a:r>
            <a:r>
              <a:rPr lang="zh-CN" altLang="en-US" sz="2800" dirty="0">
                <a:solidFill>
                  <a:srgbClr val="0000CC"/>
                </a:solidFill>
              </a:rPr>
              <a:t>队列事务进行</a:t>
            </a:r>
            <a:r>
              <a:rPr lang="en-US" altLang="zh-CN" sz="2800" dirty="0">
                <a:solidFill>
                  <a:srgbClr val="0000CC"/>
                </a:solidFill>
              </a:rPr>
              <a:t>UNDO</a:t>
            </a:r>
            <a:r>
              <a:rPr lang="zh-CN" altLang="en-US" sz="2800" dirty="0">
                <a:solidFill>
                  <a:srgbClr val="0000CC"/>
                </a:solidFill>
              </a:rPr>
              <a:t>处理</a:t>
            </a:r>
            <a:endParaRPr lang="zh-CN" altLang="en-US" sz="2800" dirty="0">
              <a:solidFill>
                <a:srgbClr val="0000CC"/>
              </a:solidFill>
            </a:endParaRPr>
          </a:p>
          <a:p>
            <a:pPr eaLnBrk="1" hangingPunct="1">
              <a:lnSpc>
                <a:spcPct val="110000"/>
              </a:lnSpc>
              <a:buNone/>
            </a:pPr>
            <a:r>
              <a:rPr lang="zh-CN" altLang="en-US" sz="2800" dirty="0">
                <a:solidFill>
                  <a:schemeClr val="tx1"/>
                </a:solidFill>
              </a:rPr>
              <a:t>	反向扫描日志文件，对每个</a:t>
            </a:r>
            <a:r>
              <a:rPr lang="en-US" altLang="zh-CN" sz="2800" dirty="0">
                <a:solidFill>
                  <a:schemeClr val="tx1"/>
                </a:solidFill>
              </a:rPr>
              <a:t>UNDO</a:t>
            </a:r>
            <a:r>
              <a:rPr lang="zh-CN" altLang="en-US" sz="2800" dirty="0">
                <a:solidFill>
                  <a:schemeClr val="tx1"/>
                </a:solidFill>
              </a:rPr>
              <a:t>事务的更新操作执行逆操作</a:t>
            </a:r>
            <a:endParaRPr lang="zh-CN" altLang="en-US" sz="2800" dirty="0">
              <a:solidFill>
                <a:schemeClr val="tx1"/>
              </a:solidFill>
            </a:endParaRPr>
          </a:p>
          <a:p>
            <a:pPr eaLnBrk="1" hangingPunct="1">
              <a:lnSpc>
                <a:spcPct val="110000"/>
              </a:lnSpc>
              <a:buNone/>
            </a:pPr>
            <a:r>
              <a:rPr lang="en-US" altLang="zh-CN" sz="2800" dirty="0">
                <a:solidFill>
                  <a:srgbClr val="0000CC"/>
                </a:solidFill>
              </a:rPr>
              <a:t>3. </a:t>
            </a:r>
            <a:r>
              <a:rPr lang="zh-CN" altLang="en-US" sz="2800" dirty="0">
                <a:solidFill>
                  <a:srgbClr val="0000CC"/>
                </a:solidFill>
              </a:rPr>
              <a:t>对</a:t>
            </a:r>
            <a:r>
              <a:rPr lang="en-US" altLang="zh-CN" sz="2800" dirty="0">
                <a:solidFill>
                  <a:srgbClr val="0000CC"/>
                </a:solidFill>
              </a:rPr>
              <a:t>Redo</a:t>
            </a:r>
            <a:r>
              <a:rPr lang="zh-CN" altLang="en-US" sz="2800" dirty="0">
                <a:solidFill>
                  <a:srgbClr val="0000CC"/>
                </a:solidFill>
              </a:rPr>
              <a:t>队列事务进行</a:t>
            </a:r>
            <a:r>
              <a:rPr lang="en-US" altLang="zh-CN" sz="2800" dirty="0">
                <a:solidFill>
                  <a:srgbClr val="0000CC"/>
                </a:solidFill>
              </a:rPr>
              <a:t>REDO</a:t>
            </a:r>
            <a:r>
              <a:rPr lang="zh-CN" altLang="en-US" sz="2800" dirty="0">
                <a:solidFill>
                  <a:srgbClr val="0000CC"/>
                </a:solidFill>
              </a:rPr>
              <a:t>处理</a:t>
            </a:r>
            <a:endParaRPr lang="zh-CN" altLang="en-US" sz="2800" dirty="0">
              <a:solidFill>
                <a:srgbClr val="0000CC"/>
              </a:solidFill>
            </a:endParaRPr>
          </a:p>
          <a:p>
            <a:pPr eaLnBrk="1" hangingPunct="1">
              <a:lnSpc>
                <a:spcPct val="110000"/>
              </a:lnSpc>
              <a:buNone/>
            </a:pPr>
            <a:r>
              <a:rPr lang="zh-CN" altLang="en-US" sz="2800" dirty="0">
                <a:solidFill>
                  <a:schemeClr val="tx1"/>
                </a:solidFill>
              </a:rPr>
              <a:t>	正向扫描日志文件，对每个</a:t>
            </a:r>
            <a:r>
              <a:rPr lang="en-US" altLang="zh-CN" sz="2800" dirty="0">
                <a:solidFill>
                  <a:schemeClr val="tx1"/>
                </a:solidFill>
              </a:rPr>
              <a:t>REDO</a:t>
            </a:r>
            <a:r>
              <a:rPr lang="zh-CN" altLang="en-US" sz="2800" dirty="0">
                <a:solidFill>
                  <a:schemeClr val="tx1"/>
                </a:solidFill>
              </a:rPr>
              <a:t>事务重新执行登记的操作</a:t>
            </a:r>
            <a:endParaRPr lang="zh-CN" altLang="en-US" sz="2800" dirty="0">
              <a:solidFill>
                <a:schemeClr val="tx1"/>
              </a:solidFill>
            </a:endParaRPr>
          </a:p>
        </p:txBody>
      </p:sp>
      <p:sp>
        <p:nvSpPr>
          <p:cNvPr id="6144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2467" name="Rectangle 2"/>
          <p:cNvSpPr>
            <a:spLocks noGrp="1"/>
          </p:cNvSpPr>
          <p:nvPr>
            <p:ph idx="1"/>
          </p:nvPr>
        </p:nvSpPr>
        <p:spPr>
          <a:xfrm>
            <a:off x="268288" y="712788"/>
            <a:ext cx="8721725" cy="5746750"/>
          </a:xfrm>
          <a:ln/>
        </p:spPr>
        <p:txBody>
          <a:bodyPr vert="horz" wrap="square" lIns="91440" tIns="45720" rIns="91440" bIns="45720" anchor="t" anchorCtr="0"/>
          <a:p>
            <a:pPr eaLnBrk="1" hangingPunct="1">
              <a:lnSpc>
                <a:spcPct val="140000"/>
              </a:lnSpc>
              <a:buNone/>
            </a:pPr>
            <a:r>
              <a:rPr lang="en-US" altLang="zh-CN" dirty="0"/>
              <a:t>10.5.3  </a:t>
            </a:r>
            <a:r>
              <a:rPr lang="zh-CN" altLang="en-US" dirty="0"/>
              <a:t>介质故障的恢复</a:t>
            </a:r>
            <a:endParaRPr lang="zh-CN" altLang="en-US" dirty="0"/>
          </a:p>
          <a:p>
            <a:pPr eaLnBrk="1" hangingPunct="1">
              <a:buNone/>
            </a:pPr>
            <a:r>
              <a:rPr lang="en-US" altLang="zh-CN" dirty="0">
                <a:solidFill>
                  <a:schemeClr val="tx1"/>
                </a:solidFill>
              </a:rPr>
              <a:t>1. </a:t>
            </a:r>
            <a:r>
              <a:rPr lang="zh-CN" altLang="en-US" dirty="0">
                <a:solidFill>
                  <a:schemeClr val="tx1"/>
                </a:solidFill>
              </a:rPr>
              <a:t>重装数据库，使数据库恢复到一致性状态</a:t>
            </a:r>
            <a:endParaRPr lang="zh-CN" altLang="en-US" dirty="0">
              <a:solidFill>
                <a:schemeClr val="tx1"/>
              </a:solidFill>
            </a:endParaRPr>
          </a:p>
          <a:p>
            <a:pPr eaLnBrk="1" hangingPunct="1">
              <a:buNone/>
            </a:pPr>
            <a:r>
              <a:rPr lang="en-US" altLang="zh-CN" dirty="0">
                <a:solidFill>
                  <a:schemeClr val="tx1"/>
                </a:solidFill>
              </a:rPr>
              <a:t>2. </a:t>
            </a:r>
            <a:r>
              <a:rPr lang="zh-CN" altLang="en-US" dirty="0">
                <a:solidFill>
                  <a:schemeClr val="tx1"/>
                </a:solidFill>
              </a:rPr>
              <a:t>重做已完成的事务</a:t>
            </a:r>
            <a:endParaRPr lang="zh-CN" altLang="en-US" dirty="0">
              <a:solidFill>
                <a:schemeClr val="tx1"/>
              </a:solidFill>
            </a:endParaRPr>
          </a:p>
        </p:txBody>
      </p:sp>
      <p:sp>
        <p:nvSpPr>
          <p:cNvPr id="6246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3491" name="Rectangle 2"/>
          <p:cNvSpPr>
            <a:spLocks noGrp="1"/>
          </p:cNvSpPr>
          <p:nvPr>
            <p:ph idx="1"/>
          </p:nvPr>
        </p:nvSpPr>
        <p:spPr>
          <a:xfrm>
            <a:off x="268288" y="712788"/>
            <a:ext cx="8721725" cy="5746750"/>
          </a:xfrm>
          <a:ln/>
        </p:spPr>
        <p:txBody>
          <a:bodyPr vert="horz" wrap="square" lIns="91440" tIns="45720" rIns="91440" bIns="45720" anchor="t" anchorCtr="0"/>
          <a:p>
            <a:pPr eaLnBrk="1" hangingPunct="1">
              <a:lnSpc>
                <a:spcPct val="140000"/>
              </a:lnSpc>
              <a:buNone/>
            </a:pPr>
            <a:r>
              <a:rPr lang="zh-CN" altLang="en-US" dirty="0"/>
              <a:t>介质故障的恢复步骤</a:t>
            </a:r>
            <a:endParaRPr lang="zh-CN" altLang="en-US" dirty="0"/>
          </a:p>
          <a:p>
            <a:pPr eaLnBrk="1" hangingPunct="1">
              <a:spcBef>
                <a:spcPct val="40000"/>
              </a:spcBef>
              <a:buNone/>
            </a:pPr>
            <a:r>
              <a:rPr lang="en-US" altLang="zh-CN" sz="2800" dirty="0">
                <a:solidFill>
                  <a:srgbClr val="0000CC"/>
                </a:solidFill>
              </a:rPr>
              <a:t>1. </a:t>
            </a:r>
            <a:r>
              <a:rPr lang="zh-CN" altLang="en-US" sz="2800" dirty="0">
                <a:solidFill>
                  <a:srgbClr val="0000CC"/>
                </a:solidFill>
              </a:rPr>
              <a:t>装入最新的后备数据库副本，使数据库恢复到最近一次转储时的一致性状态。</a:t>
            </a:r>
            <a:endParaRPr lang="zh-CN" altLang="en-US" dirty="0">
              <a:solidFill>
                <a:srgbClr val="0000CC"/>
              </a:solidFill>
            </a:endParaRPr>
          </a:p>
          <a:p>
            <a:pPr lvl="1" eaLnBrk="1" hangingPunct="1">
              <a:spcBef>
                <a:spcPct val="40000"/>
              </a:spcBef>
            </a:pPr>
            <a:r>
              <a:rPr lang="zh-CN" altLang="en-US" dirty="0"/>
              <a:t>对于静态转储的数据库副本，装入后数据库即处于一致性状态</a:t>
            </a:r>
            <a:endParaRPr lang="zh-CN" altLang="en-US" dirty="0"/>
          </a:p>
          <a:p>
            <a:pPr lvl="1" eaLnBrk="1" hangingPunct="1">
              <a:spcBef>
                <a:spcPct val="40000"/>
              </a:spcBef>
            </a:pPr>
            <a:r>
              <a:rPr lang="zh-CN" altLang="en-US" dirty="0"/>
              <a:t>对于动态转储的数据库副本，还须同时装入转储时刻的日志文件副本，利用与恢复系统故障相同的方法（即</a:t>
            </a:r>
            <a:r>
              <a:rPr lang="en-US" altLang="zh-CN" dirty="0"/>
              <a:t>REDO+UNDO</a:t>
            </a:r>
            <a:r>
              <a:rPr lang="zh-CN" altLang="en-US" dirty="0"/>
              <a:t>），才能将数据库恢复到一致性状态。</a:t>
            </a:r>
            <a:endParaRPr lang="zh-CN" altLang="en-US" dirty="0"/>
          </a:p>
        </p:txBody>
      </p:sp>
      <p:sp>
        <p:nvSpPr>
          <p:cNvPr id="6349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4515" name="Rectangle 2"/>
          <p:cNvSpPr>
            <a:spLocks noGrp="1"/>
          </p:cNvSpPr>
          <p:nvPr>
            <p:ph idx="1"/>
          </p:nvPr>
        </p:nvSpPr>
        <p:spPr>
          <a:xfrm>
            <a:off x="268288" y="712788"/>
            <a:ext cx="8721725" cy="5746750"/>
          </a:xfrm>
          <a:ln/>
        </p:spPr>
        <p:txBody>
          <a:bodyPr vert="horz" wrap="square" lIns="91440" tIns="45720" rIns="91440" bIns="45720" anchor="t" anchorCtr="0"/>
          <a:p>
            <a:pPr eaLnBrk="1" hangingPunct="1">
              <a:lnSpc>
                <a:spcPct val="120000"/>
              </a:lnSpc>
              <a:buNone/>
            </a:pPr>
            <a:r>
              <a:rPr lang="zh-CN" altLang="en-US" dirty="0"/>
              <a:t>介质故障的恢复步骤</a:t>
            </a:r>
            <a:r>
              <a:rPr lang="en-US" altLang="zh-CN" dirty="0"/>
              <a:t>(</a:t>
            </a:r>
            <a:r>
              <a:rPr lang="zh-CN" altLang="en-US" dirty="0"/>
              <a:t>续</a:t>
            </a:r>
            <a:r>
              <a:rPr lang="en-US" altLang="zh-CN" dirty="0"/>
              <a:t>)</a:t>
            </a:r>
            <a:endParaRPr lang="en-US" altLang="zh-CN" dirty="0"/>
          </a:p>
          <a:p>
            <a:pPr eaLnBrk="1" hangingPunct="1">
              <a:lnSpc>
                <a:spcPct val="120000"/>
              </a:lnSpc>
              <a:buNone/>
            </a:pPr>
            <a:r>
              <a:rPr lang="en-US" altLang="zh-CN" sz="2800" dirty="0">
                <a:solidFill>
                  <a:srgbClr val="0000CC"/>
                </a:solidFill>
              </a:rPr>
              <a:t>2. </a:t>
            </a:r>
            <a:r>
              <a:rPr lang="zh-CN" altLang="en-US" sz="2800" dirty="0">
                <a:solidFill>
                  <a:srgbClr val="0000CC"/>
                </a:solidFill>
              </a:rPr>
              <a:t>装入有关的日志文件副本，重做已完成的事务。</a:t>
            </a:r>
            <a:endParaRPr lang="zh-CN" altLang="en-US" dirty="0">
              <a:solidFill>
                <a:srgbClr val="0000CC"/>
              </a:solidFill>
            </a:endParaRPr>
          </a:p>
          <a:p>
            <a:pPr lvl="1" eaLnBrk="1" hangingPunct="1">
              <a:lnSpc>
                <a:spcPct val="120000"/>
              </a:lnSpc>
            </a:pPr>
            <a:r>
              <a:rPr lang="zh-CN" altLang="en-US" dirty="0"/>
              <a:t>首先扫描日志文件，找出故障发生时已提交的事务的标识，将其记入重做</a:t>
            </a:r>
            <a:r>
              <a:rPr lang="en-US" altLang="zh-CN" dirty="0"/>
              <a:t>(REDO)</a:t>
            </a:r>
            <a:r>
              <a:rPr lang="zh-CN" altLang="en-US" dirty="0"/>
              <a:t>队列。</a:t>
            </a:r>
            <a:endParaRPr lang="zh-CN" altLang="en-US" dirty="0"/>
          </a:p>
          <a:p>
            <a:pPr lvl="1" eaLnBrk="1" hangingPunct="1">
              <a:lnSpc>
                <a:spcPct val="120000"/>
              </a:lnSpc>
            </a:pPr>
            <a:r>
              <a:rPr lang="zh-CN" altLang="en-US" dirty="0"/>
              <a:t>然后正向扫描日志文件，对重做队列中的所有事务进行重做处理。即将日志记录中“更新后的值”写入数据库。</a:t>
            </a:r>
            <a:endParaRPr lang="zh-CN" altLang="en-US" dirty="0"/>
          </a:p>
          <a:p>
            <a:pPr eaLnBrk="1" hangingPunct="1">
              <a:lnSpc>
                <a:spcPct val="120000"/>
              </a:lnSpc>
              <a:buNone/>
            </a:pPr>
            <a:r>
              <a:rPr lang="zh-CN" altLang="en-US" sz="2800" dirty="0">
                <a:solidFill>
                  <a:srgbClr val="0000CC"/>
                </a:solidFill>
              </a:rPr>
              <a:t>	介质故障的恢复需要</a:t>
            </a:r>
            <a:r>
              <a:rPr lang="en-US" altLang="zh-CN" sz="2800" dirty="0">
                <a:solidFill>
                  <a:srgbClr val="0000CC"/>
                </a:solidFill>
              </a:rPr>
              <a:t>DBA</a:t>
            </a:r>
            <a:r>
              <a:rPr lang="zh-CN" altLang="en-US" sz="2800" dirty="0">
                <a:solidFill>
                  <a:srgbClr val="0000CC"/>
                </a:solidFill>
              </a:rPr>
              <a:t>介入</a:t>
            </a:r>
            <a:endParaRPr lang="zh-CN" altLang="en-US" sz="2800" dirty="0">
              <a:solidFill>
                <a:srgbClr val="0000CC"/>
              </a:solidFill>
            </a:endParaRPr>
          </a:p>
        </p:txBody>
      </p:sp>
      <p:sp>
        <p:nvSpPr>
          <p:cNvPr id="6451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10.5  </a:t>
            </a:r>
            <a:r>
              <a:rPr lang="zh-CN" altLang="en-US" dirty="0"/>
              <a:t>恢复的策略</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5539" name="Rectangle 2"/>
          <p:cNvSpPr/>
          <p:nvPr/>
        </p:nvSpPr>
        <p:spPr>
          <a:xfrm>
            <a:off x="622300" y="41148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65540"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bg1"/>
                </a:solidFill>
              </a:rPr>
              <a:t>10.6  </a:t>
            </a:r>
            <a:r>
              <a:rPr lang="zh-CN" altLang="en-US" dirty="0">
                <a:solidFill>
                  <a:schemeClr val="bg1"/>
                </a:solidFill>
              </a:rPr>
              <a:t>具有检查点的恢复技术</a:t>
            </a:r>
            <a:endParaRPr lang="zh-CN" altLang="en-US" dirty="0">
              <a:solidFill>
                <a:schemeClr val="bg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65541"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6563" name="Rectangle 2"/>
          <p:cNvSpPr>
            <a:spLocks noGrp="1"/>
          </p:cNvSpPr>
          <p:nvPr>
            <p:ph idx="1"/>
          </p:nvPr>
        </p:nvSpPr>
        <p:spPr>
          <a:xfrm>
            <a:off x="234950" y="1187450"/>
            <a:ext cx="8721725" cy="4306888"/>
          </a:xfrm>
          <a:ln/>
        </p:spPr>
        <p:txBody>
          <a:bodyPr vert="horz" wrap="square" lIns="91440" tIns="45720" rIns="91440" bIns="45720" anchor="t" anchorCtr="0"/>
          <a:p>
            <a:pPr eaLnBrk="1" hangingPunct="1">
              <a:lnSpc>
                <a:spcPct val="130000"/>
              </a:lnSpc>
              <a:buNone/>
            </a:pPr>
            <a:r>
              <a:rPr lang="zh-CN" altLang="en-US" dirty="0"/>
              <a:t>一、问题的提出</a:t>
            </a:r>
            <a:endParaRPr lang="zh-CN" altLang="en-US" dirty="0"/>
          </a:p>
          <a:p>
            <a:pPr eaLnBrk="1" hangingPunct="1">
              <a:lnSpc>
                <a:spcPct val="130000"/>
              </a:lnSpc>
              <a:buNone/>
            </a:pPr>
            <a:r>
              <a:rPr lang="zh-CN" altLang="en-US" dirty="0">
                <a:solidFill>
                  <a:schemeClr val="tx1"/>
                </a:solidFill>
              </a:rPr>
              <a:t>二、检查点技术</a:t>
            </a:r>
            <a:endParaRPr lang="zh-CN" altLang="en-US" dirty="0">
              <a:solidFill>
                <a:schemeClr val="tx1"/>
              </a:solidFill>
            </a:endParaRPr>
          </a:p>
          <a:p>
            <a:pPr eaLnBrk="1" hangingPunct="1">
              <a:lnSpc>
                <a:spcPct val="130000"/>
              </a:lnSpc>
              <a:buNone/>
            </a:pPr>
            <a:r>
              <a:rPr lang="zh-CN" altLang="en-US" dirty="0">
                <a:solidFill>
                  <a:schemeClr val="tx1"/>
                </a:solidFill>
              </a:rPr>
              <a:t>三、利用检查点的恢复策略</a:t>
            </a:r>
            <a:endParaRPr lang="zh-CN" altLang="en-US" dirty="0">
              <a:solidFill>
                <a:schemeClr val="tx1"/>
              </a:solidFill>
            </a:endParaRPr>
          </a:p>
        </p:txBody>
      </p:sp>
      <p:sp>
        <p:nvSpPr>
          <p:cNvPr id="6656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7587" name="Rectangle 2"/>
          <p:cNvSpPr>
            <a:spLocks noGrp="1"/>
          </p:cNvSpPr>
          <p:nvPr>
            <p:ph idx="1"/>
          </p:nvPr>
        </p:nvSpPr>
        <p:spPr>
          <a:xfrm>
            <a:off x="209550" y="800100"/>
            <a:ext cx="8721725" cy="5495925"/>
          </a:xfrm>
          <a:ln/>
        </p:spPr>
        <p:txBody>
          <a:bodyPr vert="horz" wrap="square" lIns="91440" tIns="45720" rIns="91440" bIns="45720" anchor="t" anchorCtr="0"/>
          <a:p>
            <a:pPr eaLnBrk="1" hangingPunct="1">
              <a:lnSpc>
                <a:spcPct val="130000"/>
              </a:lnSpc>
              <a:buNone/>
            </a:pPr>
            <a:r>
              <a:rPr lang="zh-CN" altLang="en-US" sz="2800" dirty="0"/>
              <a:t>一、问题的提出</a:t>
            </a:r>
            <a:endParaRPr lang="zh-CN" altLang="en-US" sz="2800" dirty="0"/>
          </a:p>
          <a:p>
            <a:pPr eaLnBrk="1" hangingPunct="1"/>
            <a:r>
              <a:rPr lang="zh-CN" altLang="en-US" sz="2800" dirty="0"/>
              <a:t>两个问题</a:t>
            </a:r>
            <a:endParaRPr lang="zh-CN" altLang="en-US" sz="2800" dirty="0"/>
          </a:p>
          <a:p>
            <a:pPr lvl="1" eaLnBrk="1" hangingPunct="1"/>
            <a:r>
              <a:rPr lang="zh-CN" altLang="en-US" dirty="0"/>
              <a:t>搜索整个日志将耗费大量的时间</a:t>
            </a:r>
            <a:endParaRPr lang="zh-CN" altLang="en-US" dirty="0"/>
          </a:p>
          <a:p>
            <a:pPr lvl="1" eaLnBrk="1" hangingPunct="1"/>
            <a:r>
              <a:rPr lang="en-US" altLang="zh-CN" dirty="0"/>
              <a:t>REDO</a:t>
            </a:r>
            <a:r>
              <a:rPr lang="zh-CN" altLang="en-US" dirty="0"/>
              <a:t>处理：重新执行，浪费了大量时间</a:t>
            </a:r>
            <a:endParaRPr lang="zh-CN" altLang="en-US" dirty="0"/>
          </a:p>
          <a:p>
            <a:pPr eaLnBrk="1" hangingPunct="1">
              <a:lnSpc>
                <a:spcPct val="120000"/>
              </a:lnSpc>
            </a:pPr>
            <a:r>
              <a:rPr lang="zh-CN" altLang="en-US" sz="2800" dirty="0"/>
              <a:t>具有检查点（</a:t>
            </a:r>
            <a:r>
              <a:rPr lang="en-US" altLang="zh-CN" sz="2800" dirty="0"/>
              <a:t>checkpoint</a:t>
            </a:r>
            <a:r>
              <a:rPr lang="zh-CN" altLang="en-US" sz="2800" dirty="0"/>
              <a:t>）的恢复技术</a:t>
            </a:r>
            <a:endParaRPr lang="zh-CN" altLang="en-US" sz="2400" dirty="0"/>
          </a:p>
          <a:p>
            <a:pPr lvl="1" eaLnBrk="1" hangingPunct="1">
              <a:lnSpc>
                <a:spcPct val="120000"/>
              </a:lnSpc>
              <a:spcBef>
                <a:spcPct val="30000"/>
              </a:spcBef>
            </a:pPr>
            <a:r>
              <a:rPr lang="zh-CN" altLang="en-US" dirty="0"/>
              <a:t>在日志文件中增加检查点记录</a:t>
            </a:r>
            <a:r>
              <a:rPr lang="zh-CN" altLang="en-US" sz="2400" dirty="0"/>
              <a:t>（</a:t>
            </a:r>
            <a:r>
              <a:rPr lang="en-US" altLang="zh-CN" sz="2400" dirty="0"/>
              <a:t>checkpoint</a:t>
            </a:r>
            <a:r>
              <a:rPr lang="zh-CN" altLang="en-US" sz="2400" dirty="0"/>
              <a:t>）</a:t>
            </a:r>
            <a:endParaRPr lang="zh-CN" altLang="en-US" dirty="0"/>
          </a:p>
          <a:p>
            <a:pPr lvl="1" eaLnBrk="1" hangingPunct="1">
              <a:lnSpc>
                <a:spcPct val="120000"/>
              </a:lnSpc>
              <a:spcBef>
                <a:spcPct val="30000"/>
              </a:spcBef>
            </a:pPr>
            <a:r>
              <a:rPr lang="zh-CN" altLang="en-US" dirty="0"/>
              <a:t>增加重新开始文件</a:t>
            </a:r>
            <a:endParaRPr lang="zh-CN" altLang="en-US" dirty="0"/>
          </a:p>
          <a:p>
            <a:pPr lvl="1" eaLnBrk="1" hangingPunct="1">
              <a:lnSpc>
                <a:spcPct val="120000"/>
              </a:lnSpc>
              <a:spcBef>
                <a:spcPct val="30000"/>
              </a:spcBef>
            </a:pPr>
            <a:r>
              <a:rPr lang="zh-CN" altLang="en-US" dirty="0"/>
              <a:t>恢复子系统在登录日志文件期间动态地维护日志</a:t>
            </a:r>
            <a:endParaRPr lang="zh-CN" altLang="en-US" dirty="0"/>
          </a:p>
          <a:p>
            <a:pPr lvl="1" eaLnBrk="1" hangingPunct="1"/>
            <a:endParaRPr lang="zh-CN" altLang="en-US" dirty="0"/>
          </a:p>
        </p:txBody>
      </p:sp>
      <p:sp>
        <p:nvSpPr>
          <p:cNvPr id="67588"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861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pic>
        <p:nvPicPr>
          <p:cNvPr id="68612" name="Picture 3" descr="73"/>
          <p:cNvPicPr>
            <a:picLocks noChangeAspect="1"/>
          </p:cNvPicPr>
          <p:nvPr/>
        </p:nvPicPr>
        <p:blipFill>
          <a:blip r:embed="rId1">
            <a:clrChange>
              <a:clrFrom>
                <a:srgbClr val="FFFFFF"/>
              </a:clrFrom>
              <a:clrTo>
                <a:srgbClr val="FFFFFF">
                  <a:alpha val="0"/>
                </a:srgbClr>
              </a:clrTo>
            </a:clrChange>
          </a:blip>
          <a:stretch>
            <a:fillRect/>
          </a:stretch>
        </p:blipFill>
        <p:spPr>
          <a:xfrm>
            <a:off x="825500" y="1200150"/>
            <a:ext cx="7127875" cy="4667250"/>
          </a:xfrm>
          <a:prstGeom prst="rect">
            <a:avLst/>
          </a:prstGeom>
          <a:noFill/>
          <a:ln w="9525">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69635" name="Rectangle 2"/>
          <p:cNvSpPr>
            <a:spLocks noGrp="1"/>
          </p:cNvSpPr>
          <p:nvPr>
            <p:ph idx="1"/>
          </p:nvPr>
        </p:nvSpPr>
        <p:spPr>
          <a:xfrm>
            <a:off x="209550" y="800100"/>
            <a:ext cx="8721725" cy="5495925"/>
          </a:xfrm>
          <a:ln/>
        </p:spPr>
        <p:txBody>
          <a:bodyPr vert="horz" wrap="square" lIns="91440" tIns="45720" rIns="91440" bIns="45720" anchor="t" anchorCtr="0"/>
          <a:p>
            <a:pPr eaLnBrk="1" hangingPunct="1">
              <a:lnSpc>
                <a:spcPct val="130000"/>
              </a:lnSpc>
              <a:buNone/>
            </a:pPr>
            <a:r>
              <a:rPr lang="zh-CN" altLang="en-US" dirty="0"/>
              <a:t>二、检查点技术</a:t>
            </a:r>
            <a:endParaRPr lang="zh-CN" altLang="en-US" dirty="0"/>
          </a:p>
          <a:p>
            <a:pPr eaLnBrk="1" hangingPunct="1"/>
            <a:r>
              <a:rPr lang="zh-CN" altLang="en-US" dirty="0"/>
              <a:t>检查点记录的内容</a:t>
            </a:r>
            <a:endParaRPr lang="zh-CN" altLang="en-US" sz="2800" dirty="0"/>
          </a:p>
          <a:p>
            <a:pPr lvl="1" eaLnBrk="1" hangingPunct="1"/>
            <a:r>
              <a:rPr lang="en-US" altLang="zh-CN" dirty="0"/>
              <a:t>1. </a:t>
            </a:r>
            <a:r>
              <a:rPr lang="zh-CN" altLang="en-US" dirty="0"/>
              <a:t>建立检查点时刻所有正在执行的事务清单</a:t>
            </a:r>
            <a:endParaRPr lang="zh-CN" altLang="en-US" dirty="0"/>
          </a:p>
          <a:p>
            <a:pPr lvl="1" eaLnBrk="1" hangingPunct="1"/>
            <a:r>
              <a:rPr lang="en-US" altLang="zh-CN" dirty="0"/>
              <a:t>2. </a:t>
            </a:r>
            <a:r>
              <a:rPr lang="zh-CN" altLang="en-US" dirty="0"/>
              <a:t>这些事务最近一个日志记录的地址</a:t>
            </a:r>
            <a:endParaRPr lang="zh-CN" altLang="en-US" dirty="0"/>
          </a:p>
          <a:p>
            <a:pPr lvl="1" eaLnBrk="1" hangingPunct="1"/>
            <a:endParaRPr lang="zh-CN" altLang="en-US" dirty="0"/>
          </a:p>
          <a:p>
            <a:pPr eaLnBrk="1" hangingPunct="1"/>
            <a:r>
              <a:rPr lang="zh-CN" altLang="en-US" dirty="0"/>
              <a:t>重新开始文件的内容</a:t>
            </a:r>
            <a:endParaRPr lang="zh-CN" altLang="en-US" sz="2800" dirty="0"/>
          </a:p>
          <a:p>
            <a:pPr lvl="1" eaLnBrk="1" hangingPunct="1"/>
            <a:r>
              <a:rPr lang="zh-CN" altLang="en-US" dirty="0"/>
              <a:t>记录各个检查点记录在日志文件中的地址</a:t>
            </a:r>
            <a:endParaRPr lang="zh-CN" altLang="en-US" dirty="0"/>
          </a:p>
        </p:txBody>
      </p:sp>
      <p:sp>
        <p:nvSpPr>
          <p:cNvPr id="6963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0659" name="Rectangle 2"/>
          <p:cNvSpPr>
            <a:spLocks noGrp="1"/>
          </p:cNvSpPr>
          <p:nvPr>
            <p:ph idx="1"/>
          </p:nvPr>
        </p:nvSpPr>
        <p:spPr>
          <a:xfrm>
            <a:off x="209550" y="800100"/>
            <a:ext cx="8721725" cy="5157788"/>
          </a:xfrm>
          <a:ln/>
        </p:spPr>
        <p:txBody>
          <a:bodyPr vert="horz" wrap="square" lIns="91440" tIns="45720" rIns="91440" bIns="45720" anchor="t" anchorCtr="0"/>
          <a:p>
            <a:pPr eaLnBrk="1" hangingPunct="1"/>
            <a:r>
              <a:rPr lang="zh-CN" altLang="en-US" dirty="0"/>
              <a:t>在检查点如何维护日志文件</a:t>
            </a:r>
            <a:endParaRPr lang="zh-CN" altLang="en-US" sz="2800" dirty="0"/>
          </a:p>
          <a:p>
            <a:pPr eaLnBrk="1" hangingPunct="1">
              <a:lnSpc>
                <a:spcPct val="90000"/>
              </a:lnSpc>
              <a:buNone/>
            </a:pPr>
            <a:r>
              <a:rPr lang="en-US" altLang="zh-CN" sz="2800" dirty="0">
                <a:solidFill>
                  <a:schemeClr val="tx1"/>
                </a:solidFill>
              </a:rPr>
              <a:t>1.	</a:t>
            </a:r>
            <a:r>
              <a:rPr lang="zh-CN" altLang="en-US" sz="2800" dirty="0">
                <a:solidFill>
                  <a:schemeClr val="tx1"/>
                </a:solidFill>
              </a:rPr>
              <a:t>将当前日志缓冲区中的所有日志记录写入磁盘的日志文件上。</a:t>
            </a:r>
            <a:endParaRPr lang="zh-CN" altLang="en-US" sz="2800" dirty="0">
              <a:solidFill>
                <a:schemeClr val="tx1"/>
              </a:solidFill>
            </a:endParaRPr>
          </a:p>
          <a:p>
            <a:pPr eaLnBrk="1" hangingPunct="1">
              <a:lnSpc>
                <a:spcPct val="90000"/>
              </a:lnSpc>
              <a:spcBef>
                <a:spcPct val="40000"/>
              </a:spcBef>
              <a:buNone/>
            </a:pPr>
            <a:r>
              <a:rPr lang="en-US" altLang="zh-CN" sz="2800" dirty="0">
                <a:solidFill>
                  <a:schemeClr val="tx1"/>
                </a:solidFill>
              </a:rPr>
              <a:t>2.	</a:t>
            </a:r>
            <a:r>
              <a:rPr lang="zh-CN" altLang="en-US" sz="2800" dirty="0">
                <a:solidFill>
                  <a:schemeClr val="tx1"/>
                </a:solidFill>
              </a:rPr>
              <a:t>在日志文件中写入一个检查点记录。</a:t>
            </a:r>
            <a:endParaRPr lang="zh-CN" altLang="en-US" sz="2800" dirty="0">
              <a:solidFill>
                <a:schemeClr val="tx1"/>
              </a:solidFill>
            </a:endParaRPr>
          </a:p>
          <a:p>
            <a:pPr eaLnBrk="1" hangingPunct="1">
              <a:lnSpc>
                <a:spcPct val="90000"/>
              </a:lnSpc>
              <a:spcBef>
                <a:spcPct val="40000"/>
              </a:spcBef>
              <a:buNone/>
            </a:pPr>
            <a:r>
              <a:rPr lang="en-US" altLang="zh-CN" sz="2800" dirty="0">
                <a:solidFill>
                  <a:schemeClr val="tx1"/>
                </a:solidFill>
              </a:rPr>
              <a:t>3. </a:t>
            </a:r>
            <a:r>
              <a:rPr lang="zh-CN" altLang="en-US" sz="2800" dirty="0">
                <a:solidFill>
                  <a:schemeClr val="tx1"/>
                </a:solidFill>
              </a:rPr>
              <a:t>将当前数据缓冲区的所有数据记录写入磁盘的数据库中。</a:t>
            </a:r>
            <a:endParaRPr lang="zh-CN" altLang="en-US" sz="2800" dirty="0">
              <a:solidFill>
                <a:schemeClr val="tx1"/>
              </a:solidFill>
            </a:endParaRPr>
          </a:p>
          <a:p>
            <a:pPr eaLnBrk="1" hangingPunct="1">
              <a:lnSpc>
                <a:spcPct val="90000"/>
              </a:lnSpc>
              <a:spcBef>
                <a:spcPct val="40000"/>
              </a:spcBef>
              <a:buNone/>
            </a:pPr>
            <a:r>
              <a:rPr lang="en-US" altLang="zh-CN" sz="2800" dirty="0">
                <a:solidFill>
                  <a:schemeClr val="tx1"/>
                </a:solidFill>
              </a:rPr>
              <a:t>4. </a:t>
            </a:r>
            <a:r>
              <a:rPr lang="zh-CN" altLang="en-US" sz="2800" dirty="0">
                <a:solidFill>
                  <a:schemeClr val="tx1"/>
                </a:solidFill>
              </a:rPr>
              <a:t>把检查点记录在日志文件中的地址写入一个重新开始文件。</a:t>
            </a:r>
            <a:endParaRPr lang="zh-CN" altLang="en-US" sz="2800" dirty="0">
              <a:solidFill>
                <a:schemeClr val="tx1"/>
              </a:solidFill>
            </a:endParaRPr>
          </a:p>
          <a:p>
            <a:pPr lvl="1" eaLnBrk="1" hangingPunct="1">
              <a:lnSpc>
                <a:spcPct val="90000"/>
              </a:lnSpc>
              <a:spcBef>
                <a:spcPct val="40000"/>
              </a:spcBef>
              <a:buNone/>
            </a:pPr>
            <a:endParaRPr lang="zh-CN" altLang="en-US" dirty="0"/>
          </a:p>
        </p:txBody>
      </p:sp>
      <p:sp>
        <p:nvSpPr>
          <p:cNvPr id="70660"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1683" name="Rectangle 2"/>
          <p:cNvSpPr>
            <a:spLocks noGrp="1"/>
          </p:cNvSpPr>
          <p:nvPr>
            <p:ph idx="1"/>
          </p:nvPr>
        </p:nvSpPr>
        <p:spPr>
          <a:xfrm>
            <a:off x="209550" y="800100"/>
            <a:ext cx="8721725" cy="5495925"/>
          </a:xfrm>
          <a:ln/>
        </p:spPr>
        <p:txBody>
          <a:bodyPr vert="horz" wrap="square" lIns="91440" tIns="45720" rIns="91440" bIns="45720" anchor="t" anchorCtr="0"/>
          <a:p>
            <a:pPr eaLnBrk="1" hangingPunct="1">
              <a:lnSpc>
                <a:spcPct val="130000"/>
              </a:lnSpc>
              <a:buNone/>
            </a:pPr>
            <a:r>
              <a:rPr lang="zh-CN" altLang="en-US" dirty="0"/>
              <a:t>三、利用检查点的恢复技术</a:t>
            </a:r>
            <a:endParaRPr lang="zh-CN" altLang="en-US" dirty="0"/>
          </a:p>
          <a:p>
            <a:pPr eaLnBrk="1" hangingPunct="1">
              <a:lnSpc>
                <a:spcPct val="105000"/>
              </a:lnSpc>
              <a:spcBef>
                <a:spcPct val="60000"/>
              </a:spcBef>
            </a:pPr>
            <a:r>
              <a:rPr lang="zh-CN" altLang="en-US" dirty="0">
                <a:solidFill>
                  <a:schemeClr val="tx1"/>
                </a:solidFill>
              </a:rPr>
              <a:t>当事务</a:t>
            </a:r>
            <a:r>
              <a:rPr lang="en-US" altLang="zh-CN" dirty="0">
                <a:solidFill>
                  <a:schemeClr val="tx1"/>
                </a:solidFill>
              </a:rPr>
              <a:t>T</a:t>
            </a:r>
            <a:r>
              <a:rPr lang="zh-CN" altLang="en-US" dirty="0">
                <a:solidFill>
                  <a:schemeClr val="tx1"/>
                </a:solidFill>
              </a:rPr>
              <a:t>在一个检查点之前提交</a:t>
            </a:r>
            <a:endParaRPr lang="zh-CN" altLang="en-US" dirty="0">
              <a:solidFill>
                <a:schemeClr val="tx1"/>
              </a:solidFill>
            </a:endParaRPr>
          </a:p>
          <a:p>
            <a:pPr eaLnBrk="1" hangingPunct="1">
              <a:lnSpc>
                <a:spcPct val="105000"/>
              </a:lnSpc>
              <a:spcBef>
                <a:spcPct val="60000"/>
              </a:spcBef>
              <a:buNone/>
            </a:pPr>
            <a:r>
              <a:rPr lang="zh-CN" altLang="en-US" dirty="0">
                <a:solidFill>
                  <a:schemeClr val="tx1"/>
                </a:solidFill>
              </a:rPr>
              <a:t>   </a:t>
            </a:r>
            <a:r>
              <a:rPr lang="en-US" altLang="zh-CN" dirty="0">
                <a:solidFill>
                  <a:schemeClr val="tx1"/>
                </a:solidFill>
              </a:rPr>
              <a:t>T</a:t>
            </a:r>
            <a:r>
              <a:rPr lang="zh-CN" altLang="en-US" dirty="0">
                <a:solidFill>
                  <a:schemeClr val="tx1"/>
                </a:solidFill>
              </a:rPr>
              <a:t>对数据库所做的修改已写入数据库</a:t>
            </a:r>
            <a:endParaRPr lang="zh-CN" altLang="en-US" dirty="0">
              <a:solidFill>
                <a:schemeClr val="tx1"/>
              </a:solidFill>
            </a:endParaRPr>
          </a:p>
          <a:p>
            <a:pPr eaLnBrk="1" hangingPunct="1">
              <a:lnSpc>
                <a:spcPct val="105000"/>
              </a:lnSpc>
              <a:spcBef>
                <a:spcPct val="60000"/>
              </a:spcBef>
            </a:pPr>
            <a:r>
              <a:rPr lang="zh-CN" altLang="en-US" dirty="0">
                <a:solidFill>
                  <a:schemeClr val="tx1"/>
                </a:solidFill>
              </a:rPr>
              <a:t>在进行恢复处理时，没有必要对事务</a:t>
            </a:r>
            <a:r>
              <a:rPr lang="en-US" altLang="zh-CN" dirty="0">
                <a:solidFill>
                  <a:schemeClr val="tx1"/>
                </a:solidFill>
              </a:rPr>
              <a:t>T</a:t>
            </a:r>
            <a:r>
              <a:rPr lang="zh-CN" altLang="en-US" dirty="0">
                <a:solidFill>
                  <a:schemeClr val="tx1"/>
                </a:solidFill>
              </a:rPr>
              <a:t>执行</a:t>
            </a:r>
            <a:r>
              <a:rPr lang="en-US" altLang="zh-CN" dirty="0">
                <a:solidFill>
                  <a:schemeClr val="tx1"/>
                </a:solidFill>
              </a:rPr>
              <a:t>REDO</a:t>
            </a:r>
            <a:r>
              <a:rPr lang="zh-CN" altLang="en-US" dirty="0">
                <a:solidFill>
                  <a:schemeClr val="tx1"/>
                </a:solidFill>
              </a:rPr>
              <a:t>操作</a:t>
            </a:r>
            <a:endParaRPr lang="zh-CN" altLang="en-US" dirty="0">
              <a:solidFill>
                <a:schemeClr val="tx1"/>
              </a:solidFill>
            </a:endParaRPr>
          </a:p>
        </p:txBody>
      </p:sp>
      <p:sp>
        <p:nvSpPr>
          <p:cNvPr id="71684"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270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grpSp>
        <p:nvGrpSpPr>
          <p:cNvPr id="72708" name="Group 3"/>
          <p:cNvGrpSpPr/>
          <p:nvPr/>
        </p:nvGrpSpPr>
        <p:grpSpPr>
          <a:xfrm>
            <a:off x="1298575" y="1341438"/>
            <a:ext cx="7485063" cy="4379912"/>
            <a:chOff x="818" y="845"/>
            <a:chExt cx="4715" cy="2759"/>
          </a:xfrm>
        </p:grpSpPr>
        <p:sp>
          <p:nvSpPr>
            <p:cNvPr id="72709" name="Freeform 4"/>
            <p:cNvSpPr/>
            <p:nvPr/>
          </p:nvSpPr>
          <p:spPr>
            <a:xfrm>
              <a:off x="1931" y="1227"/>
              <a:ext cx="1" cy="2278"/>
            </a:xfrm>
            <a:custGeom>
              <a:avLst/>
              <a:gdLst/>
              <a:ahLst/>
              <a:cxnLst>
                <a:cxn ang="0">
                  <a:pos x="0" y="0"/>
                </a:cxn>
                <a:cxn ang="0">
                  <a:pos x="0" y="1307"/>
                </a:cxn>
              </a:cxnLst>
              <a:pathLst>
                <a:path w="3" h="2423">
                  <a:moveTo>
                    <a:pt x="0" y="0"/>
                  </a:moveTo>
                  <a:lnTo>
                    <a:pt x="3" y="2423"/>
                  </a:lnTo>
                </a:path>
              </a:pathLst>
            </a:custGeom>
            <a:noFill/>
            <a:ln w="28575" cap="flat" cmpd="sng">
              <a:solidFill>
                <a:srgbClr val="FF3300">
                  <a:alpha val="100000"/>
                </a:srgbClr>
              </a:solidFill>
              <a:prstDash val="solid"/>
              <a:round/>
              <a:headEnd type="none" w="med" len="med"/>
              <a:tailEnd type="none" w="med" len="med"/>
            </a:ln>
          </p:spPr>
          <p:txBody>
            <a:bodyPr/>
            <a:p>
              <a:endParaRPr lang="en-US"/>
            </a:p>
          </p:txBody>
        </p:sp>
        <p:sp>
          <p:nvSpPr>
            <p:cNvPr id="72710" name="Freeform 5"/>
            <p:cNvSpPr/>
            <p:nvPr/>
          </p:nvSpPr>
          <p:spPr>
            <a:xfrm>
              <a:off x="3957" y="1240"/>
              <a:ext cx="0" cy="2280"/>
            </a:xfrm>
            <a:custGeom>
              <a:avLst/>
              <a:gdLst/>
              <a:ahLst/>
              <a:cxnLst>
                <a:cxn ang="0">
                  <a:pos x="0" y="0"/>
                </a:cxn>
                <a:cxn ang="0">
                  <a:pos x="1" y="1319"/>
                </a:cxn>
              </a:cxnLst>
              <a:pathLst>
                <a:path w="1" h="2423">
                  <a:moveTo>
                    <a:pt x="0" y="0"/>
                  </a:moveTo>
                  <a:lnTo>
                    <a:pt x="1" y="2423"/>
                  </a:lnTo>
                </a:path>
              </a:pathLst>
            </a:custGeom>
            <a:noFill/>
            <a:ln w="28575" cap="flat" cmpd="sng">
              <a:solidFill>
                <a:srgbClr val="FF3300">
                  <a:alpha val="100000"/>
                </a:srgbClr>
              </a:solidFill>
              <a:prstDash val="solid"/>
              <a:round/>
              <a:headEnd type="none" w="med" len="med"/>
              <a:tailEnd type="none" w="med" len="med"/>
            </a:ln>
          </p:spPr>
          <p:txBody>
            <a:bodyPr/>
            <a:p>
              <a:endParaRPr lang="en-US"/>
            </a:p>
          </p:txBody>
        </p:sp>
        <p:sp>
          <p:nvSpPr>
            <p:cNvPr id="72711" name="Freeform 6"/>
            <p:cNvSpPr/>
            <p:nvPr/>
          </p:nvSpPr>
          <p:spPr>
            <a:xfrm>
              <a:off x="947" y="2197"/>
              <a:ext cx="1260" cy="1"/>
            </a:xfrm>
            <a:custGeom>
              <a:avLst/>
              <a:gdLst/>
              <a:ahLst/>
              <a:cxnLst>
                <a:cxn ang="0">
                  <a:pos x="0" y="0"/>
                </a:cxn>
                <a:cxn ang="0">
                  <a:pos x="2344" y="0"/>
                </a:cxn>
              </a:cxnLst>
              <a:pathLst>
                <a:path w="1176" h="1">
                  <a:moveTo>
                    <a:pt x="0" y="0"/>
                  </a:moveTo>
                  <a:lnTo>
                    <a:pt x="1176" y="0"/>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12" name="Freeform 7"/>
            <p:cNvSpPr/>
            <p:nvPr/>
          </p:nvSpPr>
          <p:spPr>
            <a:xfrm>
              <a:off x="951" y="2082"/>
              <a:ext cx="1" cy="98"/>
            </a:xfrm>
            <a:custGeom>
              <a:avLst/>
              <a:gdLst/>
              <a:ahLst/>
              <a:cxnLst>
                <a:cxn ang="0">
                  <a:pos x="0" y="0"/>
                </a:cxn>
                <a:cxn ang="0">
                  <a:pos x="0" y="52"/>
                </a:cxn>
              </a:cxnLst>
              <a:pathLst>
                <a:path w="4" h="105">
                  <a:moveTo>
                    <a:pt x="4" y="0"/>
                  </a:moveTo>
                  <a:lnTo>
                    <a:pt x="0" y="105"/>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13" name="Freeform 8"/>
            <p:cNvSpPr/>
            <p:nvPr/>
          </p:nvSpPr>
          <p:spPr>
            <a:xfrm>
              <a:off x="2194" y="2052"/>
              <a:ext cx="1" cy="145"/>
            </a:xfrm>
            <a:custGeom>
              <a:avLst/>
              <a:gdLst/>
              <a:ahLst/>
              <a:cxnLst>
                <a:cxn ang="0">
                  <a:pos x="0" y="0"/>
                </a:cxn>
                <a:cxn ang="0">
                  <a:pos x="0" y="794"/>
                </a:cxn>
              </a:cxnLst>
              <a:pathLst>
                <a:path w="1" h="120">
                  <a:moveTo>
                    <a:pt x="0" y="0"/>
                  </a:moveTo>
                  <a:lnTo>
                    <a:pt x="0" y="120"/>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14" name="Line 9"/>
            <p:cNvSpPr/>
            <p:nvPr/>
          </p:nvSpPr>
          <p:spPr>
            <a:xfrm>
              <a:off x="1332" y="2566"/>
              <a:ext cx="2622" cy="0"/>
            </a:xfrm>
            <a:prstGeom prst="line">
              <a:avLst/>
            </a:prstGeom>
            <a:ln w="28575" cap="flat" cmpd="sng">
              <a:solidFill>
                <a:srgbClr val="000000"/>
              </a:solidFill>
              <a:prstDash val="solid"/>
              <a:headEnd type="none" w="med" len="med"/>
              <a:tailEnd type="none" w="med" len="med"/>
            </a:ln>
          </p:spPr>
        </p:sp>
        <p:sp>
          <p:nvSpPr>
            <p:cNvPr id="72715" name="Line 10"/>
            <p:cNvSpPr/>
            <p:nvPr/>
          </p:nvSpPr>
          <p:spPr>
            <a:xfrm>
              <a:off x="3954" y="2566"/>
              <a:ext cx="579" cy="0"/>
            </a:xfrm>
            <a:prstGeom prst="line">
              <a:avLst/>
            </a:prstGeom>
            <a:ln w="28575" cap="flat" cmpd="sng">
              <a:solidFill>
                <a:srgbClr val="000000"/>
              </a:solidFill>
              <a:prstDash val="dash"/>
              <a:headEnd type="none" w="med" len="med"/>
              <a:tailEnd type="none" w="med" len="med"/>
            </a:ln>
          </p:spPr>
        </p:sp>
        <p:sp>
          <p:nvSpPr>
            <p:cNvPr id="72716" name="Freeform 11"/>
            <p:cNvSpPr/>
            <p:nvPr/>
          </p:nvSpPr>
          <p:spPr>
            <a:xfrm>
              <a:off x="4533" y="2461"/>
              <a:ext cx="1" cy="104"/>
            </a:xfrm>
            <a:custGeom>
              <a:avLst/>
              <a:gdLst/>
              <a:ahLst/>
              <a:cxnLst>
                <a:cxn ang="0">
                  <a:pos x="0" y="0"/>
                </a:cxn>
                <a:cxn ang="0">
                  <a:pos x="0" y="58"/>
                </a:cxn>
              </a:cxnLst>
              <a:pathLst>
                <a:path w="1" h="111">
                  <a:moveTo>
                    <a:pt x="0" y="0"/>
                  </a:moveTo>
                  <a:lnTo>
                    <a:pt x="0" y="111"/>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17" name="Line 12"/>
            <p:cNvSpPr/>
            <p:nvPr/>
          </p:nvSpPr>
          <p:spPr>
            <a:xfrm>
              <a:off x="1334" y="2456"/>
              <a:ext cx="0" cy="114"/>
            </a:xfrm>
            <a:prstGeom prst="line">
              <a:avLst/>
            </a:prstGeom>
            <a:ln w="28575" cap="flat" cmpd="sng">
              <a:solidFill>
                <a:srgbClr val="000000"/>
              </a:solidFill>
              <a:prstDash val="solid"/>
              <a:headEnd type="none" w="med" len="med"/>
              <a:tailEnd type="none" w="med" len="med"/>
            </a:ln>
          </p:spPr>
        </p:sp>
        <p:sp>
          <p:nvSpPr>
            <p:cNvPr id="72718" name="Freeform 13"/>
            <p:cNvSpPr/>
            <p:nvPr/>
          </p:nvSpPr>
          <p:spPr>
            <a:xfrm>
              <a:off x="2047" y="2971"/>
              <a:ext cx="1109" cy="5"/>
            </a:xfrm>
            <a:custGeom>
              <a:avLst/>
              <a:gdLst/>
              <a:ahLst/>
              <a:cxnLst>
                <a:cxn ang="0">
                  <a:pos x="0" y="5"/>
                </a:cxn>
                <a:cxn ang="0">
                  <a:pos x="91" y="0"/>
                </a:cxn>
              </a:cxnLst>
              <a:pathLst>
                <a:path w="1465" h="5">
                  <a:moveTo>
                    <a:pt x="0" y="5"/>
                  </a:moveTo>
                  <a:lnTo>
                    <a:pt x="1465" y="0"/>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19" name="Freeform 14"/>
            <p:cNvSpPr/>
            <p:nvPr/>
          </p:nvSpPr>
          <p:spPr>
            <a:xfrm>
              <a:off x="2039" y="2868"/>
              <a:ext cx="2" cy="108"/>
            </a:xfrm>
            <a:custGeom>
              <a:avLst/>
              <a:gdLst/>
              <a:ahLst/>
              <a:cxnLst>
                <a:cxn ang="0">
                  <a:pos x="1" y="0"/>
                </a:cxn>
                <a:cxn ang="0">
                  <a:pos x="0" y="61"/>
                </a:cxn>
              </a:cxnLst>
              <a:pathLst>
                <a:path w="4" h="115">
                  <a:moveTo>
                    <a:pt x="4" y="0"/>
                  </a:moveTo>
                  <a:lnTo>
                    <a:pt x="0" y="115"/>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20" name="Freeform 15"/>
            <p:cNvSpPr/>
            <p:nvPr/>
          </p:nvSpPr>
          <p:spPr>
            <a:xfrm>
              <a:off x="3160" y="2886"/>
              <a:ext cx="1" cy="90"/>
            </a:xfrm>
            <a:custGeom>
              <a:avLst/>
              <a:gdLst/>
              <a:ahLst/>
              <a:cxnLst>
                <a:cxn ang="0">
                  <a:pos x="0" y="0"/>
                </a:cxn>
                <a:cxn ang="0">
                  <a:pos x="1" y="56"/>
                </a:cxn>
              </a:cxnLst>
              <a:pathLst>
                <a:path w="1" h="95">
                  <a:moveTo>
                    <a:pt x="0" y="0"/>
                  </a:moveTo>
                  <a:lnTo>
                    <a:pt x="1" y="95"/>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21" name="Line 16"/>
            <p:cNvSpPr/>
            <p:nvPr/>
          </p:nvSpPr>
          <p:spPr>
            <a:xfrm>
              <a:off x="2515" y="3404"/>
              <a:ext cx="1492" cy="0"/>
            </a:xfrm>
            <a:prstGeom prst="line">
              <a:avLst/>
            </a:prstGeom>
            <a:ln w="28575" cap="flat" cmpd="sng">
              <a:solidFill>
                <a:srgbClr val="000000"/>
              </a:solidFill>
              <a:prstDash val="solid"/>
              <a:headEnd type="none" w="med" len="med"/>
              <a:tailEnd type="none" w="med" len="med"/>
            </a:ln>
          </p:spPr>
        </p:sp>
        <p:sp>
          <p:nvSpPr>
            <p:cNvPr id="72722" name="Line 17"/>
            <p:cNvSpPr/>
            <p:nvPr/>
          </p:nvSpPr>
          <p:spPr>
            <a:xfrm>
              <a:off x="2515" y="3291"/>
              <a:ext cx="0" cy="113"/>
            </a:xfrm>
            <a:prstGeom prst="line">
              <a:avLst/>
            </a:prstGeom>
            <a:ln w="28575" cap="flat" cmpd="sng">
              <a:solidFill>
                <a:srgbClr val="000000"/>
              </a:solidFill>
              <a:prstDash val="solid"/>
              <a:headEnd type="none" w="med" len="med"/>
              <a:tailEnd type="none" w="med" len="med"/>
            </a:ln>
          </p:spPr>
        </p:sp>
        <p:sp>
          <p:nvSpPr>
            <p:cNvPr id="72723" name="Freeform 18"/>
            <p:cNvSpPr/>
            <p:nvPr/>
          </p:nvSpPr>
          <p:spPr>
            <a:xfrm>
              <a:off x="4313" y="3309"/>
              <a:ext cx="0" cy="91"/>
            </a:xfrm>
            <a:custGeom>
              <a:avLst/>
              <a:gdLst/>
              <a:ahLst/>
              <a:cxnLst>
                <a:cxn ang="0">
                  <a:pos x="0" y="0"/>
                </a:cxn>
                <a:cxn ang="0">
                  <a:pos x="0" y="51"/>
                </a:cxn>
              </a:cxnLst>
              <a:pathLst>
                <a:path w="1" h="97">
                  <a:moveTo>
                    <a:pt x="0" y="0"/>
                  </a:moveTo>
                  <a:lnTo>
                    <a:pt x="0" y="97"/>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24" name="Line 19"/>
            <p:cNvSpPr/>
            <p:nvPr/>
          </p:nvSpPr>
          <p:spPr>
            <a:xfrm>
              <a:off x="4029" y="3400"/>
              <a:ext cx="284" cy="0"/>
            </a:xfrm>
            <a:prstGeom prst="line">
              <a:avLst/>
            </a:prstGeom>
            <a:ln w="28575" cap="flat" cmpd="sng">
              <a:solidFill>
                <a:srgbClr val="000000"/>
              </a:solidFill>
              <a:prstDash val="dash"/>
              <a:headEnd type="none" w="med" len="med"/>
              <a:tailEnd type="none" w="med" len="med"/>
            </a:ln>
          </p:spPr>
        </p:sp>
        <p:sp>
          <p:nvSpPr>
            <p:cNvPr id="72725" name="Text Box 20"/>
            <p:cNvSpPr txBox="1"/>
            <p:nvPr/>
          </p:nvSpPr>
          <p:spPr>
            <a:xfrm>
              <a:off x="1559" y="845"/>
              <a:ext cx="1174" cy="42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T</a:t>
              </a:r>
              <a:r>
                <a:rPr lang="en-US" altLang="zh-CN" sz="2400" baseline="-25000" dirty="0">
                  <a:solidFill>
                    <a:schemeClr val="tx1"/>
                  </a:solidFill>
                </a:rPr>
                <a:t>c </a:t>
              </a:r>
              <a:r>
                <a:rPr lang="en-US" altLang="zh-CN" sz="2400" dirty="0">
                  <a:solidFill>
                    <a:schemeClr val="tx1"/>
                  </a:solidFill>
                </a:rPr>
                <a:t>(</a:t>
              </a:r>
              <a:r>
                <a:rPr lang="zh-CN" altLang="en-US" sz="2400" dirty="0">
                  <a:solidFill>
                    <a:schemeClr val="tx1"/>
                  </a:solidFill>
                </a:rPr>
                <a:t>检查点</a:t>
              </a:r>
              <a:r>
                <a:rPr lang="en-US" altLang="zh-CN" sz="2400" dirty="0">
                  <a:solidFill>
                    <a:schemeClr val="tx1"/>
                  </a:solidFill>
                </a:rPr>
                <a:t>)</a:t>
              </a:r>
              <a:endParaRPr lang="en-US" altLang="zh-CN" sz="2400" dirty="0">
                <a:solidFill>
                  <a:schemeClr val="tx1"/>
                </a:solidFill>
              </a:endParaRPr>
            </a:p>
          </p:txBody>
        </p:sp>
        <p:sp>
          <p:nvSpPr>
            <p:cNvPr id="72726" name="Text Box 21"/>
            <p:cNvSpPr txBox="1"/>
            <p:nvPr/>
          </p:nvSpPr>
          <p:spPr>
            <a:xfrm>
              <a:off x="3546" y="860"/>
              <a:ext cx="1385" cy="4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T</a:t>
              </a:r>
              <a:r>
                <a:rPr lang="en-US" altLang="zh-CN" sz="2400" baseline="-25000" dirty="0">
                  <a:solidFill>
                    <a:schemeClr val="tx1"/>
                  </a:solidFill>
                </a:rPr>
                <a:t>f</a:t>
              </a:r>
              <a:r>
                <a:rPr lang="en-US" altLang="zh-CN" sz="2400" dirty="0">
                  <a:solidFill>
                    <a:schemeClr val="tx1"/>
                  </a:solidFill>
                </a:rPr>
                <a:t>(</a:t>
              </a:r>
              <a:r>
                <a:rPr lang="zh-CN" altLang="en-US" sz="2400" dirty="0">
                  <a:solidFill>
                    <a:schemeClr val="tx1"/>
                  </a:solidFill>
                </a:rPr>
                <a:t>系统故障</a:t>
              </a:r>
              <a:r>
                <a:rPr lang="en-US" altLang="zh-CN" sz="2400" dirty="0">
                  <a:solidFill>
                    <a:schemeClr val="tx1"/>
                  </a:solidFill>
                </a:rPr>
                <a:t>)</a:t>
              </a:r>
              <a:endParaRPr lang="en-US" altLang="zh-CN" sz="2400" dirty="0">
                <a:solidFill>
                  <a:schemeClr val="tx1"/>
                </a:solidFill>
              </a:endParaRPr>
            </a:p>
          </p:txBody>
        </p:sp>
        <p:sp>
          <p:nvSpPr>
            <p:cNvPr id="72727" name="Text Box 22"/>
            <p:cNvSpPr txBox="1"/>
            <p:nvPr/>
          </p:nvSpPr>
          <p:spPr>
            <a:xfrm>
              <a:off x="2234" y="1787"/>
              <a:ext cx="716" cy="4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 REDO</a:t>
              </a:r>
              <a:endParaRPr lang="en-US" altLang="zh-CN" sz="2400" dirty="0">
                <a:solidFill>
                  <a:schemeClr val="tx1"/>
                </a:solidFill>
              </a:endParaRPr>
            </a:p>
          </p:txBody>
        </p:sp>
        <p:sp>
          <p:nvSpPr>
            <p:cNvPr id="72728" name="Text Box 23"/>
            <p:cNvSpPr txBox="1"/>
            <p:nvPr/>
          </p:nvSpPr>
          <p:spPr>
            <a:xfrm>
              <a:off x="4561" y="2386"/>
              <a:ext cx="972" cy="423"/>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UNDO</a:t>
              </a:r>
              <a:endParaRPr lang="en-US" altLang="zh-CN" sz="2400" dirty="0">
                <a:solidFill>
                  <a:schemeClr val="tx1"/>
                </a:solidFill>
              </a:endParaRPr>
            </a:p>
          </p:txBody>
        </p:sp>
        <p:sp>
          <p:nvSpPr>
            <p:cNvPr id="72729" name="Text Box 24"/>
            <p:cNvSpPr txBox="1"/>
            <p:nvPr/>
          </p:nvSpPr>
          <p:spPr>
            <a:xfrm>
              <a:off x="4351" y="3182"/>
              <a:ext cx="897" cy="4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UNDO</a:t>
              </a:r>
              <a:endParaRPr lang="en-US" altLang="zh-CN" sz="2400" dirty="0">
                <a:solidFill>
                  <a:schemeClr val="tx1"/>
                </a:solidFill>
              </a:endParaRPr>
            </a:p>
          </p:txBody>
        </p:sp>
        <p:sp>
          <p:nvSpPr>
            <p:cNvPr id="72730" name="Text Box 25"/>
            <p:cNvSpPr txBox="1"/>
            <p:nvPr/>
          </p:nvSpPr>
          <p:spPr>
            <a:xfrm>
              <a:off x="3166" y="2556"/>
              <a:ext cx="716" cy="42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 REDO</a:t>
              </a:r>
              <a:endParaRPr lang="en-US" altLang="zh-CN" sz="2400" dirty="0">
                <a:solidFill>
                  <a:schemeClr val="tx1"/>
                </a:solidFill>
              </a:endParaRPr>
            </a:p>
          </p:txBody>
        </p:sp>
        <p:sp>
          <p:nvSpPr>
            <p:cNvPr id="72731" name="Text Box 26"/>
            <p:cNvSpPr txBox="1"/>
            <p:nvPr/>
          </p:nvSpPr>
          <p:spPr>
            <a:xfrm>
              <a:off x="972" y="1892"/>
              <a:ext cx="463" cy="4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T</a:t>
              </a:r>
              <a:r>
                <a:rPr lang="en-US" altLang="zh-CN" sz="2400" baseline="-25000" dirty="0">
                  <a:solidFill>
                    <a:schemeClr val="tx1"/>
                  </a:solidFill>
                </a:rPr>
                <a:t>2</a:t>
              </a:r>
              <a:endParaRPr lang="en-US" altLang="zh-CN" sz="2400" dirty="0">
                <a:solidFill>
                  <a:schemeClr val="tx1"/>
                </a:solidFill>
              </a:endParaRPr>
            </a:p>
          </p:txBody>
        </p:sp>
        <p:sp>
          <p:nvSpPr>
            <p:cNvPr id="72732" name="Text Box 27"/>
            <p:cNvSpPr txBox="1"/>
            <p:nvPr/>
          </p:nvSpPr>
          <p:spPr>
            <a:xfrm>
              <a:off x="1384" y="2299"/>
              <a:ext cx="714" cy="42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T</a:t>
              </a:r>
              <a:r>
                <a:rPr lang="en-US" altLang="zh-CN" sz="2400" baseline="-25000" dirty="0">
                  <a:solidFill>
                    <a:schemeClr val="tx1"/>
                  </a:solidFill>
                </a:rPr>
                <a:t>3</a:t>
              </a:r>
              <a:endParaRPr lang="en-US" altLang="zh-CN" sz="2400" dirty="0">
                <a:solidFill>
                  <a:schemeClr val="tx1"/>
                </a:solidFill>
              </a:endParaRPr>
            </a:p>
          </p:txBody>
        </p:sp>
        <p:sp>
          <p:nvSpPr>
            <p:cNvPr id="72733" name="Text Box 28"/>
            <p:cNvSpPr txBox="1"/>
            <p:nvPr/>
          </p:nvSpPr>
          <p:spPr>
            <a:xfrm>
              <a:off x="2052" y="2648"/>
              <a:ext cx="715" cy="42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T</a:t>
              </a:r>
              <a:r>
                <a:rPr lang="en-US" altLang="zh-CN" sz="2400" baseline="-25000" dirty="0">
                  <a:solidFill>
                    <a:schemeClr val="tx1"/>
                  </a:solidFill>
                </a:rPr>
                <a:t>4</a:t>
              </a:r>
              <a:endParaRPr lang="en-US" altLang="zh-CN" sz="2400" dirty="0">
                <a:solidFill>
                  <a:schemeClr val="tx1"/>
                </a:solidFill>
              </a:endParaRPr>
            </a:p>
            <a:p>
              <a:pPr marL="0" lvl="0" indent="0">
                <a:spcBef>
                  <a:spcPct val="0"/>
                </a:spcBef>
                <a:buClrTx/>
                <a:buFontTx/>
                <a:buNone/>
              </a:pPr>
              <a:endParaRPr lang="en-US" altLang="zh-CN" sz="2400" dirty="0">
                <a:solidFill>
                  <a:schemeClr val="tx1"/>
                </a:solidFill>
              </a:endParaRPr>
            </a:p>
          </p:txBody>
        </p:sp>
        <p:sp>
          <p:nvSpPr>
            <p:cNvPr id="72734" name="Text Box 29"/>
            <p:cNvSpPr txBox="1"/>
            <p:nvPr/>
          </p:nvSpPr>
          <p:spPr>
            <a:xfrm>
              <a:off x="2549" y="3073"/>
              <a:ext cx="715" cy="5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spcBef>
                  <a:spcPct val="0"/>
                </a:spcBef>
                <a:buClrTx/>
                <a:buFontTx/>
                <a:buNone/>
              </a:pPr>
              <a:r>
                <a:rPr lang="en-US" altLang="zh-CN" sz="2400" dirty="0">
                  <a:solidFill>
                    <a:schemeClr val="tx1"/>
                  </a:solidFill>
                </a:rPr>
                <a:t>T</a:t>
              </a:r>
              <a:r>
                <a:rPr lang="en-US" altLang="zh-CN" sz="2400" baseline="-25000" dirty="0">
                  <a:solidFill>
                    <a:schemeClr val="tx1"/>
                  </a:solidFill>
                </a:rPr>
                <a:t>5</a:t>
              </a:r>
              <a:endParaRPr lang="en-US" altLang="zh-CN" sz="2400" dirty="0">
                <a:solidFill>
                  <a:schemeClr val="tx1"/>
                </a:solidFill>
              </a:endParaRPr>
            </a:p>
          </p:txBody>
        </p:sp>
        <p:sp>
          <p:nvSpPr>
            <p:cNvPr id="72735" name="Text Box 30"/>
            <p:cNvSpPr txBox="1"/>
            <p:nvPr/>
          </p:nvSpPr>
          <p:spPr>
            <a:xfrm>
              <a:off x="1223" y="1485"/>
              <a:ext cx="1244" cy="424"/>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zh-CN" altLang="en-US" sz="2400" dirty="0">
                  <a:solidFill>
                    <a:schemeClr val="tx1"/>
                  </a:solidFill>
                </a:rPr>
                <a:t>不要</a:t>
              </a:r>
              <a:r>
                <a:rPr lang="en-US" altLang="zh-CN" sz="2400" dirty="0">
                  <a:solidFill>
                    <a:schemeClr val="tx1"/>
                  </a:solidFill>
                </a:rPr>
                <a:t>REDO</a:t>
              </a:r>
              <a:endParaRPr lang="en-US" altLang="zh-CN" sz="2400" dirty="0">
                <a:solidFill>
                  <a:schemeClr val="tx1"/>
                </a:solidFill>
              </a:endParaRPr>
            </a:p>
          </p:txBody>
        </p:sp>
        <p:sp>
          <p:nvSpPr>
            <p:cNvPr id="72736" name="Text Box 31"/>
            <p:cNvSpPr txBox="1"/>
            <p:nvPr/>
          </p:nvSpPr>
          <p:spPr>
            <a:xfrm>
              <a:off x="869" y="1485"/>
              <a:ext cx="477" cy="422"/>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just">
                <a:spcBef>
                  <a:spcPct val="0"/>
                </a:spcBef>
                <a:buClrTx/>
                <a:buFontTx/>
                <a:buNone/>
              </a:pPr>
              <a:r>
                <a:rPr lang="en-US" altLang="zh-CN" sz="2400" dirty="0">
                  <a:solidFill>
                    <a:schemeClr val="tx1"/>
                  </a:solidFill>
                </a:rPr>
                <a:t>T</a:t>
              </a:r>
              <a:r>
                <a:rPr lang="en-US" altLang="zh-CN" sz="2400" baseline="-25000" dirty="0">
                  <a:solidFill>
                    <a:schemeClr val="tx1"/>
                  </a:solidFill>
                </a:rPr>
                <a:t>1</a:t>
              </a:r>
              <a:endParaRPr lang="en-US" altLang="zh-CN" sz="2400" dirty="0">
                <a:solidFill>
                  <a:schemeClr val="tx1"/>
                </a:solidFill>
              </a:endParaRPr>
            </a:p>
          </p:txBody>
        </p:sp>
        <p:sp>
          <p:nvSpPr>
            <p:cNvPr id="72737" name="Freeform 32"/>
            <p:cNvSpPr/>
            <p:nvPr/>
          </p:nvSpPr>
          <p:spPr>
            <a:xfrm>
              <a:off x="818" y="1819"/>
              <a:ext cx="463" cy="1"/>
            </a:xfrm>
            <a:custGeom>
              <a:avLst/>
              <a:gdLst/>
              <a:ahLst/>
              <a:cxnLst>
                <a:cxn ang="0">
                  <a:pos x="0" y="0"/>
                </a:cxn>
                <a:cxn ang="0">
                  <a:pos x="864" y="0"/>
                </a:cxn>
              </a:cxnLst>
              <a:pathLst>
                <a:path w="432" h="1">
                  <a:moveTo>
                    <a:pt x="0" y="0"/>
                  </a:moveTo>
                  <a:lnTo>
                    <a:pt x="432" y="0"/>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38" name="Freeform 33"/>
            <p:cNvSpPr/>
            <p:nvPr/>
          </p:nvSpPr>
          <p:spPr>
            <a:xfrm>
              <a:off x="818" y="1712"/>
              <a:ext cx="1" cy="101"/>
            </a:xfrm>
            <a:custGeom>
              <a:avLst/>
              <a:gdLst/>
              <a:ahLst/>
              <a:cxnLst>
                <a:cxn ang="0">
                  <a:pos x="0" y="0"/>
                </a:cxn>
                <a:cxn ang="0">
                  <a:pos x="0" y="60"/>
                </a:cxn>
              </a:cxnLst>
              <a:pathLst>
                <a:path w="3" h="107">
                  <a:moveTo>
                    <a:pt x="0" y="0"/>
                  </a:moveTo>
                  <a:lnTo>
                    <a:pt x="3" y="107"/>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sp>
          <p:nvSpPr>
            <p:cNvPr id="72739" name="Freeform 34"/>
            <p:cNvSpPr/>
            <p:nvPr/>
          </p:nvSpPr>
          <p:spPr>
            <a:xfrm>
              <a:off x="1281" y="1715"/>
              <a:ext cx="1" cy="98"/>
            </a:xfrm>
            <a:custGeom>
              <a:avLst/>
              <a:gdLst/>
              <a:ahLst/>
              <a:cxnLst>
                <a:cxn ang="0">
                  <a:pos x="0" y="0"/>
                </a:cxn>
                <a:cxn ang="0">
                  <a:pos x="0" y="52"/>
                </a:cxn>
              </a:cxnLst>
              <a:pathLst>
                <a:path w="4" h="105">
                  <a:moveTo>
                    <a:pt x="4" y="0"/>
                  </a:moveTo>
                  <a:lnTo>
                    <a:pt x="0" y="105"/>
                  </a:lnTo>
                </a:path>
              </a:pathLst>
            </a:custGeom>
            <a:noFill/>
            <a:ln w="28575" cap="flat" cmpd="sng">
              <a:solidFill>
                <a:srgbClr val="000000">
                  <a:alpha val="100000"/>
                </a:srgbClr>
              </a:solidFill>
              <a:prstDash val="solid"/>
              <a:round/>
              <a:headEnd type="none" w="med" len="med"/>
              <a:tailEnd type="none" w="med" len="med"/>
            </a:ln>
          </p:spPr>
          <p:txBody>
            <a:bodyPr/>
            <a:p>
              <a:endParaRPr lang="en-US"/>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3731" name="Rectangle 2"/>
          <p:cNvSpPr>
            <a:spLocks noGrp="1"/>
          </p:cNvSpPr>
          <p:nvPr>
            <p:ph idx="1"/>
          </p:nvPr>
        </p:nvSpPr>
        <p:spPr>
          <a:xfrm>
            <a:off x="209550" y="712788"/>
            <a:ext cx="8721725" cy="5507037"/>
          </a:xfrm>
          <a:ln/>
        </p:spPr>
        <p:txBody>
          <a:bodyPr vert="horz" wrap="square" lIns="91440" tIns="45720" rIns="91440" bIns="45720" anchor="t" anchorCtr="0"/>
          <a:p>
            <a:pPr marL="609600" indent="-609600" eaLnBrk="1" hangingPunct="1">
              <a:lnSpc>
                <a:spcPct val="115000"/>
              </a:lnSpc>
              <a:spcBef>
                <a:spcPct val="0"/>
              </a:spcBef>
              <a:buNone/>
            </a:pPr>
            <a:r>
              <a:rPr lang="zh-CN" altLang="en-US" sz="2800" dirty="0"/>
              <a:t>利用检查点的恢复步骤</a:t>
            </a:r>
            <a:endParaRPr lang="zh-CN" altLang="en-US" sz="2800" dirty="0"/>
          </a:p>
          <a:p>
            <a:pPr marL="609600" indent="-609600" eaLnBrk="1" hangingPunct="1">
              <a:lnSpc>
                <a:spcPct val="115000"/>
              </a:lnSpc>
              <a:spcBef>
                <a:spcPct val="0"/>
              </a:spcBef>
              <a:buNone/>
            </a:pPr>
            <a:r>
              <a:rPr lang="en-US" altLang="zh-CN" sz="2400" dirty="0">
                <a:solidFill>
                  <a:schemeClr val="tx1"/>
                </a:solidFill>
              </a:rPr>
              <a:t>1. 	</a:t>
            </a:r>
            <a:r>
              <a:rPr lang="zh-CN" altLang="en-US" sz="2800" dirty="0">
                <a:solidFill>
                  <a:schemeClr val="tx1"/>
                </a:solidFill>
              </a:rPr>
              <a:t>从重新开始文件中找到最后一个检查点记录在日志文件中的地址，由该地址在日志文件中找到最后一个检查点记录</a:t>
            </a:r>
            <a:endParaRPr lang="zh-CN" altLang="en-US" sz="2800" dirty="0">
              <a:solidFill>
                <a:schemeClr val="tx1"/>
              </a:solidFill>
            </a:endParaRPr>
          </a:p>
          <a:p>
            <a:pPr marL="609600" indent="-609600" eaLnBrk="1" hangingPunct="1">
              <a:lnSpc>
                <a:spcPct val="115000"/>
              </a:lnSpc>
              <a:spcBef>
                <a:spcPct val="0"/>
              </a:spcBef>
              <a:buNone/>
            </a:pPr>
            <a:r>
              <a:rPr lang="en-US" altLang="zh-CN" sz="2800" dirty="0">
                <a:solidFill>
                  <a:schemeClr val="tx1"/>
                </a:solidFill>
              </a:rPr>
              <a:t>2.	</a:t>
            </a:r>
            <a:r>
              <a:rPr lang="zh-CN" altLang="en-US" sz="2800" dirty="0">
                <a:solidFill>
                  <a:schemeClr val="tx1"/>
                </a:solidFill>
              </a:rPr>
              <a:t>由该检查点记录得到检查点建立时刻所有正在执行的事务清单</a:t>
            </a:r>
            <a:r>
              <a:rPr lang="en-US" altLang="zh-CN" sz="2800" dirty="0">
                <a:solidFill>
                  <a:schemeClr val="tx1"/>
                </a:solidFill>
              </a:rPr>
              <a:t>ACTIVE-LIST</a:t>
            </a:r>
            <a:endParaRPr lang="en-US" altLang="zh-CN" sz="2800" dirty="0">
              <a:solidFill>
                <a:schemeClr val="tx1"/>
              </a:solidFill>
            </a:endParaRPr>
          </a:p>
          <a:p>
            <a:pPr marL="990600" lvl="1" indent="-533400" eaLnBrk="1" hangingPunct="1">
              <a:lnSpc>
                <a:spcPct val="115000"/>
              </a:lnSpc>
              <a:spcBef>
                <a:spcPct val="0"/>
              </a:spcBef>
            </a:pPr>
            <a:r>
              <a:rPr lang="zh-CN" altLang="en-US" dirty="0"/>
              <a:t>建立两个事务队列</a:t>
            </a:r>
            <a:endParaRPr lang="zh-CN" altLang="en-US" dirty="0"/>
          </a:p>
          <a:p>
            <a:pPr marL="1371600" lvl="2" indent="-457200" eaLnBrk="1" hangingPunct="1">
              <a:lnSpc>
                <a:spcPct val="115000"/>
              </a:lnSpc>
              <a:spcBef>
                <a:spcPct val="0"/>
              </a:spcBef>
              <a:buFont typeface="Wingdings" panose="05000000000000000000" pitchFamily="2" charset="2"/>
              <a:buChar char="§"/>
            </a:pPr>
            <a:r>
              <a:rPr lang="en-US" altLang="zh-CN" sz="2800" dirty="0"/>
              <a:t>UNDO-LIST </a:t>
            </a:r>
            <a:endParaRPr lang="en-US" altLang="zh-CN" sz="2800" dirty="0"/>
          </a:p>
          <a:p>
            <a:pPr marL="1371600" lvl="2" indent="-457200" eaLnBrk="1" hangingPunct="1">
              <a:lnSpc>
                <a:spcPct val="115000"/>
              </a:lnSpc>
              <a:spcBef>
                <a:spcPct val="0"/>
              </a:spcBef>
              <a:buFont typeface="Wingdings" panose="05000000000000000000" pitchFamily="2" charset="2"/>
              <a:buChar char="§"/>
            </a:pPr>
            <a:r>
              <a:rPr lang="en-US" altLang="zh-CN" sz="2800" dirty="0"/>
              <a:t>REDO-LIST </a:t>
            </a:r>
            <a:endParaRPr lang="en-US" altLang="zh-CN" sz="2800" dirty="0"/>
          </a:p>
          <a:p>
            <a:pPr marL="990600" lvl="1" indent="-533400" eaLnBrk="1" hangingPunct="1">
              <a:lnSpc>
                <a:spcPct val="115000"/>
              </a:lnSpc>
              <a:spcBef>
                <a:spcPct val="0"/>
              </a:spcBef>
            </a:pPr>
            <a:r>
              <a:rPr lang="zh-CN" altLang="en-US" dirty="0"/>
              <a:t>把</a:t>
            </a:r>
            <a:r>
              <a:rPr lang="en-US" altLang="zh-CN" dirty="0"/>
              <a:t>ACTIVE-LIST</a:t>
            </a:r>
            <a:r>
              <a:rPr lang="zh-CN" altLang="en-US" dirty="0"/>
              <a:t>暂时放入</a:t>
            </a:r>
            <a:r>
              <a:rPr lang="en-US" altLang="zh-CN" dirty="0"/>
              <a:t>UNDO-LIST</a:t>
            </a:r>
            <a:r>
              <a:rPr lang="zh-CN" altLang="en-US" dirty="0"/>
              <a:t>队列，</a:t>
            </a:r>
            <a:r>
              <a:rPr lang="en-US" altLang="zh-CN" dirty="0"/>
              <a:t>REDO</a:t>
            </a:r>
            <a:r>
              <a:rPr lang="zh-CN" altLang="en-US" dirty="0"/>
              <a:t>队列暂为空。</a:t>
            </a:r>
            <a:endParaRPr lang="zh-CN" altLang="en-US" sz="2400" dirty="0"/>
          </a:p>
        </p:txBody>
      </p:sp>
      <p:sp>
        <p:nvSpPr>
          <p:cNvPr id="73732"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4755" name="Rectangle 2"/>
          <p:cNvSpPr>
            <a:spLocks noGrp="1"/>
          </p:cNvSpPr>
          <p:nvPr>
            <p:ph idx="1"/>
          </p:nvPr>
        </p:nvSpPr>
        <p:spPr>
          <a:xfrm>
            <a:off x="209550" y="712788"/>
            <a:ext cx="8721725" cy="5895975"/>
          </a:xfrm>
          <a:ln/>
        </p:spPr>
        <p:txBody>
          <a:bodyPr vert="horz" wrap="square" lIns="91440" tIns="45720" rIns="91440" bIns="45720" anchor="t" anchorCtr="0"/>
          <a:p>
            <a:pPr marL="609600" indent="-609600" eaLnBrk="1" hangingPunct="1">
              <a:lnSpc>
                <a:spcPct val="115000"/>
              </a:lnSpc>
              <a:spcBef>
                <a:spcPct val="0"/>
              </a:spcBef>
              <a:buNone/>
            </a:pPr>
            <a:r>
              <a:rPr lang="zh-CN" altLang="en-US" dirty="0"/>
              <a:t>利用检查点的恢复步骤</a:t>
            </a:r>
            <a:r>
              <a:rPr lang="en-US" altLang="zh-CN" dirty="0"/>
              <a:t>(</a:t>
            </a:r>
            <a:r>
              <a:rPr lang="zh-CN" altLang="en-US" dirty="0"/>
              <a:t>续</a:t>
            </a:r>
            <a:r>
              <a:rPr lang="en-US" altLang="zh-CN" dirty="0"/>
              <a:t>)</a:t>
            </a:r>
            <a:endParaRPr lang="en-US" altLang="zh-CN" dirty="0"/>
          </a:p>
          <a:p>
            <a:pPr marL="609600" indent="-609600" eaLnBrk="1" hangingPunct="1">
              <a:lnSpc>
                <a:spcPct val="90000"/>
              </a:lnSpc>
              <a:buNone/>
            </a:pPr>
            <a:r>
              <a:rPr lang="en-US" altLang="zh-CN" dirty="0">
                <a:solidFill>
                  <a:schemeClr val="tx1"/>
                </a:solidFill>
              </a:rPr>
              <a:t>3.	</a:t>
            </a:r>
            <a:r>
              <a:rPr lang="zh-CN" altLang="en-US" dirty="0">
                <a:solidFill>
                  <a:schemeClr val="tx1"/>
                </a:solidFill>
              </a:rPr>
              <a:t>从检查点开始正向扫描日志文件，直到日志文件结束</a:t>
            </a:r>
            <a:endParaRPr lang="zh-CN" altLang="en-US" dirty="0">
              <a:solidFill>
                <a:schemeClr val="tx1"/>
              </a:solidFill>
            </a:endParaRPr>
          </a:p>
          <a:p>
            <a:pPr marL="990600" lvl="1" indent="-533400" eaLnBrk="1" hangingPunct="1">
              <a:lnSpc>
                <a:spcPct val="90000"/>
              </a:lnSpc>
            </a:pPr>
            <a:r>
              <a:rPr lang="zh-CN" altLang="en-US" sz="3200" dirty="0"/>
              <a:t>如有新开始的事务</a:t>
            </a:r>
            <a:r>
              <a:rPr lang="en-US" altLang="zh-CN" sz="3200" dirty="0"/>
              <a:t>T</a:t>
            </a:r>
            <a:r>
              <a:rPr lang="en-US" altLang="zh-CN" sz="3200" baseline="-25000" dirty="0"/>
              <a:t>i</a:t>
            </a:r>
            <a:r>
              <a:rPr lang="zh-CN" altLang="en-US" sz="3200" dirty="0"/>
              <a:t>，把</a:t>
            </a:r>
            <a:r>
              <a:rPr lang="en-US" altLang="zh-CN" sz="3200" dirty="0"/>
              <a:t>T</a:t>
            </a:r>
            <a:r>
              <a:rPr lang="en-US" altLang="zh-CN" sz="3200" baseline="-25000" dirty="0"/>
              <a:t>i</a:t>
            </a:r>
            <a:r>
              <a:rPr lang="zh-CN" altLang="en-US" sz="3200" dirty="0"/>
              <a:t>暂时放入</a:t>
            </a:r>
            <a:r>
              <a:rPr lang="en-US" altLang="zh-CN" sz="3200" dirty="0"/>
              <a:t>UNDO-LIST</a:t>
            </a:r>
            <a:r>
              <a:rPr lang="zh-CN" altLang="en-US" sz="3200" dirty="0"/>
              <a:t>队列</a:t>
            </a:r>
            <a:endParaRPr lang="zh-CN" altLang="en-US" sz="3200" dirty="0"/>
          </a:p>
          <a:p>
            <a:pPr marL="990600" lvl="1" indent="-533400" eaLnBrk="1" hangingPunct="1">
              <a:lnSpc>
                <a:spcPct val="90000"/>
              </a:lnSpc>
            </a:pPr>
            <a:r>
              <a:rPr lang="zh-CN" altLang="en-US" sz="3200" dirty="0"/>
              <a:t>如有提交的事务</a:t>
            </a:r>
            <a:r>
              <a:rPr lang="en-US" altLang="zh-CN" sz="3200" dirty="0"/>
              <a:t>T</a:t>
            </a:r>
            <a:r>
              <a:rPr lang="en-US" altLang="zh-CN" sz="3200" baseline="-25000" dirty="0"/>
              <a:t>j</a:t>
            </a:r>
            <a:r>
              <a:rPr lang="zh-CN" altLang="en-US" sz="3200" dirty="0"/>
              <a:t>，把</a:t>
            </a:r>
            <a:r>
              <a:rPr lang="en-US" altLang="zh-CN" sz="3200" dirty="0"/>
              <a:t>T</a:t>
            </a:r>
            <a:r>
              <a:rPr lang="en-US" altLang="zh-CN" sz="3200" baseline="-25000" dirty="0"/>
              <a:t>j</a:t>
            </a:r>
            <a:r>
              <a:rPr lang="zh-CN" altLang="en-US" sz="3200" dirty="0"/>
              <a:t>从</a:t>
            </a:r>
            <a:r>
              <a:rPr lang="en-US" altLang="zh-CN" sz="3200" dirty="0"/>
              <a:t>UNDO-LIST</a:t>
            </a:r>
            <a:r>
              <a:rPr lang="zh-CN" altLang="en-US" sz="3200" dirty="0"/>
              <a:t>队列移到</a:t>
            </a:r>
            <a:r>
              <a:rPr lang="en-US" altLang="zh-CN" sz="3200" dirty="0"/>
              <a:t>REDO-LIST</a:t>
            </a:r>
            <a:r>
              <a:rPr lang="zh-CN" altLang="en-US" sz="3200" dirty="0"/>
              <a:t>队列</a:t>
            </a:r>
            <a:endParaRPr lang="zh-CN" altLang="en-US" sz="3200" dirty="0"/>
          </a:p>
          <a:p>
            <a:pPr marL="609600" indent="-609600" eaLnBrk="1" hangingPunct="1">
              <a:lnSpc>
                <a:spcPct val="90000"/>
              </a:lnSpc>
              <a:buNone/>
            </a:pPr>
            <a:endParaRPr lang="zh-CN" altLang="en-US" dirty="0">
              <a:solidFill>
                <a:schemeClr val="tx1"/>
              </a:solidFill>
            </a:endParaRPr>
          </a:p>
          <a:p>
            <a:pPr marL="609600" indent="-609600" eaLnBrk="1" hangingPunct="1">
              <a:lnSpc>
                <a:spcPct val="90000"/>
              </a:lnSpc>
              <a:buNone/>
            </a:pPr>
            <a:r>
              <a:rPr lang="en-US" altLang="zh-CN" dirty="0">
                <a:solidFill>
                  <a:schemeClr val="tx1"/>
                </a:solidFill>
              </a:rPr>
              <a:t>4.	</a:t>
            </a:r>
            <a:r>
              <a:rPr lang="zh-CN" altLang="en-US" dirty="0">
                <a:solidFill>
                  <a:schemeClr val="tx1"/>
                </a:solidFill>
              </a:rPr>
              <a:t>对</a:t>
            </a:r>
            <a:r>
              <a:rPr lang="en-US" altLang="zh-CN" dirty="0">
                <a:solidFill>
                  <a:schemeClr val="tx1"/>
                </a:solidFill>
              </a:rPr>
              <a:t>UNDO-LIST</a:t>
            </a:r>
            <a:r>
              <a:rPr lang="zh-CN" altLang="en-US" dirty="0">
                <a:solidFill>
                  <a:schemeClr val="tx1"/>
                </a:solidFill>
              </a:rPr>
              <a:t>中的每个事务执行</a:t>
            </a:r>
            <a:r>
              <a:rPr lang="en-US" altLang="zh-CN" dirty="0">
                <a:solidFill>
                  <a:schemeClr val="tx1"/>
                </a:solidFill>
              </a:rPr>
              <a:t>UNDO</a:t>
            </a:r>
            <a:r>
              <a:rPr lang="zh-CN" altLang="en-US" dirty="0">
                <a:solidFill>
                  <a:schemeClr val="tx1"/>
                </a:solidFill>
              </a:rPr>
              <a:t>操作</a:t>
            </a:r>
            <a:r>
              <a:rPr lang="en-US" altLang="zh-CN" dirty="0">
                <a:solidFill>
                  <a:schemeClr val="tx1"/>
                </a:solidFill>
              </a:rPr>
              <a:t>, </a:t>
            </a:r>
            <a:r>
              <a:rPr lang="zh-CN" altLang="en-US" dirty="0">
                <a:solidFill>
                  <a:schemeClr val="tx1"/>
                </a:solidFill>
              </a:rPr>
              <a:t>对</a:t>
            </a:r>
            <a:r>
              <a:rPr lang="en-US" altLang="zh-CN" dirty="0">
                <a:solidFill>
                  <a:schemeClr val="tx1"/>
                </a:solidFill>
              </a:rPr>
              <a:t>REDO-LIST</a:t>
            </a:r>
            <a:r>
              <a:rPr lang="zh-CN" altLang="en-US" dirty="0">
                <a:solidFill>
                  <a:schemeClr val="tx1"/>
                </a:solidFill>
              </a:rPr>
              <a:t>中的每个事务执行</a:t>
            </a:r>
            <a:r>
              <a:rPr lang="en-US" altLang="zh-CN" dirty="0">
                <a:solidFill>
                  <a:schemeClr val="tx1"/>
                </a:solidFill>
              </a:rPr>
              <a:t>REDO</a:t>
            </a:r>
            <a:r>
              <a:rPr lang="zh-CN" altLang="en-US" dirty="0">
                <a:solidFill>
                  <a:schemeClr val="tx1"/>
                </a:solidFill>
              </a:rPr>
              <a:t>操作</a:t>
            </a:r>
            <a:endParaRPr lang="zh-CN" altLang="en-US" dirty="0">
              <a:solidFill>
                <a:schemeClr val="tx1"/>
              </a:solidFill>
            </a:endParaRPr>
          </a:p>
        </p:txBody>
      </p:sp>
      <p:sp>
        <p:nvSpPr>
          <p:cNvPr id="74756" name="Rectangle 3"/>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10.6  </a:t>
            </a:r>
            <a:r>
              <a:rPr lang="zh-CN" altLang="en-US" dirty="0"/>
              <a:t>具有检查点的恢复技术</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5779" name="Rectangle 2"/>
          <p:cNvSpPr/>
          <p:nvPr/>
        </p:nvSpPr>
        <p:spPr>
          <a:xfrm>
            <a:off x="622300" y="46863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75780"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bg1"/>
                </a:solidFill>
              </a:rPr>
              <a:t>10.7  </a:t>
            </a:r>
            <a:r>
              <a:rPr lang="zh-CN" altLang="en-US" dirty="0">
                <a:solidFill>
                  <a:schemeClr val="bg1"/>
                </a:solidFill>
              </a:rPr>
              <a:t>数据库镜像</a:t>
            </a:r>
            <a:endParaRPr lang="zh-CN" altLang="en-US" dirty="0">
              <a:solidFill>
                <a:schemeClr val="bg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75781"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680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10.7  </a:t>
            </a:r>
            <a:r>
              <a:rPr lang="zh-CN" altLang="en-US" dirty="0"/>
              <a:t>数据库镜像</a:t>
            </a:r>
            <a:endParaRPr lang="zh-CN" altLang="en-US" dirty="0"/>
          </a:p>
        </p:txBody>
      </p:sp>
      <p:sp>
        <p:nvSpPr>
          <p:cNvPr id="76804"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lnSpc>
                <a:spcPct val="110000"/>
              </a:lnSpc>
            </a:pPr>
            <a:r>
              <a:rPr lang="zh-CN" altLang="en-US" dirty="0">
                <a:solidFill>
                  <a:schemeClr val="tx1"/>
                </a:solidFill>
              </a:rPr>
              <a:t>介质故障是对系统影响最为严重的一种故障，严重影响数据库的可用性</a:t>
            </a:r>
            <a:endParaRPr lang="zh-CN" altLang="en-US" dirty="0">
              <a:solidFill>
                <a:schemeClr val="tx1"/>
              </a:solidFill>
            </a:endParaRPr>
          </a:p>
          <a:p>
            <a:pPr lvl="1" eaLnBrk="1" hangingPunct="1">
              <a:lnSpc>
                <a:spcPct val="110000"/>
              </a:lnSpc>
            </a:pPr>
            <a:r>
              <a:rPr lang="zh-CN" altLang="en-US" dirty="0"/>
              <a:t>介质故障恢复比较费时</a:t>
            </a:r>
            <a:endParaRPr lang="zh-CN" altLang="en-US" dirty="0"/>
          </a:p>
          <a:p>
            <a:pPr lvl="1" eaLnBrk="1" hangingPunct="1">
              <a:lnSpc>
                <a:spcPct val="110000"/>
              </a:lnSpc>
            </a:pPr>
            <a:r>
              <a:rPr lang="zh-CN" altLang="en-US" dirty="0"/>
              <a:t>为预防介质故障，</a:t>
            </a:r>
            <a:r>
              <a:rPr lang="en-US" altLang="zh-CN" dirty="0"/>
              <a:t>DBA</a:t>
            </a:r>
            <a:r>
              <a:rPr lang="zh-CN" altLang="en-US" dirty="0"/>
              <a:t>必须周期性地转储数据库</a:t>
            </a:r>
            <a:endParaRPr lang="zh-CN" altLang="en-US" dirty="0"/>
          </a:p>
          <a:p>
            <a:pPr eaLnBrk="1" hangingPunct="1">
              <a:lnSpc>
                <a:spcPct val="110000"/>
              </a:lnSpc>
            </a:pPr>
            <a:r>
              <a:rPr lang="zh-CN" altLang="en-US" dirty="0">
                <a:solidFill>
                  <a:schemeClr val="tx1"/>
                </a:solidFill>
              </a:rPr>
              <a:t>提高数据库可用性的解决方案</a:t>
            </a:r>
            <a:endParaRPr lang="zh-CN" altLang="en-US" dirty="0">
              <a:solidFill>
                <a:schemeClr val="tx1"/>
              </a:solidFill>
            </a:endParaRPr>
          </a:p>
          <a:p>
            <a:pPr lvl="1" eaLnBrk="1" hangingPunct="1">
              <a:lnSpc>
                <a:spcPct val="110000"/>
              </a:lnSpc>
            </a:pPr>
            <a:r>
              <a:rPr lang="zh-CN" altLang="en-US" dirty="0"/>
              <a:t>数据库镜像（</a:t>
            </a:r>
            <a:r>
              <a:rPr lang="en-US" altLang="zh-CN" dirty="0"/>
              <a:t>Mirror</a:t>
            </a:r>
            <a:r>
              <a:rPr lang="zh-CN" altLang="en-US" dirty="0"/>
              <a:t>）</a:t>
            </a:r>
            <a:endParaRPr lang="zh-CN" altLang="en-US" dirty="0"/>
          </a:p>
          <a:p>
            <a:pPr eaLnBrk="1" hangingPunct="1">
              <a:lnSpc>
                <a:spcPct val="110000"/>
              </a:lnSpc>
            </a:pPr>
            <a:r>
              <a:rPr lang="zh-CN" altLang="en-US" dirty="0"/>
              <a:t>数据库镜像</a:t>
            </a:r>
            <a:endParaRPr lang="zh-CN" altLang="en-US" dirty="0"/>
          </a:p>
          <a:p>
            <a:pPr lvl="1" eaLnBrk="1" hangingPunct="1">
              <a:lnSpc>
                <a:spcPct val="110000"/>
              </a:lnSpc>
            </a:pPr>
            <a:r>
              <a:rPr lang="en-US" altLang="zh-CN" dirty="0"/>
              <a:t>DBMS</a:t>
            </a:r>
            <a:r>
              <a:rPr lang="zh-CN" altLang="en-US" dirty="0"/>
              <a:t>自动把整个数据库或其中的关键数据复制到另一个磁盘上</a:t>
            </a:r>
            <a:endParaRPr lang="zh-CN" altLang="en-US" dirty="0"/>
          </a:p>
          <a:p>
            <a:pPr lvl="1" eaLnBrk="1" hangingPunct="1">
              <a:lnSpc>
                <a:spcPct val="110000"/>
              </a:lnSpc>
            </a:pPr>
            <a:r>
              <a:rPr lang="en-US" altLang="zh-CN" dirty="0"/>
              <a:t>DBMS</a:t>
            </a:r>
            <a:r>
              <a:rPr lang="zh-CN" altLang="en-US" dirty="0"/>
              <a:t>自动保证镜像数据与主数据的一致性</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782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10.7  </a:t>
            </a:r>
            <a:r>
              <a:rPr lang="zh-CN" altLang="en-US" dirty="0"/>
              <a:t>数据库镜像</a:t>
            </a:r>
            <a:endParaRPr lang="zh-CN" altLang="en-US" dirty="0"/>
          </a:p>
        </p:txBody>
      </p:sp>
      <p:sp>
        <p:nvSpPr>
          <p:cNvPr id="77828"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lnSpc>
                <a:spcPct val="110000"/>
              </a:lnSpc>
              <a:buNone/>
            </a:pPr>
            <a:r>
              <a:rPr lang="zh-CN" altLang="en-US" dirty="0"/>
              <a:t>镜像的作用</a:t>
            </a:r>
            <a:endParaRPr lang="zh-CN" altLang="en-US" dirty="0"/>
          </a:p>
          <a:p>
            <a:pPr eaLnBrk="1" hangingPunct="1">
              <a:lnSpc>
                <a:spcPct val="120000"/>
              </a:lnSpc>
            </a:pPr>
            <a:r>
              <a:rPr lang="zh-CN" altLang="en-US" sz="2800" dirty="0">
                <a:solidFill>
                  <a:srgbClr val="0000CC"/>
                </a:solidFill>
              </a:rPr>
              <a:t>出现介质故障时  </a:t>
            </a:r>
            <a:r>
              <a:rPr lang="en-US" altLang="zh-CN" sz="2800" dirty="0">
                <a:solidFill>
                  <a:srgbClr val="0000CC"/>
                </a:solidFill>
              </a:rPr>
              <a:t>P329</a:t>
            </a:r>
            <a:endParaRPr lang="zh-CN" altLang="en-US" sz="2800" dirty="0">
              <a:solidFill>
                <a:srgbClr val="0000CC"/>
              </a:solidFill>
            </a:endParaRPr>
          </a:p>
          <a:p>
            <a:pPr lvl="1" eaLnBrk="1" hangingPunct="1">
              <a:lnSpc>
                <a:spcPct val="120000"/>
              </a:lnSpc>
            </a:pPr>
            <a:r>
              <a:rPr lang="en-US" altLang="zh-CN" dirty="0"/>
              <a:t>DBMS</a:t>
            </a:r>
            <a:r>
              <a:rPr lang="zh-CN" altLang="en-US" dirty="0"/>
              <a:t>自动利用镜像磁盘数据进行数据库的恢复，不需要关闭系统和重装数据库副本</a:t>
            </a:r>
            <a:r>
              <a:rPr lang="en-US" altLang="zh-CN" dirty="0"/>
              <a:t>(</a:t>
            </a:r>
            <a:r>
              <a:rPr lang="zh-CN" altLang="en-US" dirty="0"/>
              <a:t>图</a:t>
            </a:r>
            <a:r>
              <a:rPr lang="en-US" altLang="zh-CN" dirty="0"/>
              <a:t>11.5b)</a:t>
            </a:r>
            <a:endParaRPr lang="en-US" altLang="zh-CN" sz="2400" dirty="0"/>
          </a:p>
          <a:p>
            <a:pPr eaLnBrk="1" hangingPunct="1">
              <a:lnSpc>
                <a:spcPct val="120000"/>
              </a:lnSpc>
            </a:pPr>
            <a:r>
              <a:rPr lang="zh-CN" altLang="en-US" sz="2800" dirty="0">
                <a:solidFill>
                  <a:srgbClr val="0000CC"/>
                </a:solidFill>
              </a:rPr>
              <a:t>没有出现故障时</a:t>
            </a:r>
            <a:endParaRPr lang="zh-CN" altLang="en-US" sz="2800" dirty="0">
              <a:solidFill>
                <a:srgbClr val="0000CC"/>
              </a:solidFill>
            </a:endParaRPr>
          </a:p>
          <a:p>
            <a:pPr lvl="1" eaLnBrk="1" hangingPunct="1">
              <a:lnSpc>
                <a:spcPct val="120000"/>
              </a:lnSpc>
            </a:pPr>
            <a:r>
              <a:rPr lang="zh-CN" altLang="en-US" dirty="0"/>
              <a:t>可用于并发操作</a:t>
            </a:r>
            <a:r>
              <a:rPr lang="en-US" altLang="zh-CN" sz="2400" dirty="0"/>
              <a:t>(</a:t>
            </a:r>
            <a:r>
              <a:rPr lang="zh-CN" altLang="en-US" sz="2400" dirty="0"/>
              <a:t>图</a:t>
            </a:r>
            <a:r>
              <a:rPr lang="en-US" altLang="zh-CN" sz="2400" dirty="0"/>
              <a:t>11.5a)</a:t>
            </a:r>
            <a:r>
              <a:rPr lang="zh-CN" altLang="en-US" sz="2400" dirty="0"/>
              <a:t>；</a:t>
            </a:r>
            <a:r>
              <a:rPr lang="zh-CN" altLang="en-US" dirty="0"/>
              <a:t>一个用户对数据加排他锁修改数据，其他用户可以读镜像数据库上的数据</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8851" name="Rectangle 2"/>
          <p:cNvSpPr/>
          <p:nvPr/>
        </p:nvSpPr>
        <p:spPr>
          <a:xfrm>
            <a:off x="622300" y="52959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78852"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bg1"/>
                </a:solidFill>
              </a:rPr>
              <a:t>10.8  SQL Server</a:t>
            </a:r>
            <a:r>
              <a:rPr lang="zh-CN" altLang="en-US" dirty="0">
                <a:solidFill>
                  <a:schemeClr val="bg1"/>
                </a:solidFill>
              </a:rPr>
              <a:t>的恢复技术</a:t>
            </a:r>
            <a:endParaRPr lang="zh-CN" altLang="en-US" dirty="0">
              <a:solidFill>
                <a:schemeClr val="bg1"/>
              </a:solidFill>
            </a:endParaRPr>
          </a:p>
          <a:p>
            <a:pPr eaLnBrk="1" hangingPunct="1">
              <a:buNone/>
            </a:pPr>
            <a:r>
              <a:rPr lang="en-US" altLang="zh-CN" dirty="0">
                <a:solidFill>
                  <a:schemeClr val="tx1"/>
                </a:solidFill>
              </a:rPr>
              <a:t>10.9  </a:t>
            </a:r>
            <a:r>
              <a:rPr lang="zh-CN" altLang="en-US" dirty="0">
                <a:solidFill>
                  <a:schemeClr val="tx1"/>
                </a:solidFill>
              </a:rPr>
              <a:t>小结</a:t>
            </a:r>
            <a:endParaRPr lang="zh-CN" altLang="en-US" dirty="0">
              <a:solidFill>
                <a:schemeClr val="tx1"/>
              </a:solidFill>
            </a:endParaRPr>
          </a:p>
        </p:txBody>
      </p:sp>
      <p:sp>
        <p:nvSpPr>
          <p:cNvPr id="78853"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79875"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10.8  SQL Server</a:t>
            </a:r>
            <a:r>
              <a:rPr lang="zh-CN" altLang="en-US" dirty="0"/>
              <a:t>的恢复技术</a:t>
            </a:r>
            <a:endParaRPr lang="zh-CN" altLang="en-US" dirty="0"/>
          </a:p>
        </p:txBody>
      </p:sp>
      <p:sp>
        <p:nvSpPr>
          <p:cNvPr id="79876"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lnSpc>
                <a:spcPct val="120000"/>
              </a:lnSpc>
            </a:pPr>
            <a:r>
              <a:rPr lang="zh-CN" altLang="en-US" sz="2800" dirty="0">
                <a:solidFill>
                  <a:srgbClr val="0000CC"/>
                </a:solidFill>
              </a:rPr>
              <a:t>恢复模式</a:t>
            </a:r>
            <a:endParaRPr lang="zh-CN" altLang="en-US" sz="2800" dirty="0">
              <a:solidFill>
                <a:srgbClr val="0000CC"/>
              </a:solidFill>
            </a:endParaRPr>
          </a:p>
          <a:p>
            <a:pPr lvl="1" eaLnBrk="1" hangingPunct="1">
              <a:lnSpc>
                <a:spcPct val="120000"/>
              </a:lnSpc>
            </a:pPr>
            <a:r>
              <a:rPr lang="zh-CN" altLang="en-US" dirty="0"/>
              <a:t>简单恢复</a:t>
            </a:r>
            <a:r>
              <a:rPr lang="en-US" altLang="zh-CN" dirty="0"/>
              <a:t>(Simple Recovery)</a:t>
            </a:r>
            <a:endParaRPr lang="en-US" altLang="zh-CN" dirty="0"/>
          </a:p>
          <a:p>
            <a:pPr lvl="1" eaLnBrk="1" hangingPunct="1">
              <a:lnSpc>
                <a:spcPct val="120000"/>
              </a:lnSpc>
            </a:pPr>
            <a:r>
              <a:rPr lang="zh-CN" altLang="en-US" dirty="0"/>
              <a:t>完全恢复</a:t>
            </a:r>
            <a:r>
              <a:rPr lang="en-US" altLang="zh-CN" dirty="0"/>
              <a:t>(Full Recovery)</a:t>
            </a:r>
            <a:endParaRPr lang="en-US" altLang="zh-CN" dirty="0"/>
          </a:p>
          <a:p>
            <a:pPr lvl="1" eaLnBrk="1" hangingPunct="1">
              <a:lnSpc>
                <a:spcPct val="120000"/>
              </a:lnSpc>
            </a:pPr>
            <a:r>
              <a:rPr lang="zh-CN" altLang="en-US" dirty="0"/>
              <a:t>批量恢复</a:t>
            </a:r>
            <a:r>
              <a:rPr lang="en-US" altLang="zh-CN" dirty="0"/>
              <a:t>(Bulk-Logged Recovery)</a:t>
            </a:r>
            <a:endParaRPr lang="en-US" altLang="zh-CN" dirty="0"/>
          </a:p>
          <a:p>
            <a:pPr eaLnBrk="1" hangingPunct="1">
              <a:lnSpc>
                <a:spcPct val="120000"/>
              </a:lnSpc>
            </a:pPr>
            <a:r>
              <a:rPr lang="zh-CN" altLang="en-US" sz="2800" dirty="0">
                <a:solidFill>
                  <a:srgbClr val="0000CC"/>
                </a:solidFill>
              </a:rPr>
              <a:t>备份机制</a:t>
            </a:r>
            <a:endParaRPr lang="zh-CN" altLang="en-US" sz="2800" dirty="0">
              <a:solidFill>
                <a:srgbClr val="0000CC"/>
              </a:solidFill>
            </a:endParaRPr>
          </a:p>
          <a:p>
            <a:pPr lvl="1" eaLnBrk="1" hangingPunct="1">
              <a:lnSpc>
                <a:spcPct val="120000"/>
              </a:lnSpc>
            </a:pPr>
            <a:r>
              <a:rPr lang="zh-CN" altLang="en-US" dirty="0"/>
              <a:t>数据库备份</a:t>
            </a:r>
            <a:endParaRPr lang="zh-CN" altLang="en-US" dirty="0"/>
          </a:p>
          <a:p>
            <a:pPr lvl="1" eaLnBrk="1" hangingPunct="1">
              <a:lnSpc>
                <a:spcPct val="120000"/>
              </a:lnSpc>
            </a:pPr>
            <a:r>
              <a:rPr lang="zh-CN" altLang="en-US" dirty="0"/>
              <a:t>日志备份</a:t>
            </a:r>
            <a:endParaRPr lang="zh-CN" altLang="en-US" dirty="0"/>
          </a:p>
          <a:p>
            <a:pPr lvl="1" eaLnBrk="1" hangingPunct="1">
              <a:lnSpc>
                <a:spcPct val="120000"/>
              </a:lnSpc>
            </a:pPr>
            <a:r>
              <a:rPr lang="zh-CN" altLang="en-US" dirty="0"/>
              <a:t>差异备份</a:t>
            </a:r>
            <a:endParaRPr lang="zh-CN" altLang="en-US" dirty="0"/>
          </a:p>
          <a:p>
            <a:pPr lvl="1" eaLnBrk="1" hangingPunct="1">
              <a:lnSpc>
                <a:spcPct val="120000"/>
              </a:lnSpc>
            </a:pPr>
            <a:r>
              <a:rPr lang="zh-CN" altLang="en-US" dirty="0"/>
              <a:t>文件及文件组备份</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089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10.8  SQL Server</a:t>
            </a:r>
            <a:r>
              <a:rPr lang="zh-CN" altLang="en-US" dirty="0"/>
              <a:t>的恢复技术</a:t>
            </a:r>
            <a:endParaRPr lang="zh-CN" altLang="en-US" dirty="0"/>
          </a:p>
        </p:txBody>
      </p:sp>
      <p:sp>
        <p:nvSpPr>
          <p:cNvPr id="80900"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lnSpc>
                <a:spcPct val="120000"/>
              </a:lnSpc>
              <a:spcBef>
                <a:spcPct val="0"/>
              </a:spcBef>
            </a:pPr>
            <a:r>
              <a:rPr lang="zh-CN" altLang="en-US" sz="2800" dirty="0">
                <a:solidFill>
                  <a:schemeClr val="tx1"/>
                </a:solidFill>
              </a:rPr>
              <a:t>演示</a:t>
            </a:r>
            <a:r>
              <a:rPr lang="en-US" altLang="zh-CN" sz="2800" dirty="0">
                <a:solidFill>
                  <a:schemeClr val="tx1"/>
                </a:solidFill>
              </a:rPr>
              <a:t>SQL Server</a:t>
            </a:r>
            <a:r>
              <a:rPr lang="zh-CN" altLang="en-US" sz="2800" dirty="0">
                <a:solidFill>
                  <a:schemeClr val="tx1"/>
                </a:solidFill>
              </a:rPr>
              <a:t>的恢复技术</a:t>
            </a:r>
            <a:endParaRPr lang="zh-CN" altLang="en-US" sz="2800" dirty="0">
              <a:solidFill>
                <a:schemeClr val="tx1"/>
              </a:solidFill>
            </a:endParaRPr>
          </a:p>
          <a:p>
            <a:pPr lvl="1" eaLnBrk="1" hangingPunct="1">
              <a:lnSpc>
                <a:spcPct val="120000"/>
              </a:lnSpc>
              <a:spcBef>
                <a:spcPct val="0"/>
              </a:spcBef>
            </a:pPr>
            <a:r>
              <a:rPr lang="en-US" altLang="zh-CN" dirty="0"/>
              <a:t>1. </a:t>
            </a:r>
            <a:r>
              <a:rPr lang="zh-CN" altLang="en-US" dirty="0"/>
              <a:t>创建数据库、创建表、创建备份设备</a:t>
            </a:r>
            <a:endParaRPr lang="zh-CN" altLang="en-US" dirty="0"/>
          </a:p>
          <a:p>
            <a:pPr lvl="1" eaLnBrk="1" hangingPunct="1">
              <a:lnSpc>
                <a:spcPct val="120000"/>
              </a:lnSpc>
              <a:spcBef>
                <a:spcPct val="0"/>
              </a:spcBef>
            </a:pPr>
            <a:r>
              <a:rPr lang="en-US" altLang="zh-CN" dirty="0"/>
              <a:t>2. </a:t>
            </a:r>
            <a:r>
              <a:rPr lang="zh-CN" altLang="en-US" dirty="0"/>
              <a:t>在表中加入行</a:t>
            </a:r>
            <a:r>
              <a:rPr lang="en-US" altLang="zh-CN" dirty="0"/>
              <a:t>(</a:t>
            </a:r>
            <a:r>
              <a:rPr lang="zh-CN" altLang="en-US" dirty="0"/>
              <a:t>执行事务操作</a:t>
            </a:r>
            <a:r>
              <a:rPr lang="en-US" altLang="zh-CN" dirty="0"/>
              <a:t>)</a:t>
            </a:r>
            <a:endParaRPr lang="en-US" altLang="zh-CN" dirty="0"/>
          </a:p>
          <a:p>
            <a:pPr lvl="1" eaLnBrk="1" hangingPunct="1">
              <a:lnSpc>
                <a:spcPct val="120000"/>
              </a:lnSpc>
              <a:spcBef>
                <a:spcPct val="0"/>
              </a:spcBef>
            </a:pPr>
            <a:r>
              <a:rPr lang="en-US" altLang="zh-CN" dirty="0"/>
              <a:t>3. </a:t>
            </a:r>
            <a:r>
              <a:rPr lang="zh-CN" altLang="en-US" dirty="0"/>
              <a:t>备份数据库</a:t>
            </a:r>
            <a:endParaRPr lang="zh-CN" altLang="en-US" dirty="0"/>
          </a:p>
          <a:p>
            <a:pPr lvl="1" eaLnBrk="1" hangingPunct="1">
              <a:lnSpc>
                <a:spcPct val="120000"/>
              </a:lnSpc>
              <a:spcBef>
                <a:spcPct val="0"/>
              </a:spcBef>
            </a:pPr>
            <a:r>
              <a:rPr lang="en-US" altLang="zh-CN" dirty="0"/>
              <a:t>4. </a:t>
            </a:r>
            <a:r>
              <a:rPr lang="zh-CN" altLang="en-US" dirty="0"/>
              <a:t>向该表追加若干行</a:t>
            </a:r>
            <a:endParaRPr lang="zh-CN" altLang="en-US" dirty="0"/>
          </a:p>
          <a:p>
            <a:pPr lvl="1" eaLnBrk="1" hangingPunct="1">
              <a:lnSpc>
                <a:spcPct val="120000"/>
              </a:lnSpc>
              <a:spcBef>
                <a:spcPct val="0"/>
              </a:spcBef>
            </a:pPr>
            <a:r>
              <a:rPr lang="en-US" altLang="zh-CN" dirty="0"/>
              <a:t>5. </a:t>
            </a:r>
            <a:r>
              <a:rPr lang="zh-CN" altLang="en-US" dirty="0"/>
              <a:t>备份事务日志</a:t>
            </a:r>
            <a:endParaRPr lang="zh-CN" altLang="en-US" dirty="0"/>
          </a:p>
          <a:p>
            <a:pPr lvl="1" eaLnBrk="1" hangingPunct="1">
              <a:lnSpc>
                <a:spcPct val="120000"/>
              </a:lnSpc>
              <a:spcBef>
                <a:spcPct val="0"/>
              </a:spcBef>
            </a:pPr>
            <a:r>
              <a:rPr lang="en-US" altLang="zh-CN" dirty="0"/>
              <a:t>6. </a:t>
            </a:r>
            <a:r>
              <a:rPr lang="zh-CN" altLang="en-US" dirty="0"/>
              <a:t>再向该表中加入若干行</a:t>
            </a:r>
            <a:endParaRPr lang="zh-CN" altLang="en-US" dirty="0"/>
          </a:p>
          <a:p>
            <a:pPr lvl="1" eaLnBrk="1" hangingPunct="1">
              <a:lnSpc>
                <a:spcPct val="120000"/>
              </a:lnSpc>
              <a:spcBef>
                <a:spcPct val="0"/>
              </a:spcBef>
            </a:pPr>
            <a:r>
              <a:rPr lang="en-US" altLang="zh-CN" dirty="0"/>
              <a:t>7. </a:t>
            </a:r>
            <a:r>
              <a:rPr lang="zh-CN" altLang="en-US" dirty="0"/>
              <a:t>人为制造故障</a:t>
            </a:r>
            <a:r>
              <a:rPr lang="en-US" altLang="zh-CN" dirty="0"/>
              <a:t>(Stop</a:t>
            </a:r>
            <a:r>
              <a:rPr lang="zh-CN" altLang="en-US" dirty="0"/>
              <a:t>服务器后，删除数据库文件，再</a:t>
            </a:r>
            <a:r>
              <a:rPr lang="en-US" altLang="zh-CN" dirty="0"/>
              <a:t>Restart)</a:t>
            </a:r>
            <a:endParaRPr lang="en-US" altLang="zh-CN" dirty="0"/>
          </a:p>
          <a:p>
            <a:pPr lvl="1" eaLnBrk="1" hangingPunct="1">
              <a:lnSpc>
                <a:spcPct val="120000"/>
              </a:lnSpc>
              <a:spcBef>
                <a:spcPct val="0"/>
              </a:spcBef>
            </a:pPr>
            <a:r>
              <a:rPr lang="en-US" altLang="zh-CN" dirty="0"/>
              <a:t>8. </a:t>
            </a:r>
            <a:r>
              <a:rPr lang="zh-CN" altLang="en-US" dirty="0"/>
              <a:t>恢复到故障点</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192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10.8  SQL Server</a:t>
            </a:r>
            <a:r>
              <a:rPr lang="zh-CN" altLang="en-US" dirty="0"/>
              <a:t>的恢复技术</a:t>
            </a:r>
            <a:endParaRPr lang="zh-CN" altLang="en-US" dirty="0"/>
          </a:p>
        </p:txBody>
      </p:sp>
      <p:sp>
        <p:nvSpPr>
          <p:cNvPr id="81924" name="Rectangle 3"/>
          <p:cNvSpPr>
            <a:spLocks noGrp="1"/>
          </p:cNvSpPr>
          <p:nvPr>
            <p:ph idx="1"/>
          </p:nvPr>
        </p:nvSpPr>
        <p:spPr>
          <a:xfrm>
            <a:off x="347663" y="771525"/>
            <a:ext cx="8510587" cy="5913438"/>
          </a:xfrm>
          <a:ln/>
        </p:spPr>
        <p:txBody>
          <a:bodyPr vert="horz" wrap="square" lIns="91440" tIns="45720" rIns="91440" bIns="45720" anchor="t" anchorCtr="0"/>
          <a:p>
            <a:pPr lvl="1" eaLnBrk="1" hangingPunct="1">
              <a:lnSpc>
                <a:spcPct val="115000"/>
              </a:lnSpc>
              <a:spcBef>
                <a:spcPct val="0"/>
              </a:spcBef>
            </a:pPr>
            <a:r>
              <a:rPr lang="en-US" altLang="zh-CN" sz="2400" dirty="0"/>
              <a:t>1. </a:t>
            </a:r>
            <a:r>
              <a:rPr lang="zh-CN" altLang="en-US" sz="2400" dirty="0"/>
              <a:t>建表、备份设备</a:t>
            </a:r>
            <a:endParaRPr lang="zh-CN" altLang="en-US" sz="2400" dirty="0"/>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create table</a:t>
            </a:r>
            <a:r>
              <a:rPr lang="en-US" altLang="zh-CN" sz="2400" i="1" dirty="0">
                <a:latin typeface="Arial Narrow" panose="020B0606020202030204" pitchFamily="34" charset="0"/>
              </a:rPr>
              <a:t>  t(</a:t>
            </a:r>
            <a:r>
              <a:rPr lang="en-US" altLang="zh-CN" sz="2400" i="1" dirty="0">
                <a:solidFill>
                  <a:srgbClr val="0000CC"/>
                </a:solidFill>
                <a:latin typeface="Arial Narrow" panose="020B0606020202030204" pitchFamily="34" charset="0"/>
              </a:rPr>
              <a:t>no int</a:t>
            </a:r>
            <a:r>
              <a:rPr lang="en-US" altLang="zh-CN" sz="2400" i="1" dirty="0">
                <a:latin typeface="Arial Narrow" panose="020B0606020202030204" pitchFamily="34" charset="0"/>
              </a:rPr>
              <a:t> not null </a:t>
            </a:r>
            <a:r>
              <a:rPr lang="en-US" altLang="zh-CN" sz="2400" i="1" dirty="0">
                <a:solidFill>
                  <a:srgbClr val="0000CC"/>
                </a:solidFill>
                <a:latin typeface="Arial Narrow" panose="020B0606020202030204" pitchFamily="34" charset="0"/>
              </a:rPr>
              <a:t>primary key</a:t>
            </a:r>
            <a:r>
              <a:rPr lang="en-US" altLang="zh-CN" sz="2400" i="1" dirty="0">
                <a:latin typeface="Arial Narrow" panose="020B0606020202030204" pitchFamily="34" charset="0"/>
              </a:rPr>
              <a:t>, moment </a:t>
            </a:r>
            <a:r>
              <a:rPr lang="en-US" altLang="zh-CN" sz="2400" i="1" dirty="0">
                <a:solidFill>
                  <a:srgbClr val="0000CC"/>
                </a:solidFill>
                <a:latin typeface="Arial Narrow" panose="020B0606020202030204" pitchFamily="34" charset="0"/>
              </a:rPr>
              <a:t>datetime</a:t>
            </a:r>
            <a:r>
              <a:rPr lang="en-US" altLang="zh-CN" sz="2400" i="1" dirty="0">
                <a:latin typeface="Arial Narrow" panose="020B0606020202030204" pitchFamily="34" charset="0"/>
              </a:rPr>
              <a:t>)</a:t>
            </a:r>
            <a:endParaRPr lang="en-US" altLang="zh-CN" sz="2400" i="1" dirty="0">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EXEC</a:t>
            </a:r>
            <a:r>
              <a:rPr lang="en-US" altLang="zh-CN" sz="2400" i="1" dirty="0">
                <a:latin typeface="Arial Narrow" panose="020B0606020202030204" pitchFamily="34" charset="0"/>
              </a:rPr>
              <a:t> </a:t>
            </a:r>
            <a:r>
              <a:rPr lang="en-US" altLang="zh-CN" sz="2400" i="1" dirty="0">
                <a:solidFill>
                  <a:srgbClr val="FF3300"/>
                </a:solidFill>
                <a:latin typeface="Arial Narrow" panose="020B0606020202030204" pitchFamily="34" charset="0"/>
              </a:rPr>
              <a:t>sp_addumpdevice 'disk', 'mydiskdump', 'c:\demo\dump1.bak'</a:t>
            </a:r>
            <a:endParaRPr lang="en-US" altLang="zh-CN" sz="2400" i="1" dirty="0">
              <a:solidFill>
                <a:srgbClr val="FF3300"/>
              </a:solidFill>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EXEC</a:t>
            </a:r>
            <a:r>
              <a:rPr lang="en-US" altLang="zh-CN" sz="2400" i="1" dirty="0">
                <a:latin typeface="Arial Narrow" panose="020B0606020202030204" pitchFamily="34" charset="0"/>
              </a:rPr>
              <a:t> </a:t>
            </a:r>
            <a:r>
              <a:rPr lang="en-US" altLang="zh-CN" sz="2400" i="1" dirty="0">
                <a:solidFill>
                  <a:srgbClr val="FF3300"/>
                </a:solidFill>
                <a:latin typeface="Arial Narrow" panose="020B0606020202030204" pitchFamily="34" charset="0"/>
              </a:rPr>
              <a:t>sp_addumpdevice 'disk', 'mylogdump', 'c:\demo\dump2.bak'</a:t>
            </a:r>
            <a:endParaRPr lang="en-US" altLang="zh-CN" sz="2400" i="1" dirty="0">
              <a:solidFill>
                <a:srgbClr val="FF3300"/>
              </a:solidFill>
              <a:latin typeface="Arial Narrow" panose="020B0606020202030204" pitchFamily="34" charset="0"/>
            </a:endParaRPr>
          </a:p>
          <a:p>
            <a:pPr lvl="1" eaLnBrk="1" hangingPunct="1">
              <a:lnSpc>
                <a:spcPct val="115000"/>
              </a:lnSpc>
              <a:spcBef>
                <a:spcPct val="0"/>
              </a:spcBef>
            </a:pPr>
            <a:r>
              <a:rPr lang="en-US" altLang="zh-CN" sz="2400" dirty="0"/>
              <a:t>2. </a:t>
            </a:r>
            <a:r>
              <a:rPr lang="zh-CN" altLang="en-US" sz="2400" dirty="0"/>
              <a:t>在表中加入行</a:t>
            </a:r>
            <a:r>
              <a:rPr lang="en-US" altLang="zh-CN" sz="2400" dirty="0"/>
              <a:t>(</a:t>
            </a:r>
            <a:r>
              <a:rPr lang="zh-CN" altLang="en-US" sz="2400" dirty="0"/>
              <a:t>执行事务操作</a:t>
            </a:r>
            <a:r>
              <a:rPr lang="en-US" altLang="zh-CN" sz="2400" dirty="0"/>
              <a:t>)</a:t>
            </a:r>
            <a:endParaRPr lang="en-US" altLang="zh-CN" sz="2400" dirty="0"/>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declare</a:t>
            </a:r>
            <a:r>
              <a:rPr lang="en-US" altLang="zh-CN" sz="2400" i="1" dirty="0">
                <a:latin typeface="Arial Narrow" panose="020B0606020202030204" pitchFamily="34" charset="0"/>
              </a:rPr>
              <a:t> @i </a:t>
            </a:r>
            <a:r>
              <a:rPr lang="en-US" altLang="zh-CN" sz="2400" i="1" dirty="0">
                <a:solidFill>
                  <a:srgbClr val="0000CC"/>
                </a:solidFill>
                <a:latin typeface="Arial Narrow" panose="020B0606020202030204" pitchFamily="34" charset="0"/>
              </a:rPr>
              <a:t>int</a:t>
            </a:r>
            <a:endParaRPr lang="en-US" altLang="zh-CN" sz="2400" i="1" dirty="0">
              <a:solidFill>
                <a:srgbClr val="0000CC"/>
              </a:solidFill>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select</a:t>
            </a:r>
            <a:r>
              <a:rPr lang="en-US" altLang="zh-CN" sz="2400" i="1" dirty="0">
                <a:latin typeface="Arial Narrow" panose="020B0606020202030204" pitchFamily="34" charset="0"/>
              </a:rPr>
              <a:t> @i = 1</a:t>
            </a:r>
            <a:endParaRPr lang="en-US" altLang="zh-CN" sz="2400" i="1" dirty="0">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while</a:t>
            </a:r>
            <a:r>
              <a:rPr lang="en-US" altLang="zh-CN" sz="2400" i="1" dirty="0">
                <a:latin typeface="Arial Narrow" panose="020B0606020202030204" pitchFamily="34" charset="0"/>
              </a:rPr>
              <a:t> @i &lt;= 3 </a:t>
            </a:r>
            <a:endParaRPr lang="en-US" altLang="zh-CN" sz="2400" i="1" dirty="0">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begin</a:t>
            </a:r>
            <a:endParaRPr lang="en-US" altLang="zh-CN" sz="2400" i="1" dirty="0">
              <a:solidFill>
                <a:srgbClr val="0000CC"/>
              </a:solidFill>
              <a:latin typeface="Arial Narrow" panose="020B0606020202030204" pitchFamily="34" charset="0"/>
            </a:endParaRPr>
          </a:p>
          <a:p>
            <a:pPr lvl="1" eaLnBrk="1" hangingPunct="1">
              <a:lnSpc>
                <a:spcPct val="115000"/>
              </a:lnSpc>
              <a:spcBef>
                <a:spcPct val="0"/>
              </a:spcBef>
              <a:buNone/>
            </a:pPr>
            <a:r>
              <a:rPr lang="en-US" altLang="zh-CN" sz="2400" i="1" dirty="0">
                <a:latin typeface="Arial Narrow" panose="020B0606020202030204" pitchFamily="34" charset="0"/>
              </a:rPr>
              <a:t>  </a:t>
            </a:r>
            <a:r>
              <a:rPr lang="en-US" altLang="zh-CN" sz="2400" i="1" dirty="0">
                <a:solidFill>
                  <a:srgbClr val="0000CC"/>
                </a:solidFill>
                <a:latin typeface="Arial Narrow" panose="020B0606020202030204" pitchFamily="34" charset="0"/>
              </a:rPr>
              <a:t>insert into</a:t>
            </a:r>
            <a:r>
              <a:rPr lang="en-US" altLang="zh-CN" sz="2400" i="1" dirty="0">
                <a:latin typeface="Arial Narrow" panose="020B0606020202030204" pitchFamily="34" charset="0"/>
              </a:rPr>
              <a:t> t  </a:t>
            </a:r>
            <a:r>
              <a:rPr lang="en-US" altLang="zh-CN" sz="2400" i="1" dirty="0">
                <a:solidFill>
                  <a:srgbClr val="0000CC"/>
                </a:solidFill>
                <a:latin typeface="Arial Narrow" panose="020B0606020202030204" pitchFamily="34" charset="0"/>
              </a:rPr>
              <a:t>values</a:t>
            </a:r>
            <a:r>
              <a:rPr lang="en-US" altLang="zh-CN" sz="2400" i="1" dirty="0">
                <a:latin typeface="Arial Narrow" panose="020B0606020202030204" pitchFamily="34" charset="0"/>
              </a:rPr>
              <a:t> (@i, </a:t>
            </a:r>
            <a:r>
              <a:rPr lang="en-US" altLang="zh-CN" sz="2400" i="1" dirty="0">
                <a:solidFill>
                  <a:srgbClr val="FF3300"/>
                </a:solidFill>
                <a:latin typeface="Arial Narrow" panose="020B0606020202030204" pitchFamily="34" charset="0"/>
              </a:rPr>
              <a:t>cast</a:t>
            </a:r>
            <a:r>
              <a:rPr lang="en-US" altLang="zh-CN" sz="2400" i="1" dirty="0">
                <a:latin typeface="Arial Narrow" panose="020B0606020202030204" pitchFamily="34" charset="0"/>
              </a:rPr>
              <a:t>(</a:t>
            </a:r>
            <a:r>
              <a:rPr lang="en-US" altLang="zh-CN" sz="2400" i="1" dirty="0">
                <a:solidFill>
                  <a:srgbClr val="FF3300"/>
                </a:solidFill>
                <a:latin typeface="Arial Narrow" panose="020B0606020202030204" pitchFamily="34" charset="0"/>
              </a:rPr>
              <a:t>getdate</a:t>
            </a:r>
            <a:r>
              <a:rPr lang="en-US" altLang="zh-CN" sz="2400" i="1" dirty="0">
                <a:latin typeface="Arial Narrow" panose="020B0606020202030204" pitchFamily="34" charset="0"/>
              </a:rPr>
              <a:t>() </a:t>
            </a:r>
            <a:r>
              <a:rPr lang="en-US" altLang="zh-CN" sz="2400" i="1" dirty="0">
                <a:solidFill>
                  <a:srgbClr val="0000CC"/>
                </a:solidFill>
                <a:latin typeface="Arial Narrow" panose="020B0606020202030204" pitchFamily="34" charset="0"/>
              </a:rPr>
              <a:t>as char</a:t>
            </a:r>
            <a:r>
              <a:rPr lang="en-US" altLang="zh-CN" sz="2400" i="1" dirty="0">
                <a:latin typeface="Arial Narrow" panose="020B0606020202030204" pitchFamily="34" charset="0"/>
              </a:rPr>
              <a:t>(20)))</a:t>
            </a:r>
            <a:endParaRPr lang="en-US" altLang="zh-CN" sz="2400" i="1" dirty="0">
              <a:latin typeface="Arial Narrow" panose="020B0606020202030204" pitchFamily="34" charset="0"/>
            </a:endParaRPr>
          </a:p>
          <a:p>
            <a:pPr lvl="1" eaLnBrk="1" hangingPunct="1">
              <a:lnSpc>
                <a:spcPct val="115000"/>
              </a:lnSpc>
              <a:spcBef>
                <a:spcPct val="0"/>
              </a:spcBef>
              <a:buNone/>
            </a:pPr>
            <a:r>
              <a:rPr lang="en-US" altLang="zh-CN" sz="2400" i="1" dirty="0">
                <a:latin typeface="Arial Narrow" panose="020B0606020202030204" pitchFamily="34" charset="0"/>
              </a:rPr>
              <a:t>  </a:t>
            </a:r>
            <a:r>
              <a:rPr lang="en-US" altLang="zh-CN" sz="2400" i="1" dirty="0">
                <a:solidFill>
                  <a:srgbClr val="0000CC"/>
                </a:solidFill>
                <a:latin typeface="Arial Narrow" panose="020B0606020202030204" pitchFamily="34" charset="0"/>
              </a:rPr>
              <a:t>select </a:t>
            </a:r>
            <a:r>
              <a:rPr lang="en-US" altLang="zh-CN" sz="2400" i="1" dirty="0">
                <a:latin typeface="Arial Narrow" panose="020B0606020202030204" pitchFamily="34" charset="0"/>
              </a:rPr>
              <a:t>@i = @i + 1</a:t>
            </a:r>
            <a:endParaRPr lang="en-US" altLang="zh-CN" sz="2400" i="1" dirty="0">
              <a:latin typeface="Arial Narrow" panose="020B0606020202030204" pitchFamily="34" charset="0"/>
            </a:endParaRPr>
          </a:p>
          <a:p>
            <a:pPr lvl="1" eaLnBrk="1" hangingPunct="1">
              <a:lnSpc>
                <a:spcPct val="115000"/>
              </a:lnSpc>
              <a:spcBef>
                <a:spcPct val="0"/>
              </a:spcBef>
              <a:buNone/>
            </a:pPr>
            <a:r>
              <a:rPr lang="en-US" altLang="zh-CN" sz="2400" i="1" dirty="0">
                <a:solidFill>
                  <a:srgbClr val="0000CC"/>
                </a:solidFill>
                <a:latin typeface="Arial Narrow" panose="020B0606020202030204" pitchFamily="34" charset="0"/>
              </a:rPr>
              <a:t>end</a:t>
            </a:r>
            <a:endParaRPr lang="en-US" altLang="zh-CN" sz="2400" i="1" dirty="0">
              <a:solidFill>
                <a:srgbClr val="0000CC"/>
              </a:solidFill>
              <a:latin typeface="Arial Narrow" panose="020B060602020203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294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10.8  SQL Server</a:t>
            </a:r>
            <a:r>
              <a:rPr lang="zh-CN" altLang="en-US" dirty="0"/>
              <a:t>的恢复技术</a:t>
            </a:r>
            <a:endParaRPr lang="zh-CN" altLang="en-US" dirty="0"/>
          </a:p>
        </p:txBody>
      </p:sp>
      <p:sp>
        <p:nvSpPr>
          <p:cNvPr id="82948" name="Rectangle 3"/>
          <p:cNvSpPr>
            <a:spLocks noGrp="1"/>
          </p:cNvSpPr>
          <p:nvPr>
            <p:ph idx="1"/>
          </p:nvPr>
        </p:nvSpPr>
        <p:spPr>
          <a:xfrm>
            <a:off x="347663" y="771525"/>
            <a:ext cx="8510587" cy="5726113"/>
          </a:xfrm>
          <a:ln/>
        </p:spPr>
        <p:txBody>
          <a:bodyPr vert="horz" wrap="square" lIns="91440" tIns="45720" rIns="91440" bIns="45720" anchor="t" anchorCtr="0"/>
          <a:p>
            <a:pPr lvl="1" eaLnBrk="1" hangingPunct="1">
              <a:lnSpc>
                <a:spcPct val="120000"/>
              </a:lnSpc>
              <a:spcBef>
                <a:spcPct val="0"/>
              </a:spcBef>
            </a:pPr>
            <a:r>
              <a:rPr lang="en-US" altLang="zh-CN" sz="2400" dirty="0"/>
              <a:t>3. </a:t>
            </a:r>
            <a:r>
              <a:rPr lang="zh-CN" altLang="en-US" sz="2400" dirty="0"/>
              <a:t>备份数据库</a:t>
            </a:r>
            <a:endParaRPr lang="zh-CN" altLang="en-US" sz="2400" dirty="0"/>
          </a:p>
          <a:p>
            <a:pPr lvl="1" eaLnBrk="1" hangingPunct="1">
              <a:lnSpc>
                <a:spcPct val="120000"/>
              </a:lnSpc>
              <a:spcBef>
                <a:spcPct val="0"/>
              </a:spcBef>
              <a:buNone/>
            </a:pPr>
            <a:r>
              <a:rPr lang="en-US" altLang="zh-CN" sz="2400" i="1" dirty="0">
                <a:solidFill>
                  <a:srgbClr val="0000CC"/>
                </a:solidFill>
              </a:rPr>
              <a:t>backup database</a:t>
            </a:r>
            <a:r>
              <a:rPr lang="en-US" altLang="zh-CN" sz="2400" i="1" dirty="0"/>
              <a:t> example</a:t>
            </a:r>
            <a:r>
              <a:rPr lang="en-US" altLang="zh-CN" sz="2400" i="1" dirty="0">
                <a:solidFill>
                  <a:srgbClr val="0000CC"/>
                </a:solidFill>
              </a:rPr>
              <a:t> to</a:t>
            </a:r>
            <a:r>
              <a:rPr lang="en-US" altLang="zh-CN" sz="2400" i="1" dirty="0"/>
              <a:t> mydiskdump</a:t>
            </a:r>
            <a:endParaRPr lang="en-US" altLang="zh-CN" sz="2400" i="1" dirty="0"/>
          </a:p>
          <a:p>
            <a:pPr lvl="1" eaLnBrk="1" hangingPunct="1">
              <a:lnSpc>
                <a:spcPct val="120000"/>
              </a:lnSpc>
              <a:spcBef>
                <a:spcPct val="0"/>
              </a:spcBef>
            </a:pPr>
            <a:r>
              <a:rPr lang="en-US" altLang="zh-CN" sz="2400" dirty="0"/>
              <a:t>4. </a:t>
            </a:r>
            <a:r>
              <a:rPr lang="zh-CN" altLang="en-US" sz="2400" dirty="0"/>
              <a:t>向该表追加若干行</a:t>
            </a:r>
            <a:endParaRPr lang="zh-CN" altLang="en-US" sz="2400" dirty="0"/>
          </a:p>
          <a:p>
            <a:pPr lvl="1" eaLnBrk="1" hangingPunct="1">
              <a:lnSpc>
                <a:spcPct val="120000"/>
              </a:lnSpc>
              <a:spcBef>
                <a:spcPct val="0"/>
              </a:spcBef>
              <a:buNone/>
            </a:pPr>
            <a:r>
              <a:rPr lang="zh-CN" altLang="en-US" sz="2400" i="1" dirty="0"/>
              <a:t>参考</a:t>
            </a:r>
            <a:r>
              <a:rPr lang="en-US" altLang="zh-CN" sz="2400" i="1" dirty="0"/>
              <a:t>2,</a:t>
            </a:r>
            <a:r>
              <a:rPr lang="zh-CN" altLang="en-US" sz="2400" i="1" dirty="0"/>
              <a:t>再添第</a:t>
            </a:r>
            <a:r>
              <a:rPr lang="en-US" altLang="zh-CN" sz="2400" i="1" dirty="0"/>
              <a:t>4-</a:t>
            </a:r>
            <a:r>
              <a:rPr lang="zh-CN" altLang="en-US" sz="2400" i="1" dirty="0"/>
              <a:t>至第</a:t>
            </a:r>
            <a:r>
              <a:rPr lang="en-US" altLang="zh-CN" sz="2400" i="1" dirty="0"/>
              <a:t>7</a:t>
            </a:r>
            <a:r>
              <a:rPr lang="zh-CN" altLang="en-US" sz="2400" i="1" dirty="0"/>
              <a:t>行数据</a:t>
            </a:r>
            <a:endParaRPr lang="zh-CN" altLang="en-US" sz="2400" i="1" dirty="0"/>
          </a:p>
          <a:p>
            <a:pPr lvl="1" eaLnBrk="1" hangingPunct="1">
              <a:lnSpc>
                <a:spcPct val="120000"/>
              </a:lnSpc>
              <a:spcBef>
                <a:spcPct val="0"/>
              </a:spcBef>
            </a:pPr>
            <a:r>
              <a:rPr lang="zh-CN" altLang="en-US" sz="2400" i="1" dirty="0"/>
              <a:t>差异备份*</a:t>
            </a:r>
            <a:endParaRPr lang="zh-CN" altLang="en-US" sz="2400" i="1" dirty="0"/>
          </a:p>
          <a:p>
            <a:pPr lvl="1" eaLnBrk="1" hangingPunct="1">
              <a:lnSpc>
                <a:spcPct val="120000"/>
              </a:lnSpc>
              <a:spcBef>
                <a:spcPct val="0"/>
              </a:spcBef>
              <a:buNone/>
            </a:pPr>
            <a:r>
              <a:rPr lang="en-US" altLang="zh-CN" sz="2400" i="1" dirty="0">
                <a:solidFill>
                  <a:srgbClr val="0000CC"/>
                </a:solidFill>
              </a:rPr>
              <a:t>BACKUP DATABASE</a:t>
            </a:r>
            <a:r>
              <a:rPr lang="en-US" altLang="zh-CN" sz="2400" i="1" dirty="0"/>
              <a:t> example </a:t>
            </a:r>
            <a:r>
              <a:rPr lang="en-US" altLang="zh-CN" sz="2400" i="1" dirty="0">
                <a:solidFill>
                  <a:srgbClr val="0000CC"/>
                </a:solidFill>
              </a:rPr>
              <a:t>TO </a:t>
            </a:r>
            <a:r>
              <a:rPr lang="en-US" altLang="zh-CN" sz="2400" i="1" dirty="0"/>
              <a:t>MyDiskDump  </a:t>
            </a:r>
            <a:r>
              <a:rPr lang="en-US" altLang="zh-CN" sz="2400" i="1" dirty="0">
                <a:solidFill>
                  <a:srgbClr val="0000CC"/>
                </a:solidFill>
              </a:rPr>
              <a:t>WITH DIFFERENTIAL</a:t>
            </a:r>
            <a:r>
              <a:rPr lang="en-US" altLang="zh-CN" sz="2400" i="1" dirty="0"/>
              <a:t>(</a:t>
            </a:r>
            <a:r>
              <a:rPr lang="zh-CN" altLang="en-US" sz="2400" i="1" dirty="0"/>
              <a:t>仅作示范，本例恢复时未用此数据</a:t>
            </a:r>
            <a:r>
              <a:rPr lang="en-US" altLang="zh-CN" sz="2400" i="1" dirty="0"/>
              <a:t>)</a:t>
            </a:r>
            <a:endParaRPr lang="en-US" altLang="zh-CN" sz="2400" i="1" dirty="0"/>
          </a:p>
          <a:p>
            <a:pPr lvl="1" eaLnBrk="1" hangingPunct="1">
              <a:lnSpc>
                <a:spcPct val="120000"/>
              </a:lnSpc>
              <a:spcBef>
                <a:spcPct val="0"/>
              </a:spcBef>
            </a:pPr>
            <a:r>
              <a:rPr lang="en-US" altLang="zh-CN" sz="2400" dirty="0"/>
              <a:t>5. </a:t>
            </a:r>
            <a:r>
              <a:rPr lang="zh-CN" altLang="en-US" sz="2400" dirty="0"/>
              <a:t>备份事务日志</a:t>
            </a:r>
            <a:endParaRPr lang="zh-CN" altLang="en-US" sz="2400" dirty="0"/>
          </a:p>
          <a:p>
            <a:pPr lvl="1" eaLnBrk="1" hangingPunct="1">
              <a:lnSpc>
                <a:spcPct val="120000"/>
              </a:lnSpc>
              <a:spcBef>
                <a:spcPct val="0"/>
              </a:spcBef>
              <a:buNone/>
            </a:pPr>
            <a:r>
              <a:rPr lang="en-US" altLang="zh-CN" sz="2400" i="1" dirty="0">
                <a:solidFill>
                  <a:srgbClr val="0000CC"/>
                </a:solidFill>
              </a:rPr>
              <a:t>BACKUP LOG</a:t>
            </a:r>
            <a:r>
              <a:rPr lang="en-US" altLang="zh-CN" sz="2400" i="1" dirty="0"/>
              <a:t> example </a:t>
            </a:r>
            <a:r>
              <a:rPr lang="en-US" altLang="zh-CN" sz="2400" i="1" dirty="0">
                <a:solidFill>
                  <a:srgbClr val="0000CC"/>
                </a:solidFill>
              </a:rPr>
              <a:t>TO</a:t>
            </a:r>
            <a:r>
              <a:rPr lang="en-US" altLang="zh-CN" sz="2400" i="1" dirty="0"/>
              <a:t> MyLogDump1</a:t>
            </a:r>
            <a:endParaRPr lang="en-US" altLang="zh-CN" sz="2400" i="1" dirty="0"/>
          </a:p>
          <a:p>
            <a:pPr lvl="1" eaLnBrk="1" hangingPunct="1">
              <a:lnSpc>
                <a:spcPct val="120000"/>
              </a:lnSpc>
              <a:spcBef>
                <a:spcPct val="0"/>
              </a:spcBef>
            </a:pPr>
            <a:r>
              <a:rPr lang="en-US" altLang="zh-CN" sz="2400" dirty="0"/>
              <a:t>6. </a:t>
            </a:r>
            <a:r>
              <a:rPr lang="zh-CN" altLang="en-US" sz="2400" dirty="0"/>
              <a:t>再向该表中加入若干行</a:t>
            </a:r>
            <a:endParaRPr lang="zh-CN" altLang="en-US" sz="2400" dirty="0"/>
          </a:p>
          <a:p>
            <a:pPr lvl="1" eaLnBrk="1" hangingPunct="1">
              <a:lnSpc>
                <a:spcPct val="120000"/>
              </a:lnSpc>
              <a:spcBef>
                <a:spcPct val="0"/>
              </a:spcBef>
            </a:pPr>
            <a:r>
              <a:rPr lang="en-US" altLang="zh-CN" sz="2400" dirty="0"/>
              <a:t>7. </a:t>
            </a:r>
            <a:r>
              <a:rPr lang="zh-CN" altLang="en-US" sz="2400" dirty="0"/>
              <a:t>人为制造故障</a:t>
            </a:r>
            <a:r>
              <a:rPr lang="en-US" altLang="zh-CN" sz="2400" dirty="0"/>
              <a:t>(Stop</a:t>
            </a:r>
            <a:r>
              <a:rPr lang="zh-CN" altLang="en-US" sz="2400" dirty="0"/>
              <a:t>服务器后，删除数据库文件，再</a:t>
            </a:r>
            <a:r>
              <a:rPr lang="en-US" altLang="zh-CN" sz="2400" dirty="0"/>
              <a:t>Restart)</a:t>
            </a:r>
            <a:endParaRPr lang="en-US" altLang="zh-CN"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3971"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10.8  SQL Server</a:t>
            </a:r>
            <a:r>
              <a:rPr lang="zh-CN" altLang="en-US" dirty="0"/>
              <a:t>的恢复技术</a:t>
            </a:r>
            <a:endParaRPr lang="zh-CN" altLang="en-US" dirty="0"/>
          </a:p>
        </p:txBody>
      </p:sp>
      <p:sp>
        <p:nvSpPr>
          <p:cNvPr id="83972" name="Rectangle 3"/>
          <p:cNvSpPr>
            <a:spLocks noGrp="1"/>
          </p:cNvSpPr>
          <p:nvPr>
            <p:ph idx="1"/>
          </p:nvPr>
        </p:nvSpPr>
        <p:spPr>
          <a:xfrm>
            <a:off x="347663" y="771525"/>
            <a:ext cx="8510587" cy="5726113"/>
          </a:xfrm>
          <a:ln/>
        </p:spPr>
        <p:txBody>
          <a:bodyPr vert="horz" wrap="square" lIns="91440" tIns="45720" rIns="91440" bIns="45720" anchor="t" anchorCtr="0"/>
          <a:p>
            <a:pPr lvl="1" eaLnBrk="1" hangingPunct="1">
              <a:lnSpc>
                <a:spcPct val="120000"/>
              </a:lnSpc>
              <a:spcBef>
                <a:spcPct val="0"/>
              </a:spcBef>
            </a:pPr>
            <a:r>
              <a:rPr lang="en-US" altLang="zh-CN" sz="2400" dirty="0"/>
              <a:t>8. </a:t>
            </a:r>
            <a:r>
              <a:rPr lang="zh-CN" altLang="en-US" sz="2400" dirty="0"/>
              <a:t>恢复到故障点</a:t>
            </a:r>
            <a:endParaRPr lang="zh-CN" altLang="en-US" sz="2400" dirty="0"/>
          </a:p>
          <a:p>
            <a:pPr lvl="1" eaLnBrk="1" hangingPunct="1">
              <a:lnSpc>
                <a:spcPct val="120000"/>
              </a:lnSpc>
              <a:spcBef>
                <a:spcPct val="0"/>
              </a:spcBef>
              <a:buNone/>
            </a:pPr>
            <a:r>
              <a:rPr lang="en-US" altLang="zh-CN" sz="2400" dirty="0"/>
              <a:t>--</a:t>
            </a:r>
            <a:r>
              <a:rPr lang="zh-CN" altLang="en-US" sz="2400" dirty="0"/>
              <a:t>备份活动日志</a:t>
            </a:r>
            <a:endParaRPr lang="zh-CN" altLang="en-US" sz="2400" dirty="0"/>
          </a:p>
          <a:p>
            <a:pPr lvl="1" eaLnBrk="1" hangingPunct="1">
              <a:lnSpc>
                <a:spcPct val="120000"/>
              </a:lnSpc>
              <a:spcBef>
                <a:spcPct val="0"/>
              </a:spcBef>
              <a:buNone/>
            </a:pPr>
            <a:r>
              <a:rPr lang="en-US" altLang="zh-CN" sz="2400" i="1" dirty="0">
                <a:solidFill>
                  <a:srgbClr val="0000CC"/>
                </a:solidFill>
              </a:rPr>
              <a:t>BACKUP LOG</a:t>
            </a:r>
            <a:r>
              <a:rPr lang="en-US" altLang="zh-CN" sz="2400" i="1" dirty="0"/>
              <a:t> example </a:t>
            </a:r>
            <a:r>
              <a:rPr lang="en-US" altLang="zh-CN" sz="2400" i="1" dirty="0">
                <a:solidFill>
                  <a:srgbClr val="0000CC"/>
                </a:solidFill>
              </a:rPr>
              <a:t>TO</a:t>
            </a:r>
            <a:r>
              <a:rPr lang="en-US" altLang="zh-CN" sz="2400" i="1" dirty="0"/>
              <a:t> MyLogDump2 </a:t>
            </a:r>
            <a:r>
              <a:rPr lang="en-US" altLang="zh-CN" sz="2400" i="1" dirty="0">
                <a:solidFill>
                  <a:srgbClr val="0000CC"/>
                </a:solidFill>
              </a:rPr>
              <a:t>WITH NO_TRUNCATE</a:t>
            </a:r>
            <a:endParaRPr lang="en-US" altLang="zh-CN" sz="2400" i="1" dirty="0">
              <a:solidFill>
                <a:srgbClr val="0000CC"/>
              </a:solidFill>
            </a:endParaRPr>
          </a:p>
          <a:p>
            <a:pPr lvl="1" eaLnBrk="1" hangingPunct="1">
              <a:lnSpc>
                <a:spcPct val="120000"/>
              </a:lnSpc>
              <a:spcBef>
                <a:spcPct val="0"/>
              </a:spcBef>
              <a:buNone/>
            </a:pPr>
            <a:r>
              <a:rPr lang="en-US" altLang="zh-CN" sz="2400" dirty="0"/>
              <a:t>-- </a:t>
            </a:r>
            <a:r>
              <a:rPr lang="zh-CN" altLang="en-US" sz="2400" dirty="0"/>
              <a:t>还原最新的一份备份</a:t>
            </a:r>
            <a:endParaRPr lang="zh-CN" altLang="en-US" sz="2400" dirty="0"/>
          </a:p>
          <a:p>
            <a:pPr lvl="1" eaLnBrk="1" hangingPunct="1">
              <a:lnSpc>
                <a:spcPct val="120000"/>
              </a:lnSpc>
              <a:spcBef>
                <a:spcPct val="0"/>
              </a:spcBef>
              <a:buNone/>
            </a:pPr>
            <a:r>
              <a:rPr lang="en-US" altLang="zh-CN" sz="2400" i="1" dirty="0">
                <a:solidFill>
                  <a:srgbClr val="0000CC"/>
                </a:solidFill>
              </a:rPr>
              <a:t>RESTORE DATABASE</a:t>
            </a:r>
            <a:r>
              <a:rPr lang="en-US" altLang="zh-CN" sz="2400" i="1" dirty="0"/>
              <a:t> example </a:t>
            </a:r>
            <a:r>
              <a:rPr lang="en-US" altLang="zh-CN" sz="2400" i="1" dirty="0">
                <a:solidFill>
                  <a:srgbClr val="0000CC"/>
                </a:solidFill>
              </a:rPr>
              <a:t> FROM</a:t>
            </a:r>
            <a:r>
              <a:rPr lang="en-US" altLang="zh-CN" sz="2400" i="1" dirty="0"/>
              <a:t> MyDiskDump  </a:t>
            </a:r>
            <a:r>
              <a:rPr lang="en-US" altLang="zh-CN" sz="2400" i="1" dirty="0">
                <a:solidFill>
                  <a:srgbClr val="0000CC"/>
                </a:solidFill>
              </a:rPr>
              <a:t>WITH NORECOVERY</a:t>
            </a:r>
            <a:endParaRPr lang="en-US" altLang="zh-CN" sz="2400" i="1" dirty="0">
              <a:solidFill>
                <a:srgbClr val="0000CC"/>
              </a:solidFill>
            </a:endParaRPr>
          </a:p>
          <a:p>
            <a:pPr lvl="1" eaLnBrk="1" hangingPunct="1">
              <a:lnSpc>
                <a:spcPct val="120000"/>
              </a:lnSpc>
              <a:spcBef>
                <a:spcPct val="0"/>
              </a:spcBef>
              <a:buNone/>
            </a:pPr>
            <a:r>
              <a:rPr lang="en-US" altLang="zh-CN" sz="2400" dirty="0"/>
              <a:t>-- </a:t>
            </a:r>
            <a:r>
              <a:rPr lang="zh-CN" altLang="en-US" sz="2400" dirty="0"/>
              <a:t>依次恢复每个备份日志</a:t>
            </a:r>
            <a:endParaRPr lang="zh-CN" altLang="en-US" sz="2400" dirty="0"/>
          </a:p>
          <a:p>
            <a:pPr lvl="1" eaLnBrk="1" hangingPunct="1">
              <a:lnSpc>
                <a:spcPct val="120000"/>
              </a:lnSpc>
              <a:spcBef>
                <a:spcPct val="0"/>
              </a:spcBef>
              <a:buNone/>
            </a:pPr>
            <a:r>
              <a:rPr lang="en-US" altLang="zh-CN" sz="2400" i="1" dirty="0">
                <a:solidFill>
                  <a:srgbClr val="0000CC"/>
                </a:solidFill>
              </a:rPr>
              <a:t>RESTORE LOG</a:t>
            </a:r>
            <a:r>
              <a:rPr lang="en-US" altLang="zh-CN" sz="2400" i="1" dirty="0"/>
              <a:t> example</a:t>
            </a:r>
            <a:r>
              <a:rPr lang="en-US" altLang="zh-CN" sz="2400" i="1" dirty="0">
                <a:solidFill>
                  <a:srgbClr val="0000CC"/>
                </a:solidFill>
              </a:rPr>
              <a:t> FROM</a:t>
            </a:r>
            <a:r>
              <a:rPr lang="en-US" altLang="zh-CN" sz="2400" i="1" dirty="0"/>
              <a:t> MyLogDump1 </a:t>
            </a:r>
            <a:r>
              <a:rPr lang="en-US" altLang="zh-CN" sz="2400" i="1" dirty="0">
                <a:solidFill>
                  <a:srgbClr val="0000CC"/>
                </a:solidFill>
              </a:rPr>
              <a:t>WITH NORECOVERY</a:t>
            </a:r>
            <a:endParaRPr lang="en-US" altLang="zh-CN" sz="2400" i="1" dirty="0">
              <a:solidFill>
                <a:srgbClr val="0000CC"/>
              </a:solidFill>
            </a:endParaRPr>
          </a:p>
          <a:p>
            <a:pPr lvl="1" eaLnBrk="1" hangingPunct="1">
              <a:lnSpc>
                <a:spcPct val="120000"/>
              </a:lnSpc>
              <a:spcBef>
                <a:spcPct val="0"/>
              </a:spcBef>
              <a:buNone/>
            </a:pPr>
            <a:r>
              <a:rPr lang="en-US" altLang="zh-CN" sz="2400" dirty="0"/>
              <a:t>-- </a:t>
            </a:r>
            <a:r>
              <a:rPr lang="zh-CN" altLang="en-US" sz="2400" dirty="0"/>
              <a:t>恢复最新备份的事务日志</a:t>
            </a:r>
            <a:r>
              <a:rPr lang="en-US" altLang="zh-CN" sz="2400" dirty="0"/>
              <a:t>.</a:t>
            </a:r>
            <a:endParaRPr lang="en-US" altLang="zh-CN" sz="2400" dirty="0"/>
          </a:p>
          <a:p>
            <a:pPr lvl="1" eaLnBrk="1" hangingPunct="1">
              <a:lnSpc>
                <a:spcPct val="120000"/>
              </a:lnSpc>
              <a:spcBef>
                <a:spcPct val="0"/>
              </a:spcBef>
              <a:buNone/>
            </a:pPr>
            <a:r>
              <a:rPr lang="en-US" altLang="zh-CN" sz="2400" i="1" dirty="0">
                <a:solidFill>
                  <a:srgbClr val="0000CC"/>
                </a:solidFill>
              </a:rPr>
              <a:t>RESTORE LOG</a:t>
            </a:r>
            <a:r>
              <a:rPr lang="en-US" altLang="zh-CN" sz="2400" i="1" dirty="0"/>
              <a:t> example </a:t>
            </a:r>
            <a:r>
              <a:rPr lang="en-US" altLang="zh-CN" sz="2400" i="1" dirty="0">
                <a:solidFill>
                  <a:srgbClr val="0000CC"/>
                </a:solidFill>
              </a:rPr>
              <a:t>FROM</a:t>
            </a:r>
            <a:r>
              <a:rPr lang="en-US" altLang="zh-CN" sz="2400" i="1" dirty="0"/>
              <a:t> MyLogDump2 </a:t>
            </a:r>
            <a:r>
              <a:rPr lang="en-US" altLang="zh-CN" sz="2400" i="1" dirty="0">
                <a:solidFill>
                  <a:srgbClr val="0000CC"/>
                </a:solidFill>
              </a:rPr>
              <a:t>WITH RECOVERY</a:t>
            </a:r>
            <a:endParaRPr lang="en-US" altLang="zh-CN" sz="2400" i="1" dirty="0">
              <a:solidFill>
                <a:srgbClr val="0000CC"/>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4995" name="Rectangle 2"/>
          <p:cNvSpPr/>
          <p:nvPr/>
        </p:nvSpPr>
        <p:spPr>
          <a:xfrm>
            <a:off x="622300" y="5867400"/>
            <a:ext cx="7747000" cy="609600"/>
          </a:xfrm>
          <a:prstGeom prst="rect">
            <a:avLst/>
          </a:prstGeom>
          <a:solidFill>
            <a:schemeClr val="accent2"/>
          </a:solidFill>
          <a:ln w="9525">
            <a:noFill/>
          </a:ln>
        </p:spPr>
        <p:txBody>
          <a:bodyPr wrap="none"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endParaRPr lang="en-US" altLang="zh-CN" sz="1400" dirty="0">
              <a:solidFill>
                <a:schemeClr val="tx1"/>
              </a:solidFill>
            </a:endParaRPr>
          </a:p>
        </p:txBody>
      </p:sp>
      <p:sp>
        <p:nvSpPr>
          <p:cNvPr id="84996" name="Rectangle 3"/>
          <p:cNvSpPr>
            <a:spLocks noGrp="1"/>
          </p:cNvSpPr>
          <p:nvPr>
            <p:ph idx="1"/>
          </p:nvPr>
        </p:nvSpPr>
        <p:spPr>
          <a:xfrm>
            <a:off x="762000" y="1219200"/>
            <a:ext cx="7848600" cy="5410200"/>
          </a:xfrm>
          <a:ln/>
        </p:spPr>
        <p:txBody>
          <a:bodyPr vert="horz" wrap="square" lIns="91440" tIns="45720" rIns="91440" bIns="45720" anchor="t" anchorCtr="0"/>
          <a:p>
            <a:pPr eaLnBrk="1" hangingPunct="1">
              <a:buNone/>
            </a:pPr>
            <a:r>
              <a:rPr lang="en-US" altLang="zh-CN" dirty="0">
                <a:solidFill>
                  <a:schemeClr val="tx1"/>
                </a:solidFill>
              </a:rPr>
              <a:t>10.1  </a:t>
            </a:r>
            <a:r>
              <a:rPr lang="zh-CN" altLang="en-US" dirty="0">
                <a:solidFill>
                  <a:schemeClr val="tx1"/>
                </a:solidFill>
              </a:rPr>
              <a:t>事务的基本概念</a:t>
            </a:r>
            <a:endParaRPr lang="zh-CN" altLang="en-US" dirty="0">
              <a:solidFill>
                <a:schemeClr val="tx1"/>
              </a:solidFill>
            </a:endParaRPr>
          </a:p>
          <a:p>
            <a:pPr eaLnBrk="1" hangingPunct="1">
              <a:buNone/>
            </a:pPr>
            <a:r>
              <a:rPr lang="en-US" altLang="zh-CN" dirty="0">
                <a:solidFill>
                  <a:schemeClr val="tx1"/>
                </a:solidFill>
              </a:rPr>
              <a:t>10.2  </a:t>
            </a:r>
            <a:r>
              <a:rPr lang="zh-CN" altLang="en-US" dirty="0">
                <a:solidFill>
                  <a:schemeClr val="tx1"/>
                </a:solidFill>
              </a:rPr>
              <a:t>数据库恢复概述</a:t>
            </a:r>
            <a:endParaRPr lang="zh-CN" altLang="en-US" dirty="0">
              <a:solidFill>
                <a:schemeClr val="tx1"/>
              </a:solidFill>
            </a:endParaRPr>
          </a:p>
          <a:p>
            <a:pPr eaLnBrk="1" hangingPunct="1">
              <a:buNone/>
            </a:pPr>
            <a:r>
              <a:rPr lang="en-US" altLang="zh-CN" dirty="0">
                <a:solidFill>
                  <a:schemeClr val="tx1"/>
                </a:solidFill>
              </a:rPr>
              <a:t>10.3  </a:t>
            </a:r>
            <a:r>
              <a:rPr lang="zh-CN" altLang="en-US" dirty="0">
                <a:solidFill>
                  <a:schemeClr val="tx1"/>
                </a:solidFill>
              </a:rPr>
              <a:t>故障的种类</a:t>
            </a:r>
            <a:endParaRPr lang="zh-CN" altLang="en-US" dirty="0">
              <a:solidFill>
                <a:schemeClr val="tx1"/>
              </a:solidFill>
            </a:endParaRPr>
          </a:p>
          <a:p>
            <a:pPr eaLnBrk="1" hangingPunct="1">
              <a:buNone/>
            </a:pPr>
            <a:r>
              <a:rPr lang="en-US" altLang="zh-CN" dirty="0">
                <a:solidFill>
                  <a:schemeClr val="tx1"/>
                </a:solidFill>
              </a:rPr>
              <a:t>10.4  </a:t>
            </a:r>
            <a:r>
              <a:rPr lang="zh-CN" altLang="en-US" dirty="0">
                <a:solidFill>
                  <a:schemeClr val="tx1"/>
                </a:solidFill>
              </a:rPr>
              <a:t>恢复的实现技术</a:t>
            </a:r>
            <a:endParaRPr lang="zh-CN" altLang="en-US" dirty="0">
              <a:solidFill>
                <a:schemeClr val="tx1"/>
              </a:solidFill>
            </a:endParaRPr>
          </a:p>
          <a:p>
            <a:pPr eaLnBrk="1" hangingPunct="1">
              <a:buNone/>
            </a:pPr>
            <a:r>
              <a:rPr lang="en-US" altLang="zh-CN" dirty="0">
                <a:solidFill>
                  <a:schemeClr val="tx1"/>
                </a:solidFill>
              </a:rPr>
              <a:t>10.5  </a:t>
            </a:r>
            <a:r>
              <a:rPr lang="zh-CN" altLang="en-US" dirty="0">
                <a:solidFill>
                  <a:schemeClr val="tx1"/>
                </a:solidFill>
              </a:rPr>
              <a:t>恢复策略</a:t>
            </a:r>
            <a:endParaRPr lang="zh-CN" altLang="en-US" dirty="0">
              <a:solidFill>
                <a:schemeClr val="tx1"/>
              </a:solidFill>
            </a:endParaRPr>
          </a:p>
          <a:p>
            <a:pPr eaLnBrk="1" hangingPunct="1">
              <a:buNone/>
            </a:pPr>
            <a:r>
              <a:rPr lang="en-US" altLang="zh-CN" dirty="0">
                <a:solidFill>
                  <a:schemeClr val="tx1"/>
                </a:solidFill>
              </a:rPr>
              <a:t>10.6  </a:t>
            </a:r>
            <a:r>
              <a:rPr lang="zh-CN" altLang="en-US" dirty="0">
                <a:solidFill>
                  <a:schemeClr val="tx1"/>
                </a:solidFill>
              </a:rPr>
              <a:t>具有检查点的恢复技术</a:t>
            </a:r>
            <a:endParaRPr lang="zh-CN" altLang="en-US" dirty="0">
              <a:solidFill>
                <a:schemeClr val="tx1"/>
              </a:solidFill>
            </a:endParaRPr>
          </a:p>
          <a:p>
            <a:pPr eaLnBrk="1" hangingPunct="1">
              <a:buNone/>
            </a:pPr>
            <a:r>
              <a:rPr lang="en-US" altLang="zh-CN" dirty="0">
                <a:solidFill>
                  <a:schemeClr val="tx1"/>
                </a:solidFill>
              </a:rPr>
              <a:t>10.7  </a:t>
            </a:r>
            <a:r>
              <a:rPr lang="zh-CN" altLang="en-US" dirty="0">
                <a:solidFill>
                  <a:schemeClr val="tx1"/>
                </a:solidFill>
              </a:rPr>
              <a:t>数据库镜像</a:t>
            </a:r>
            <a:endParaRPr lang="zh-CN" altLang="en-US" dirty="0">
              <a:solidFill>
                <a:schemeClr val="tx1"/>
              </a:solidFill>
            </a:endParaRPr>
          </a:p>
          <a:p>
            <a:pPr eaLnBrk="1" hangingPunct="1">
              <a:buNone/>
            </a:pPr>
            <a:r>
              <a:rPr lang="en-US" altLang="zh-CN" dirty="0">
                <a:solidFill>
                  <a:schemeClr val="tx1"/>
                </a:solidFill>
              </a:rPr>
              <a:t>10.8  SQL Server</a:t>
            </a:r>
            <a:r>
              <a:rPr lang="zh-CN" altLang="en-US" dirty="0">
                <a:solidFill>
                  <a:schemeClr val="tx1"/>
                </a:solidFill>
              </a:rPr>
              <a:t>的恢复技术</a:t>
            </a:r>
            <a:endParaRPr lang="zh-CN" altLang="en-US" dirty="0">
              <a:solidFill>
                <a:schemeClr val="tx1"/>
              </a:solidFill>
            </a:endParaRPr>
          </a:p>
          <a:p>
            <a:pPr eaLnBrk="1" hangingPunct="1">
              <a:buNone/>
            </a:pPr>
            <a:r>
              <a:rPr lang="en-US" altLang="zh-CN" dirty="0">
                <a:solidFill>
                  <a:schemeClr val="bg1"/>
                </a:solidFill>
              </a:rPr>
              <a:t>7.9  </a:t>
            </a:r>
            <a:r>
              <a:rPr lang="zh-CN" altLang="en-US" dirty="0">
                <a:solidFill>
                  <a:schemeClr val="bg1"/>
                </a:solidFill>
              </a:rPr>
              <a:t>小结</a:t>
            </a:r>
            <a:endParaRPr lang="zh-CN" altLang="en-US" dirty="0">
              <a:solidFill>
                <a:schemeClr val="bg1"/>
              </a:solidFill>
            </a:endParaRPr>
          </a:p>
        </p:txBody>
      </p:sp>
      <p:sp>
        <p:nvSpPr>
          <p:cNvPr id="84997" name="Rectangle 4"/>
          <p:cNvSpPr>
            <a:spLocks noGrp="1"/>
          </p:cNvSpPr>
          <p:nvPr>
            <p:ph type="title"/>
          </p:nvPr>
        </p:nvSpPr>
        <p:spPr>
          <a:xfrm>
            <a:off x="838200" y="228600"/>
            <a:ext cx="7772400" cy="685800"/>
          </a:xfrm>
          <a:ln/>
        </p:spPr>
        <p:txBody>
          <a:bodyPr vert="horz" wrap="square" lIns="91440" tIns="45720" rIns="91440" bIns="45720" anchor="ctr" anchorCtr="0"/>
          <a:p>
            <a:pPr eaLnBrk="1" hangingPunct="1"/>
            <a:r>
              <a:rPr lang="zh-CN" altLang="en-US" dirty="0"/>
              <a:t>第</a:t>
            </a:r>
            <a:r>
              <a:rPr lang="en-US" altLang="zh-CN" dirty="0"/>
              <a:t>10</a:t>
            </a:r>
            <a:r>
              <a:rPr lang="zh-CN" altLang="en-US" dirty="0"/>
              <a:t>章 数据库恢复技术</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6019"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10.9  </a:t>
            </a:r>
            <a:r>
              <a:rPr lang="zh-CN" altLang="en-US" dirty="0"/>
              <a:t>小结</a:t>
            </a:r>
            <a:endParaRPr lang="zh-CN" altLang="en-US" dirty="0"/>
          </a:p>
        </p:txBody>
      </p:sp>
      <p:sp>
        <p:nvSpPr>
          <p:cNvPr id="86020"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r>
              <a:rPr lang="zh-CN" altLang="en-US" sz="2800" dirty="0">
                <a:solidFill>
                  <a:schemeClr val="tx1"/>
                </a:solidFill>
              </a:rPr>
              <a:t>如果数据库只包含成功事务提交的结果，就说数据库处于一致性状态。保证数据</a:t>
            </a:r>
            <a:r>
              <a:rPr lang="zh-CN" altLang="en-US" sz="2800" dirty="0"/>
              <a:t>一致性</a:t>
            </a:r>
            <a:r>
              <a:rPr lang="zh-CN" altLang="en-US" sz="2800" dirty="0">
                <a:solidFill>
                  <a:schemeClr val="tx1"/>
                </a:solidFill>
              </a:rPr>
              <a:t>是对数据库的最基本的要求。</a:t>
            </a:r>
            <a:endParaRPr lang="zh-CN" altLang="en-US" sz="2800" dirty="0">
              <a:solidFill>
                <a:schemeClr val="tx1"/>
              </a:solidFill>
            </a:endParaRPr>
          </a:p>
          <a:p>
            <a:pPr eaLnBrk="1" hangingPunct="1"/>
            <a:r>
              <a:rPr lang="zh-CN" altLang="en-US" sz="2800" dirty="0"/>
              <a:t>事务</a:t>
            </a:r>
            <a:r>
              <a:rPr lang="zh-CN" altLang="en-US" sz="2800" dirty="0">
                <a:solidFill>
                  <a:schemeClr val="tx1"/>
                </a:solidFill>
              </a:rPr>
              <a:t>是数据库的逻辑工作单位</a:t>
            </a:r>
            <a:endParaRPr lang="zh-CN" altLang="en-US" sz="2800" dirty="0">
              <a:solidFill>
                <a:schemeClr val="tx1"/>
              </a:solidFill>
            </a:endParaRPr>
          </a:p>
          <a:p>
            <a:pPr eaLnBrk="1" hangingPunct="1">
              <a:buNone/>
            </a:pPr>
            <a:r>
              <a:rPr lang="zh-CN" altLang="en-US" sz="2800" dirty="0">
                <a:solidFill>
                  <a:schemeClr val="tx1"/>
                </a:solidFill>
              </a:rPr>
              <a:t>	</a:t>
            </a:r>
            <a:r>
              <a:rPr lang="en-US" altLang="zh-CN" sz="2800" dirty="0">
                <a:solidFill>
                  <a:schemeClr val="tx1"/>
                </a:solidFill>
              </a:rPr>
              <a:t>DBMS</a:t>
            </a:r>
            <a:r>
              <a:rPr lang="zh-CN" altLang="en-US" sz="2800" dirty="0">
                <a:solidFill>
                  <a:schemeClr val="tx1"/>
                </a:solidFill>
              </a:rPr>
              <a:t>保证系统中一切事务的</a:t>
            </a:r>
            <a:r>
              <a:rPr lang="zh-CN" altLang="en-US" sz="2800" dirty="0"/>
              <a:t>原子性</a:t>
            </a:r>
            <a:r>
              <a:rPr lang="zh-CN" altLang="en-US" sz="2800" dirty="0">
                <a:solidFill>
                  <a:schemeClr val="tx1"/>
                </a:solidFill>
              </a:rPr>
              <a:t>、</a:t>
            </a:r>
            <a:r>
              <a:rPr lang="zh-CN" altLang="en-US" sz="2800" dirty="0"/>
              <a:t>一致性</a:t>
            </a:r>
            <a:r>
              <a:rPr lang="zh-CN" altLang="en-US" sz="2800" dirty="0">
                <a:solidFill>
                  <a:schemeClr val="tx1"/>
                </a:solidFill>
              </a:rPr>
              <a:t>、</a:t>
            </a:r>
            <a:r>
              <a:rPr lang="zh-CN" altLang="en-US" sz="2800" dirty="0"/>
              <a:t>隔离性</a:t>
            </a:r>
            <a:r>
              <a:rPr lang="zh-CN" altLang="en-US" sz="2800" dirty="0">
                <a:solidFill>
                  <a:schemeClr val="tx1"/>
                </a:solidFill>
              </a:rPr>
              <a:t>和</a:t>
            </a:r>
            <a:r>
              <a:rPr lang="zh-CN" altLang="en-US" sz="2800" dirty="0"/>
              <a:t>持续性</a:t>
            </a:r>
            <a:endParaRPr lang="zh-CN" altLang="en-US" sz="2800" dirty="0"/>
          </a:p>
          <a:p>
            <a:pPr eaLnBrk="1" hangingPunct="1"/>
            <a:r>
              <a:rPr lang="en-US" altLang="zh-CN" sz="2800" dirty="0">
                <a:solidFill>
                  <a:schemeClr val="tx1"/>
                </a:solidFill>
              </a:rPr>
              <a:t>DBMS</a:t>
            </a:r>
            <a:r>
              <a:rPr lang="zh-CN" altLang="en-US" sz="2800" dirty="0">
                <a:solidFill>
                  <a:schemeClr val="tx1"/>
                </a:solidFill>
              </a:rPr>
              <a:t>必须对</a:t>
            </a:r>
            <a:r>
              <a:rPr lang="zh-CN" altLang="en-US" sz="2800" dirty="0">
                <a:solidFill>
                  <a:srgbClr val="0000CC"/>
                </a:solidFill>
              </a:rPr>
              <a:t>事务故障</a:t>
            </a:r>
            <a:r>
              <a:rPr lang="zh-CN" altLang="en-US" sz="2800" dirty="0">
                <a:solidFill>
                  <a:schemeClr val="tx1"/>
                </a:solidFill>
              </a:rPr>
              <a:t>、</a:t>
            </a:r>
            <a:r>
              <a:rPr lang="zh-CN" altLang="en-US" sz="2800" dirty="0">
                <a:solidFill>
                  <a:srgbClr val="0000CC"/>
                </a:solidFill>
              </a:rPr>
              <a:t>系统故障</a:t>
            </a:r>
            <a:r>
              <a:rPr lang="zh-CN" altLang="en-US" sz="2800" dirty="0">
                <a:solidFill>
                  <a:schemeClr val="tx1"/>
                </a:solidFill>
              </a:rPr>
              <a:t>和</a:t>
            </a:r>
            <a:r>
              <a:rPr lang="zh-CN" altLang="en-US" sz="2800" dirty="0">
                <a:solidFill>
                  <a:srgbClr val="0000CC"/>
                </a:solidFill>
              </a:rPr>
              <a:t>介质故障</a:t>
            </a:r>
            <a:r>
              <a:rPr lang="zh-CN" altLang="en-US" sz="2800" dirty="0">
                <a:solidFill>
                  <a:schemeClr val="tx1"/>
                </a:solidFill>
              </a:rPr>
              <a:t>进行恢复</a:t>
            </a:r>
            <a:endParaRPr lang="zh-CN" altLang="en-US" sz="2800" dirty="0">
              <a:solidFill>
                <a:schemeClr val="tx1"/>
              </a:solidFill>
            </a:endParaRPr>
          </a:p>
          <a:p>
            <a:pPr eaLnBrk="1" hangingPunct="1"/>
            <a:r>
              <a:rPr lang="zh-CN" altLang="en-US" sz="2800" dirty="0"/>
              <a:t>恢复</a:t>
            </a:r>
            <a:r>
              <a:rPr lang="zh-CN" altLang="en-US" sz="2800" dirty="0">
                <a:solidFill>
                  <a:schemeClr val="tx1"/>
                </a:solidFill>
              </a:rPr>
              <a:t>中最经常使用的技术：</a:t>
            </a:r>
            <a:r>
              <a:rPr lang="zh-CN" altLang="en-US" sz="2800" dirty="0"/>
              <a:t>数据库转储</a:t>
            </a:r>
            <a:r>
              <a:rPr lang="zh-CN" altLang="en-US" sz="2800" dirty="0">
                <a:solidFill>
                  <a:schemeClr val="tx1"/>
                </a:solidFill>
              </a:rPr>
              <a:t>和登记</a:t>
            </a:r>
            <a:r>
              <a:rPr lang="zh-CN" altLang="en-US" sz="2800" dirty="0"/>
              <a:t>日志</a:t>
            </a:r>
            <a:r>
              <a:rPr lang="zh-CN" altLang="en-US" sz="2800" dirty="0">
                <a:solidFill>
                  <a:schemeClr val="tx1"/>
                </a:solidFill>
              </a:rPr>
              <a:t>文件</a:t>
            </a:r>
            <a:endParaRPr lang="zh-CN" altLang="en-US" sz="2800" dirty="0">
              <a:solidFill>
                <a:schemeClr val="tx1"/>
              </a:solidFill>
            </a:endParaRPr>
          </a:p>
          <a:p>
            <a:pPr eaLnBrk="1" hangingPunct="1"/>
            <a:r>
              <a:rPr lang="zh-CN" altLang="en-US" sz="2800" dirty="0">
                <a:solidFill>
                  <a:schemeClr val="tx1"/>
                </a:solidFill>
              </a:rPr>
              <a:t>恢复的基本原理：利用存储在</a:t>
            </a:r>
            <a:r>
              <a:rPr lang="zh-CN" altLang="en-US" sz="2800" dirty="0"/>
              <a:t>后备</a:t>
            </a:r>
            <a:r>
              <a:rPr lang="zh-CN" altLang="en-US" sz="2800" dirty="0">
                <a:solidFill>
                  <a:schemeClr val="tx1"/>
                </a:solidFill>
              </a:rPr>
              <a:t>副本、</a:t>
            </a:r>
            <a:r>
              <a:rPr lang="zh-CN" altLang="en-US" sz="2800" dirty="0"/>
              <a:t>日志</a:t>
            </a:r>
            <a:r>
              <a:rPr lang="zh-CN" altLang="en-US" sz="2800" dirty="0">
                <a:solidFill>
                  <a:schemeClr val="tx1"/>
                </a:solidFill>
              </a:rPr>
              <a:t>文件和数据库</a:t>
            </a:r>
            <a:r>
              <a:rPr lang="zh-CN" altLang="en-US" sz="2800" dirty="0"/>
              <a:t>镜像</a:t>
            </a:r>
            <a:r>
              <a:rPr lang="zh-CN" altLang="en-US" sz="2800" dirty="0">
                <a:solidFill>
                  <a:schemeClr val="tx1"/>
                </a:solidFill>
              </a:rPr>
              <a:t>中的</a:t>
            </a:r>
            <a:r>
              <a:rPr lang="zh-CN" altLang="en-US" sz="2800" dirty="0">
                <a:solidFill>
                  <a:srgbClr val="0000CC"/>
                </a:solidFill>
              </a:rPr>
              <a:t>冗余</a:t>
            </a:r>
            <a:r>
              <a:rPr lang="zh-CN" altLang="en-US" sz="2800" dirty="0">
                <a:solidFill>
                  <a:schemeClr val="tx1"/>
                </a:solidFill>
              </a:rPr>
              <a:t>数据来重建数据库</a:t>
            </a:r>
            <a:endParaRPr lang="zh-CN" altLang="en-US" sz="2800" dirty="0">
              <a:solidFill>
                <a:schemeClr val="tx1"/>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7043"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10.9  </a:t>
            </a:r>
            <a:r>
              <a:rPr lang="zh-CN" altLang="en-US" dirty="0"/>
              <a:t>小结</a:t>
            </a:r>
            <a:endParaRPr lang="zh-CN" altLang="en-US" dirty="0"/>
          </a:p>
        </p:txBody>
      </p:sp>
      <p:sp>
        <p:nvSpPr>
          <p:cNvPr id="87044"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r>
              <a:rPr lang="zh-CN" altLang="en-US" dirty="0">
                <a:solidFill>
                  <a:schemeClr val="tx1"/>
                </a:solidFill>
              </a:rPr>
              <a:t>常用的恢复技术：</a:t>
            </a:r>
            <a:endParaRPr lang="zh-CN" altLang="en-US" dirty="0">
              <a:solidFill>
                <a:schemeClr val="tx1"/>
              </a:solidFill>
            </a:endParaRPr>
          </a:p>
          <a:p>
            <a:pPr lvl="1" eaLnBrk="1" hangingPunct="1">
              <a:lnSpc>
                <a:spcPct val="120000"/>
              </a:lnSpc>
            </a:pPr>
            <a:r>
              <a:rPr lang="zh-CN" altLang="en-US" dirty="0"/>
              <a:t>事务故障的恢复</a:t>
            </a:r>
            <a:endParaRPr lang="zh-CN" altLang="en-US" dirty="0"/>
          </a:p>
          <a:p>
            <a:pPr lvl="2" eaLnBrk="1" hangingPunct="1">
              <a:lnSpc>
                <a:spcPct val="120000"/>
              </a:lnSpc>
            </a:pPr>
            <a:r>
              <a:rPr lang="en-US" altLang="zh-CN" dirty="0"/>
              <a:t>UNDO</a:t>
            </a:r>
            <a:endParaRPr lang="en-US" altLang="zh-CN" dirty="0"/>
          </a:p>
          <a:p>
            <a:pPr lvl="1" eaLnBrk="1" hangingPunct="1">
              <a:lnSpc>
                <a:spcPct val="120000"/>
              </a:lnSpc>
            </a:pPr>
            <a:r>
              <a:rPr lang="zh-CN" altLang="en-US" dirty="0"/>
              <a:t>系统故障的恢复</a:t>
            </a:r>
            <a:endParaRPr lang="zh-CN" altLang="en-US" dirty="0"/>
          </a:p>
          <a:p>
            <a:pPr lvl="2" eaLnBrk="1" hangingPunct="1">
              <a:lnSpc>
                <a:spcPct val="120000"/>
              </a:lnSpc>
            </a:pPr>
            <a:r>
              <a:rPr lang="en-US" altLang="zh-CN" dirty="0"/>
              <a:t>UNDO + REDO</a:t>
            </a:r>
            <a:endParaRPr lang="en-US" altLang="zh-CN" dirty="0"/>
          </a:p>
          <a:p>
            <a:pPr lvl="1" eaLnBrk="1" hangingPunct="1">
              <a:lnSpc>
                <a:spcPct val="120000"/>
              </a:lnSpc>
            </a:pPr>
            <a:r>
              <a:rPr lang="zh-CN" altLang="en-US" dirty="0"/>
              <a:t>介质故障的恢复</a:t>
            </a:r>
            <a:endParaRPr lang="zh-CN" altLang="en-US" dirty="0"/>
          </a:p>
          <a:p>
            <a:pPr lvl="2" eaLnBrk="1" hangingPunct="1">
              <a:lnSpc>
                <a:spcPct val="120000"/>
              </a:lnSpc>
            </a:pPr>
            <a:r>
              <a:rPr lang="zh-CN" altLang="en-US" dirty="0"/>
              <a:t>重装备份并恢复到一致性状态 </a:t>
            </a:r>
            <a:r>
              <a:rPr lang="en-US" altLang="zh-CN" dirty="0"/>
              <a:t>+ REDO</a:t>
            </a:r>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页脚占位符 4"/>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8067" name="Rectangle 2"/>
          <p:cNvSpPr>
            <a:spLocks noGrp="1"/>
          </p:cNvSpPr>
          <p:nvPr>
            <p:ph type="title"/>
          </p:nvPr>
        </p:nvSpPr>
        <p:spPr>
          <a:xfrm>
            <a:off x="685800" y="0"/>
            <a:ext cx="7772400" cy="609600"/>
          </a:xfrm>
          <a:ln/>
        </p:spPr>
        <p:txBody>
          <a:bodyPr vert="horz" wrap="square" lIns="91440" tIns="45720" rIns="91440" bIns="45720" anchor="ctr" anchorCtr="0"/>
          <a:p>
            <a:pPr eaLnBrk="1" hangingPunct="1"/>
            <a:r>
              <a:rPr lang="en-US" altLang="zh-CN" dirty="0"/>
              <a:t>10.9  </a:t>
            </a:r>
            <a:r>
              <a:rPr lang="zh-CN" altLang="en-US" dirty="0"/>
              <a:t>小结</a:t>
            </a:r>
            <a:endParaRPr lang="zh-CN" altLang="en-US" dirty="0"/>
          </a:p>
        </p:txBody>
      </p:sp>
      <p:sp>
        <p:nvSpPr>
          <p:cNvPr id="88068" name="Rectangle 3"/>
          <p:cNvSpPr>
            <a:spLocks noGrp="1"/>
          </p:cNvSpPr>
          <p:nvPr>
            <p:ph idx="1"/>
          </p:nvPr>
        </p:nvSpPr>
        <p:spPr>
          <a:xfrm>
            <a:off x="347663" y="771525"/>
            <a:ext cx="8510587" cy="5726113"/>
          </a:xfrm>
          <a:ln/>
        </p:spPr>
        <p:txBody>
          <a:bodyPr vert="horz" wrap="square" lIns="91440" tIns="45720" rIns="91440" bIns="45720" anchor="t" anchorCtr="0"/>
          <a:p>
            <a:pPr eaLnBrk="1" hangingPunct="1"/>
            <a:r>
              <a:rPr lang="zh-CN" altLang="en-US" dirty="0">
                <a:solidFill>
                  <a:schemeClr val="tx1"/>
                </a:solidFill>
              </a:rPr>
              <a:t>提高恢复效率的技术</a:t>
            </a:r>
            <a:endParaRPr lang="zh-CN" altLang="en-US" dirty="0">
              <a:solidFill>
                <a:schemeClr val="tx1"/>
              </a:solidFill>
            </a:endParaRPr>
          </a:p>
          <a:p>
            <a:pPr lvl="1" eaLnBrk="1" hangingPunct="1"/>
            <a:r>
              <a:rPr lang="zh-CN" altLang="en-US" dirty="0"/>
              <a:t>检查点技术</a:t>
            </a:r>
            <a:endParaRPr lang="zh-CN" altLang="en-US" dirty="0"/>
          </a:p>
          <a:p>
            <a:pPr lvl="2" eaLnBrk="1" hangingPunct="1"/>
            <a:r>
              <a:rPr lang="zh-CN" altLang="en-US" sz="2800" dirty="0"/>
              <a:t>可以提高系统故障的恢复效率</a:t>
            </a:r>
            <a:endParaRPr lang="zh-CN" altLang="en-US" sz="2800" dirty="0"/>
          </a:p>
          <a:p>
            <a:pPr lvl="2" eaLnBrk="1" hangingPunct="1"/>
            <a:r>
              <a:rPr lang="zh-CN" altLang="en-US" sz="2800" dirty="0"/>
              <a:t>可以在一定程度上提高利用动态转储备份进行介质故障恢复的效率</a:t>
            </a:r>
            <a:endParaRPr lang="zh-CN" altLang="en-US" sz="2800" dirty="0"/>
          </a:p>
          <a:p>
            <a:pPr lvl="1" eaLnBrk="1" hangingPunct="1">
              <a:spcBef>
                <a:spcPct val="60000"/>
              </a:spcBef>
            </a:pPr>
            <a:r>
              <a:rPr lang="zh-CN" altLang="en-US" dirty="0"/>
              <a:t>镜像技术</a:t>
            </a:r>
            <a:endParaRPr lang="zh-CN" altLang="en-US" dirty="0"/>
          </a:p>
          <a:p>
            <a:pPr lvl="2" eaLnBrk="1" hangingPunct="1"/>
            <a:r>
              <a:rPr lang="zh-CN" altLang="en-US" dirty="0"/>
              <a:t>镜像</a:t>
            </a:r>
            <a:r>
              <a:rPr lang="zh-CN" altLang="en-US" sz="2800" dirty="0"/>
              <a:t>技术可以改善介质故障的恢复效率</a:t>
            </a:r>
            <a:endParaRPr lang="zh-CN" altLang="en-US" sz="2800" dirty="0"/>
          </a:p>
          <a:p>
            <a:pPr eaLnBrk="1" hangingPunct="1"/>
            <a:r>
              <a:rPr lang="en-US" altLang="zh-CN" dirty="0">
                <a:solidFill>
                  <a:schemeClr val="tx1"/>
                </a:solidFill>
              </a:rPr>
              <a:t>SQL Server</a:t>
            </a:r>
            <a:r>
              <a:rPr lang="zh-CN" altLang="en-US" dirty="0">
                <a:solidFill>
                  <a:schemeClr val="tx1"/>
                </a:solidFill>
              </a:rPr>
              <a:t>的恢复技术</a:t>
            </a:r>
            <a:endParaRPr lang="zh-CN" altLang="en-US" dirty="0">
              <a:solidFill>
                <a:schemeClr val="tx1"/>
              </a:solidFill>
            </a:endParaRPr>
          </a:p>
          <a:p>
            <a:pPr lvl="1" eaLnBrk="1" hangingPunct="1"/>
            <a:r>
              <a:rPr lang="zh-CN" altLang="en-US" dirty="0"/>
              <a:t>简单</a:t>
            </a:r>
            <a:r>
              <a:rPr lang="en-US" altLang="zh-CN" dirty="0"/>
              <a:t>/</a:t>
            </a:r>
            <a:r>
              <a:rPr lang="zh-CN" altLang="en-US" dirty="0"/>
              <a:t>完全</a:t>
            </a:r>
            <a:r>
              <a:rPr lang="en-US" altLang="zh-CN" dirty="0"/>
              <a:t>/</a:t>
            </a:r>
            <a:r>
              <a:rPr lang="zh-CN" altLang="en-US" dirty="0"/>
              <a:t>批量恢复模式</a:t>
            </a:r>
            <a:endParaRPr lang="zh-CN" altLang="en-US" dirty="0"/>
          </a:p>
          <a:p>
            <a:pPr lvl="1" eaLnBrk="1" hangingPunct="1"/>
            <a:r>
              <a:rPr lang="zh-CN" altLang="en-US" dirty="0"/>
              <a:t>数据库</a:t>
            </a:r>
            <a:r>
              <a:rPr lang="en-US" altLang="zh-CN" dirty="0"/>
              <a:t>/</a:t>
            </a:r>
            <a:r>
              <a:rPr lang="zh-CN" altLang="en-US" dirty="0"/>
              <a:t>日志</a:t>
            </a:r>
            <a:r>
              <a:rPr lang="en-US" altLang="zh-CN" dirty="0"/>
              <a:t>/</a:t>
            </a:r>
            <a:r>
              <a:rPr lang="zh-CN" altLang="en-US" dirty="0"/>
              <a:t>差异备份</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89091" name="Rectangle 2"/>
          <p:cNvSpPr/>
          <p:nvPr/>
        </p:nvSpPr>
        <p:spPr>
          <a:xfrm>
            <a:off x="1295400" y="76200"/>
            <a:ext cx="6781800" cy="60960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0"/>
              </a:spcBef>
              <a:buClrTx/>
              <a:buFontTx/>
              <a:buNone/>
            </a:pPr>
            <a:r>
              <a:rPr lang="zh-CN" altLang="en-US" sz="4400" dirty="0">
                <a:solidFill>
                  <a:schemeClr val="accent2"/>
                </a:solidFill>
                <a:ea typeface="经典细隶书简" pitchFamily="49" charset="-122"/>
              </a:rPr>
              <a:t>第</a:t>
            </a:r>
            <a:r>
              <a:rPr lang="en-US" altLang="zh-CN" sz="4400" dirty="0">
                <a:solidFill>
                  <a:schemeClr val="accent2"/>
                </a:solidFill>
                <a:ea typeface="经典细隶书简" pitchFamily="49" charset="-122"/>
              </a:rPr>
              <a:t>11</a:t>
            </a:r>
            <a:r>
              <a:rPr lang="zh-CN" altLang="en-US" sz="4400" dirty="0">
                <a:solidFill>
                  <a:schemeClr val="accent2"/>
                </a:solidFill>
                <a:ea typeface="经典细隶书简" pitchFamily="49" charset="-122"/>
              </a:rPr>
              <a:t>章书面作业</a:t>
            </a:r>
            <a:endParaRPr lang="zh-CN" altLang="en-US" sz="4400" dirty="0">
              <a:solidFill>
                <a:schemeClr val="accent2"/>
              </a:solidFill>
              <a:ea typeface="经典细隶书简" pitchFamily="49" charset="-122"/>
            </a:endParaRPr>
          </a:p>
        </p:txBody>
      </p:sp>
      <p:sp>
        <p:nvSpPr>
          <p:cNvPr id="89092" name="Rectangle 3"/>
          <p:cNvSpPr/>
          <p:nvPr/>
        </p:nvSpPr>
        <p:spPr>
          <a:xfrm>
            <a:off x="533400" y="1066800"/>
            <a:ext cx="8229600" cy="4343400"/>
          </a:xfrm>
          <a:prstGeom prst="rect">
            <a:avLst/>
          </a:prstGeom>
          <a:noFill/>
          <a:ln w="9525">
            <a:noFill/>
          </a:ln>
        </p:spPr>
        <p:txBody>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342900" lvl="0" indent="-342900" eaLnBrk="1" hangingPunct="1">
              <a:buNone/>
            </a:pPr>
            <a:r>
              <a:rPr lang="en-US" altLang="zh-CN" sz="4800" b="0" dirty="0">
                <a:solidFill>
                  <a:schemeClr val="tx1"/>
                </a:solidFill>
                <a:ea typeface="仿宋_GB2312" pitchFamily="49" charset="-122"/>
              </a:rPr>
              <a:t>P330</a:t>
            </a:r>
            <a:r>
              <a:rPr lang="zh-CN" altLang="en-US" sz="4800" b="0" dirty="0">
                <a:solidFill>
                  <a:schemeClr val="tx1"/>
                </a:solidFill>
                <a:ea typeface="黑体" panose="02010609060101010101" pitchFamily="49" charset="-122"/>
              </a:rPr>
              <a:t>习题</a:t>
            </a:r>
            <a:endParaRPr lang="zh-CN" altLang="en-US" sz="4800" b="0" dirty="0">
              <a:solidFill>
                <a:schemeClr val="tx1"/>
              </a:solidFill>
              <a:ea typeface="黑体" panose="02010609060101010101" pitchFamily="49" charset="-122"/>
            </a:endParaRPr>
          </a:p>
          <a:p>
            <a:pPr marL="342900" lvl="0" indent="-342900" eaLnBrk="1" hangingPunct="1"/>
            <a:r>
              <a:rPr lang="en-US" altLang="zh-CN" sz="4800" b="0" dirty="0">
                <a:solidFill>
                  <a:schemeClr val="tx1"/>
                </a:solidFill>
                <a:ea typeface="仿宋_GB2312" pitchFamily="49" charset="-122"/>
              </a:rPr>
              <a:t>1,4,5,7,8,9</a:t>
            </a:r>
            <a:endParaRPr lang="en-US" altLang="zh-CN" sz="4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页脚占位符 2"/>
          <p:cNvSpPr txBox="1">
            <a:spLocks noGrp="1"/>
          </p:cNvSpPr>
          <p:nvPr>
            <p:ph type="ftr" sz="quarter" idx="11"/>
          </p:nvPr>
        </p:nvSpPr>
        <p:spPr>
          <a:ln/>
        </p:spPr>
        <p:txBody>
          <a:bodyPr/>
          <a:p>
            <a:pPr marL="0" indent="0" algn="ctr" eaLnBrk="1" hangingPunct="1">
              <a:spcBef>
                <a:spcPct val="0"/>
              </a:spcBef>
              <a:buClrTx/>
              <a:buFontTx/>
              <a:buNone/>
            </a:pPr>
            <a:r>
              <a:rPr lang="en-US" altLang="zh-CN" sz="1400" b="0" dirty="0">
                <a:solidFill>
                  <a:srgbClr val="6600FF"/>
                </a:solidFill>
              </a:rPr>
              <a:t>An Introduction to Database System</a:t>
            </a:r>
            <a:endParaRPr lang="en-US" altLang="zh-CN" sz="1400" b="0" dirty="0">
              <a:solidFill>
                <a:srgbClr val="6600FF"/>
              </a:solidFill>
            </a:endParaRPr>
          </a:p>
        </p:txBody>
      </p:sp>
      <p:sp>
        <p:nvSpPr>
          <p:cNvPr id="90115" name="Text Box 2"/>
          <p:cNvSpPr txBox="1"/>
          <p:nvPr/>
        </p:nvSpPr>
        <p:spPr>
          <a:xfrm>
            <a:off x="3124200" y="2057400"/>
            <a:ext cx="2632075" cy="1555750"/>
          </a:xfrm>
          <a:prstGeom prst="rect">
            <a:avLst/>
          </a:prstGeom>
          <a:noFill/>
          <a:ln w="12700">
            <a:noFill/>
          </a:ln>
        </p:spPr>
        <p:txBody>
          <a:bodyPr wrap="none">
            <a:spAutoFit/>
          </a:bodyPr>
          <a:lstStyle>
            <a:lvl1pPr marL="342900" indent="-342900" algn="l" rtl="0" eaLnBrk="0" fontAlgn="base" hangingPunct="0">
              <a:spcBef>
                <a:spcPct val="20000"/>
              </a:spcBef>
              <a:spcAft>
                <a:spcPct val="0"/>
              </a:spcAft>
              <a:buClr>
                <a:srgbClr val="FF3300"/>
              </a:buClr>
              <a:buFont typeface="Wingdings" panose="05000000000000000000" pitchFamily="2" charset="2"/>
              <a:buChar char="§"/>
              <a:defRPr kumimoji="1" sz="3200">
                <a:solidFill>
                  <a:srgbClr val="FF3300"/>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楷体_GB2312" pitchFamily="49" charset="-122"/>
              </a:defRPr>
            </a:lvl3pPr>
            <a:lvl4pPr marL="1600200" indent="-228600" algn="l" rtl="0" eaLnBrk="0" fontAlgn="base" hangingPunct="0">
              <a:spcBef>
                <a:spcPct val="20000"/>
              </a:spcBef>
              <a:spcAft>
                <a:spcPct val="0"/>
              </a:spcAft>
              <a:buSzPct val="60000"/>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SzPct val="60000"/>
              <a:buFont typeface="Wingdings" panose="05000000000000000000" pitchFamily="2" charset="2"/>
              <a:buChar char="§"/>
              <a:defRPr kumimoji="1" sz="2000" b="1">
                <a:solidFill>
                  <a:schemeClr val="tx1"/>
                </a:solidFill>
                <a:latin typeface="+mn-lt"/>
                <a:ea typeface="仿宋_GB2312" pitchFamily="49" charset="-122"/>
              </a:defRPr>
            </a:lvl5pPr>
          </a:lstStyle>
          <a:p>
            <a:pPr marL="0" lvl="0" indent="0" algn="ctr" eaLnBrk="1" hangingPunct="1">
              <a:spcBef>
                <a:spcPct val="50000"/>
              </a:spcBef>
              <a:buClrTx/>
              <a:buFontTx/>
              <a:buNone/>
            </a:pPr>
            <a:r>
              <a:rPr lang="zh-CN" altLang="en-US" sz="9600" dirty="0">
                <a:solidFill>
                  <a:schemeClr val="accent2"/>
                </a:solidFill>
              </a:rPr>
              <a:t>再见</a:t>
            </a:r>
            <a:endParaRPr lang="zh-CN" altLang="en-US" sz="9600" dirty="0">
              <a:solidFill>
                <a:schemeClr val="accent2"/>
              </a:solidFill>
            </a:endParaRPr>
          </a:p>
        </p:txBody>
      </p:sp>
    </p:spTree>
  </p:cSld>
  <p:clrMapOvr>
    <a:masterClrMapping/>
  </p:clrMapOvr>
</p:sld>
</file>

<file path=ppt/theme/theme1.xml><?xml version="1.0" encoding="utf-8"?>
<a:theme xmlns:a="http://schemas.openxmlformats.org/drawingml/2006/main" name="kyl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kylin">
      <a:majorFont>
        <a:latin typeface="Times New Roman"/>
        <a:ea typeface="经典细隶书简"/>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rgbClr val="6600FF"/>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kyli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yli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yli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yli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yli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yli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yli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kylingray</Template>
  <TotalTime>0</TotalTime>
  <Words>13017</Words>
  <Application>WPS Presentation</Application>
  <PresentationFormat>全屏显示(4:3)</PresentationFormat>
  <Paragraphs>1012</Paragraphs>
  <Slides>85</Slides>
  <Notes>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85</vt:i4>
      </vt:variant>
    </vt:vector>
  </HeadingPairs>
  <TitlesOfParts>
    <vt:vector size="105" baseType="lpstr">
      <vt:lpstr>Arial</vt:lpstr>
      <vt:lpstr>SimSun</vt:lpstr>
      <vt:lpstr>Wingdings</vt:lpstr>
      <vt:lpstr>Times New Roman</vt:lpstr>
      <vt:lpstr>宋体</vt:lpstr>
      <vt:lpstr>经典细隶书简</vt:lpstr>
      <vt:lpstr>隶书</vt:lpstr>
      <vt:lpstr>楷体_GB2312</vt:lpstr>
      <vt:lpstr>新宋体</vt:lpstr>
      <vt:lpstr>仿宋_GB2312</vt:lpstr>
      <vt:lpstr>仿宋</vt:lpstr>
      <vt:lpstr>Calibri</vt:lpstr>
      <vt:lpstr>Verdana</vt:lpstr>
      <vt:lpstr>微软雅黑</vt:lpstr>
      <vt:lpstr>Wingdings 2</vt:lpstr>
      <vt:lpstr>Arial Narrow</vt:lpstr>
      <vt:lpstr>黑体</vt:lpstr>
      <vt:lpstr>Arial Unicode MS</vt:lpstr>
      <vt:lpstr>Bookman Old Style</vt:lpstr>
      <vt:lpstr>kylin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Workgroup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数据库恢复技术</dc:title>
  <dc:creator>kylin</dc:creator>
  <cp:lastModifiedBy>nakanosan</cp:lastModifiedBy>
  <cp:revision>80</cp:revision>
  <dcterms:created xsi:type="dcterms:W3CDTF">2026-06-17T19:29:31Z</dcterms:created>
  <dcterms:modified xsi:type="dcterms:W3CDTF">2026-06-17T19:29:31Z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45FF87FAD811F6F69BF5326A18859C8C_43</vt:lpwstr>
  </property>
  <property fmtid="{D5CDD505-2E9C-101B-9397-08002B2CF9AE}" pid="3" name="KSOProductBuildVer">
    <vt:lpwstr>1033-12.1.2.26885</vt:lpwstr>
  </property>
</Properties>
</file>